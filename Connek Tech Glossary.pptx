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3291840"/>
            <a:ext cx="11868912" cy="54864"/>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188720"/>
            <a:ext cx="10058400" cy="1097280"/>
          </a:xfrm>
          <a:prstGeom prst="rect">
            <a:avLst/>
          </a:prstGeom>
          <a:noFill/>
        </p:spPr>
        <p:txBody>
          <a:bodyPr wrap="square">
            <a:spAutoFit/>
          </a:bodyPr>
          <a:lstStyle/>
          <a:p>
            <a:pPr algn="l"/>
            <a:r>
              <a:rPr sz="6800" b="1" i="0">
                <a:solidFill>
                  <a:srgbClr val="FFFFFF"/>
                </a:solidFill>
              </a:rPr>
              <a:t>Connek</a:t>
            </a:r>
          </a:p>
        </p:txBody>
      </p:sp>
      <p:sp>
        <p:nvSpPr>
          <p:cNvPr id="6" name="TextBox 5"/>
          <p:cNvSpPr txBox="1"/>
          <p:nvPr/>
        </p:nvSpPr>
        <p:spPr>
          <a:xfrm>
            <a:off x="1005840" y="2194560"/>
            <a:ext cx="10058400" cy="822960"/>
          </a:xfrm>
          <a:prstGeom prst="rect">
            <a:avLst/>
          </a:prstGeom>
          <a:noFill/>
        </p:spPr>
        <p:txBody>
          <a:bodyPr wrap="square">
            <a:spAutoFit/>
          </a:bodyPr>
          <a:lstStyle/>
          <a:p>
            <a:pPr algn="l"/>
            <a:r>
              <a:rPr sz="3800" b="0" i="0">
                <a:solidFill>
                  <a:srgbClr val="CCDDFF"/>
                </a:solidFill>
              </a:rPr>
              <a:t>Tech Glossary</a:t>
            </a:r>
          </a:p>
        </p:txBody>
      </p:sp>
      <p:sp>
        <p:nvSpPr>
          <p:cNvPr id="7" name="TextBox 6"/>
          <p:cNvSpPr txBox="1"/>
          <p:nvPr/>
        </p:nvSpPr>
        <p:spPr>
          <a:xfrm>
            <a:off x="1005840" y="3566160"/>
            <a:ext cx="9144000" cy="640080"/>
          </a:xfrm>
          <a:prstGeom prst="rect">
            <a:avLst/>
          </a:prstGeom>
          <a:noFill/>
        </p:spPr>
        <p:txBody>
          <a:bodyPr wrap="square">
            <a:spAutoFit/>
          </a:bodyPr>
          <a:lstStyle/>
          <a:p>
            <a:pPr algn="l"/>
            <a:r>
              <a:rPr sz="1900" b="0" i="1">
                <a:solidFill>
                  <a:srgbClr val="99AABB"/>
                </a:solidFill>
              </a:rPr>
              <a:t>Everything behind theconnek.com — explained simply.</a:t>
            </a:r>
          </a:p>
        </p:txBody>
      </p:sp>
      <p:sp>
        <p:nvSpPr>
          <p:cNvPr id="8" name="TextBox 7"/>
          <p:cNvSpPr txBox="1"/>
          <p:nvPr/>
        </p:nvSpPr>
        <p:spPr>
          <a:xfrm>
            <a:off x="1005840" y="4206240"/>
            <a:ext cx="9144000" cy="548640"/>
          </a:xfrm>
          <a:prstGeom prst="rect">
            <a:avLst/>
          </a:prstGeom>
          <a:noFill/>
        </p:spPr>
        <p:txBody>
          <a:bodyPr wrap="square">
            <a:spAutoFit/>
          </a:bodyPr>
          <a:lstStyle/>
          <a:p>
            <a:pPr algn="l"/>
            <a:r>
              <a:rPr sz="1500" b="0" i="0">
                <a:solidFill>
                  <a:srgbClr val="E8601C"/>
                </a:solidFill>
              </a:rPr>
              <a:t>14 Sections  ·  50 Slides  ·  Zero Jargon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The Big Picture — What Did We Build?</a:t>
            </a:r>
          </a:p>
        </p:txBody>
      </p:sp>
      <p:sp>
        <p:nvSpPr>
          <p:cNvPr id="4" name="TextBox 3"/>
          <p:cNvSpPr txBox="1"/>
          <p:nvPr/>
        </p:nvSpPr>
        <p:spPr>
          <a:xfrm>
            <a:off x="502920" y="804672"/>
            <a:ext cx="11155680" cy="411480"/>
          </a:xfrm>
          <a:prstGeom prst="rect">
            <a:avLst/>
          </a:prstGeom>
          <a:noFill/>
        </p:spPr>
        <p:txBody>
          <a:bodyPr wrap="square">
            <a:spAutoFit/>
          </a:bodyPr>
          <a:lstStyle/>
          <a:p>
            <a:pPr algn="l"/>
            <a:r>
              <a:rPr sz="1600" b="0" i="1">
                <a:solidFill>
                  <a:srgbClr val="666666"/>
                </a:solidFill>
              </a:rPr>
              <a:t>Connek is not one thing. It's several tools working together.</a:t>
            </a:r>
          </a:p>
        </p:txBody>
      </p:sp>
      <p:sp>
        <p:nvSpPr>
          <p:cNvPr id="5" name="Rectangle 4"/>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98448"/>
            <a:ext cx="256032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423160" cy="347472"/>
          </a:xfrm>
          <a:prstGeom prst="rect">
            <a:avLst/>
          </a:prstGeom>
          <a:noFill/>
        </p:spPr>
        <p:txBody>
          <a:bodyPr wrap="square">
            <a:spAutoFit/>
          </a:bodyPr>
          <a:lstStyle/>
          <a:p>
            <a:pPr algn="l"/>
            <a:r>
              <a:rPr sz="1400" b="1" i="0">
                <a:solidFill>
                  <a:srgbClr val="FFFFFF"/>
                </a:solidFill>
              </a:rPr>
              <a:t>Part</a:t>
            </a:r>
          </a:p>
        </p:txBody>
      </p:sp>
      <p:sp>
        <p:nvSpPr>
          <p:cNvPr id="8" name="Rectangle 7"/>
          <p:cNvSpPr/>
          <p:nvPr/>
        </p:nvSpPr>
        <p:spPr>
          <a:xfrm>
            <a:off x="3017520" y="1298448"/>
            <a:ext cx="411480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0" y="1353312"/>
            <a:ext cx="3977640" cy="347472"/>
          </a:xfrm>
          <a:prstGeom prst="rect">
            <a:avLst/>
          </a:prstGeom>
          <a:noFill/>
        </p:spPr>
        <p:txBody>
          <a:bodyPr wrap="square">
            <a:spAutoFit/>
          </a:bodyPr>
          <a:lstStyle/>
          <a:p>
            <a:pPr algn="l"/>
            <a:r>
              <a:rPr sz="1400" b="1" i="0">
                <a:solidFill>
                  <a:srgbClr val="FFFFFF"/>
                </a:solidFill>
              </a:rPr>
              <a:t>What it is</a:t>
            </a:r>
          </a:p>
        </p:txBody>
      </p:sp>
      <p:sp>
        <p:nvSpPr>
          <p:cNvPr id="10" name="Rectangle 9"/>
          <p:cNvSpPr/>
          <p:nvPr/>
        </p:nvSpPr>
        <p:spPr>
          <a:xfrm>
            <a:off x="7223760" y="1298448"/>
            <a:ext cx="411480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1353312"/>
            <a:ext cx="3977640" cy="347472"/>
          </a:xfrm>
          <a:prstGeom prst="rect">
            <a:avLst/>
          </a:prstGeom>
          <a:noFill/>
        </p:spPr>
        <p:txBody>
          <a:bodyPr wrap="square">
            <a:spAutoFit/>
          </a:bodyPr>
          <a:lstStyle/>
          <a:p>
            <a:pPr algn="l"/>
            <a:r>
              <a:rPr sz="1400" b="1" i="0">
                <a:solidFill>
                  <a:srgbClr val="FFFFFF"/>
                </a:solidFill>
              </a:rPr>
              <a:t>What it does for Connek</a:t>
            </a:r>
          </a:p>
        </p:txBody>
      </p:sp>
      <p:sp>
        <p:nvSpPr>
          <p:cNvPr id="12" name="Rectangle 11"/>
          <p:cNvSpPr/>
          <p:nvPr/>
        </p:nvSpPr>
        <p:spPr>
          <a:xfrm>
            <a:off x="365760" y="1719072"/>
            <a:ext cx="256032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783080"/>
            <a:ext cx="2423160" cy="365760"/>
          </a:xfrm>
          <a:prstGeom prst="rect">
            <a:avLst/>
          </a:prstGeom>
          <a:noFill/>
        </p:spPr>
        <p:txBody>
          <a:bodyPr wrap="square">
            <a:spAutoFit/>
          </a:bodyPr>
          <a:lstStyle/>
          <a:p>
            <a:pPr algn="l"/>
            <a:r>
              <a:rPr sz="1300" b="1" i="0">
                <a:solidFill>
                  <a:srgbClr val="0F3D5C"/>
                </a:solidFill>
              </a:rPr>
              <a:t>Next.js / React</a:t>
            </a:r>
          </a:p>
        </p:txBody>
      </p:sp>
      <p:sp>
        <p:nvSpPr>
          <p:cNvPr id="14" name="Rectangle 13"/>
          <p:cNvSpPr/>
          <p:nvPr/>
        </p:nvSpPr>
        <p:spPr>
          <a:xfrm>
            <a:off x="3017520" y="1719072"/>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1783080"/>
            <a:ext cx="3977640" cy="365760"/>
          </a:xfrm>
          <a:prstGeom prst="rect">
            <a:avLst/>
          </a:prstGeom>
          <a:noFill/>
        </p:spPr>
        <p:txBody>
          <a:bodyPr wrap="square">
            <a:spAutoFit/>
          </a:bodyPr>
          <a:lstStyle/>
          <a:p>
            <a:pPr algn="l"/>
            <a:r>
              <a:rPr sz="1300" b="0" i="0">
                <a:solidFill>
                  <a:srgbClr val="333333"/>
                </a:solidFill>
              </a:rPr>
              <a:t>Builds the pages users see</a:t>
            </a:r>
          </a:p>
        </p:txBody>
      </p:sp>
      <p:sp>
        <p:nvSpPr>
          <p:cNvPr id="16" name="Rectangle 15"/>
          <p:cNvSpPr/>
          <p:nvPr/>
        </p:nvSpPr>
        <p:spPr>
          <a:xfrm>
            <a:off x="7223760" y="1719072"/>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783080"/>
            <a:ext cx="3977640" cy="365760"/>
          </a:xfrm>
          <a:prstGeom prst="rect">
            <a:avLst/>
          </a:prstGeom>
          <a:noFill/>
        </p:spPr>
        <p:txBody>
          <a:bodyPr wrap="square">
            <a:spAutoFit/>
          </a:bodyPr>
          <a:lstStyle/>
          <a:p>
            <a:pPr algn="l"/>
            <a:r>
              <a:rPr sz="1300" b="0" i="0">
                <a:solidFill>
                  <a:srgbClr val="333333"/>
                </a:solidFill>
              </a:rPr>
              <a:t>The website itself</a:t>
            </a:r>
          </a:p>
        </p:txBody>
      </p:sp>
      <p:sp>
        <p:nvSpPr>
          <p:cNvPr id="18" name="Rectangle 17"/>
          <p:cNvSpPr/>
          <p:nvPr/>
        </p:nvSpPr>
        <p:spPr>
          <a:xfrm>
            <a:off x="365760" y="2194560"/>
            <a:ext cx="256032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258568"/>
            <a:ext cx="2423160" cy="365760"/>
          </a:xfrm>
          <a:prstGeom prst="rect">
            <a:avLst/>
          </a:prstGeom>
          <a:noFill/>
        </p:spPr>
        <p:txBody>
          <a:bodyPr wrap="square">
            <a:spAutoFit/>
          </a:bodyPr>
          <a:lstStyle/>
          <a:p>
            <a:pPr algn="l"/>
            <a:r>
              <a:rPr sz="1300" b="1" i="0">
                <a:solidFill>
                  <a:srgbClr val="0F3D5C"/>
                </a:solidFill>
              </a:rPr>
              <a:t>Vercel</a:t>
            </a:r>
          </a:p>
        </p:txBody>
      </p:sp>
      <p:sp>
        <p:nvSpPr>
          <p:cNvPr id="20" name="Rectangle 19"/>
          <p:cNvSpPr/>
          <p:nvPr/>
        </p:nvSpPr>
        <p:spPr>
          <a:xfrm>
            <a:off x="3017520" y="2194560"/>
            <a:ext cx="411480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0" y="2258568"/>
            <a:ext cx="3977640" cy="365760"/>
          </a:xfrm>
          <a:prstGeom prst="rect">
            <a:avLst/>
          </a:prstGeom>
          <a:noFill/>
        </p:spPr>
        <p:txBody>
          <a:bodyPr wrap="square">
            <a:spAutoFit/>
          </a:bodyPr>
          <a:lstStyle/>
          <a:p>
            <a:pPr algn="l"/>
            <a:r>
              <a:rPr sz="1300" b="0" i="0">
                <a:solidFill>
                  <a:srgbClr val="333333"/>
                </a:solidFill>
              </a:rPr>
              <a:t>Puts the site on the internet</a:t>
            </a:r>
          </a:p>
        </p:txBody>
      </p:sp>
      <p:sp>
        <p:nvSpPr>
          <p:cNvPr id="22" name="Rectangle 21"/>
          <p:cNvSpPr/>
          <p:nvPr/>
        </p:nvSpPr>
        <p:spPr>
          <a:xfrm>
            <a:off x="7223760" y="2194560"/>
            <a:ext cx="411480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2258568"/>
            <a:ext cx="3977640" cy="365760"/>
          </a:xfrm>
          <a:prstGeom prst="rect">
            <a:avLst/>
          </a:prstGeom>
          <a:noFill/>
        </p:spPr>
        <p:txBody>
          <a:bodyPr wrap="square">
            <a:spAutoFit/>
          </a:bodyPr>
          <a:lstStyle/>
          <a:p>
            <a:pPr algn="l"/>
            <a:r>
              <a:rPr sz="1300" b="0" i="0">
                <a:solidFill>
                  <a:srgbClr val="333333"/>
                </a:solidFill>
              </a:rPr>
              <a:t>Hosting &amp; deployment</a:t>
            </a:r>
          </a:p>
        </p:txBody>
      </p:sp>
      <p:sp>
        <p:nvSpPr>
          <p:cNvPr id="24" name="Rectangle 23"/>
          <p:cNvSpPr/>
          <p:nvPr/>
        </p:nvSpPr>
        <p:spPr>
          <a:xfrm>
            <a:off x="365760" y="2670048"/>
            <a:ext cx="256032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734056"/>
            <a:ext cx="2423160" cy="365760"/>
          </a:xfrm>
          <a:prstGeom prst="rect">
            <a:avLst/>
          </a:prstGeom>
          <a:noFill/>
        </p:spPr>
        <p:txBody>
          <a:bodyPr wrap="square">
            <a:spAutoFit/>
          </a:bodyPr>
          <a:lstStyle/>
          <a:p>
            <a:pPr algn="l"/>
            <a:r>
              <a:rPr sz="1300" b="1" i="0">
                <a:solidFill>
                  <a:srgbClr val="0F3D5C"/>
                </a:solidFill>
              </a:rPr>
              <a:t>Supabase</a:t>
            </a:r>
          </a:p>
        </p:txBody>
      </p:sp>
      <p:sp>
        <p:nvSpPr>
          <p:cNvPr id="26" name="Rectangle 25"/>
          <p:cNvSpPr/>
          <p:nvPr/>
        </p:nvSpPr>
        <p:spPr>
          <a:xfrm>
            <a:off x="3017520" y="2670048"/>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0" y="2734056"/>
            <a:ext cx="3977640" cy="365760"/>
          </a:xfrm>
          <a:prstGeom prst="rect">
            <a:avLst/>
          </a:prstGeom>
          <a:noFill/>
        </p:spPr>
        <p:txBody>
          <a:bodyPr wrap="square">
            <a:spAutoFit/>
          </a:bodyPr>
          <a:lstStyle/>
          <a:p>
            <a:pPr algn="l"/>
            <a:r>
              <a:rPr sz="1300" b="0" i="0">
                <a:solidFill>
                  <a:srgbClr val="333333"/>
                </a:solidFill>
              </a:rPr>
              <a:t>Stores data permanently</a:t>
            </a:r>
          </a:p>
        </p:txBody>
      </p:sp>
      <p:sp>
        <p:nvSpPr>
          <p:cNvPr id="28" name="Rectangle 27"/>
          <p:cNvSpPr/>
          <p:nvPr/>
        </p:nvSpPr>
        <p:spPr>
          <a:xfrm>
            <a:off x="7223760" y="2670048"/>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0" y="2734056"/>
            <a:ext cx="3977640" cy="365760"/>
          </a:xfrm>
          <a:prstGeom prst="rect">
            <a:avLst/>
          </a:prstGeom>
          <a:noFill/>
        </p:spPr>
        <p:txBody>
          <a:bodyPr wrap="square">
            <a:spAutoFit/>
          </a:bodyPr>
          <a:lstStyle/>
          <a:p>
            <a:pPr algn="l"/>
            <a:r>
              <a:rPr sz="1300" b="0" i="0">
                <a:solidFill>
                  <a:srgbClr val="333333"/>
                </a:solidFill>
              </a:rPr>
              <a:t>Saves every signup</a:t>
            </a:r>
          </a:p>
        </p:txBody>
      </p:sp>
      <p:sp>
        <p:nvSpPr>
          <p:cNvPr id="30" name="Rectangle 29"/>
          <p:cNvSpPr/>
          <p:nvPr/>
        </p:nvSpPr>
        <p:spPr>
          <a:xfrm>
            <a:off x="365760" y="3145536"/>
            <a:ext cx="256032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209544"/>
            <a:ext cx="2423160" cy="365760"/>
          </a:xfrm>
          <a:prstGeom prst="rect">
            <a:avLst/>
          </a:prstGeom>
          <a:noFill/>
        </p:spPr>
        <p:txBody>
          <a:bodyPr wrap="square">
            <a:spAutoFit/>
          </a:bodyPr>
          <a:lstStyle/>
          <a:p>
            <a:pPr algn="l"/>
            <a:r>
              <a:rPr sz="1300" b="1" i="0">
                <a:solidFill>
                  <a:srgbClr val="0F3D5C"/>
                </a:solidFill>
              </a:rPr>
              <a:t>Resend</a:t>
            </a:r>
          </a:p>
        </p:txBody>
      </p:sp>
      <p:sp>
        <p:nvSpPr>
          <p:cNvPr id="32" name="Rectangle 31"/>
          <p:cNvSpPr/>
          <p:nvPr/>
        </p:nvSpPr>
        <p:spPr>
          <a:xfrm>
            <a:off x="3017520" y="3145536"/>
            <a:ext cx="411480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0" y="3209544"/>
            <a:ext cx="3977640" cy="365760"/>
          </a:xfrm>
          <a:prstGeom prst="rect">
            <a:avLst/>
          </a:prstGeom>
          <a:noFill/>
        </p:spPr>
        <p:txBody>
          <a:bodyPr wrap="square">
            <a:spAutoFit/>
          </a:bodyPr>
          <a:lstStyle/>
          <a:p>
            <a:pPr algn="l"/>
            <a:r>
              <a:rPr sz="1300" b="0" i="0">
                <a:solidFill>
                  <a:srgbClr val="333333"/>
                </a:solidFill>
              </a:rPr>
              <a:t>Sends automated emails</a:t>
            </a:r>
          </a:p>
        </p:txBody>
      </p:sp>
      <p:sp>
        <p:nvSpPr>
          <p:cNvPr id="34" name="Rectangle 33"/>
          <p:cNvSpPr/>
          <p:nvPr/>
        </p:nvSpPr>
        <p:spPr>
          <a:xfrm>
            <a:off x="7223760" y="3145536"/>
            <a:ext cx="411480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0" y="3209544"/>
            <a:ext cx="3977640" cy="365760"/>
          </a:xfrm>
          <a:prstGeom prst="rect">
            <a:avLst/>
          </a:prstGeom>
          <a:noFill/>
        </p:spPr>
        <p:txBody>
          <a:bodyPr wrap="square">
            <a:spAutoFit/>
          </a:bodyPr>
          <a:lstStyle/>
          <a:p>
            <a:pPr algn="l"/>
            <a:r>
              <a:rPr sz="1300" b="0" i="0">
                <a:solidFill>
                  <a:srgbClr val="333333"/>
                </a:solidFill>
              </a:rPr>
              <a:t>Notifies you on each signup</a:t>
            </a:r>
          </a:p>
        </p:txBody>
      </p:sp>
      <p:sp>
        <p:nvSpPr>
          <p:cNvPr id="36" name="Rectangle 35"/>
          <p:cNvSpPr/>
          <p:nvPr/>
        </p:nvSpPr>
        <p:spPr>
          <a:xfrm>
            <a:off x="365760" y="3621024"/>
            <a:ext cx="256032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3685032"/>
            <a:ext cx="2423160" cy="365760"/>
          </a:xfrm>
          <a:prstGeom prst="rect">
            <a:avLst/>
          </a:prstGeom>
          <a:noFill/>
        </p:spPr>
        <p:txBody>
          <a:bodyPr wrap="square">
            <a:spAutoFit/>
          </a:bodyPr>
          <a:lstStyle/>
          <a:p>
            <a:pPr algn="l"/>
            <a:r>
              <a:rPr sz="1300" b="1" i="0">
                <a:solidFill>
                  <a:srgbClr val="0F3D5C"/>
                </a:solidFill>
              </a:rPr>
              <a:t>Domain (theconnek.com)</a:t>
            </a:r>
          </a:p>
        </p:txBody>
      </p:sp>
      <p:sp>
        <p:nvSpPr>
          <p:cNvPr id="38" name="Rectangle 37"/>
          <p:cNvSpPr/>
          <p:nvPr/>
        </p:nvSpPr>
        <p:spPr>
          <a:xfrm>
            <a:off x="3017520" y="3621024"/>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0" y="3685032"/>
            <a:ext cx="3977640" cy="365760"/>
          </a:xfrm>
          <a:prstGeom prst="rect">
            <a:avLst/>
          </a:prstGeom>
          <a:noFill/>
        </p:spPr>
        <p:txBody>
          <a:bodyPr wrap="square">
            <a:spAutoFit/>
          </a:bodyPr>
          <a:lstStyle/>
          <a:p>
            <a:pPr algn="l"/>
            <a:r>
              <a:rPr sz="1300" b="0" i="0">
                <a:solidFill>
                  <a:srgbClr val="333333"/>
                </a:solidFill>
              </a:rPr>
              <a:t>Your website address</a:t>
            </a:r>
          </a:p>
        </p:txBody>
      </p:sp>
      <p:sp>
        <p:nvSpPr>
          <p:cNvPr id="40" name="Rectangle 39"/>
          <p:cNvSpPr/>
          <p:nvPr/>
        </p:nvSpPr>
        <p:spPr>
          <a:xfrm>
            <a:off x="7223760" y="3621024"/>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0" y="3685032"/>
            <a:ext cx="3977640" cy="365760"/>
          </a:xfrm>
          <a:prstGeom prst="rect">
            <a:avLst/>
          </a:prstGeom>
          <a:noFill/>
        </p:spPr>
        <p:txBody>
          <a:bodyPr wrap="square">
            <a:spAutoFit/>
          </a:bodyPr>
          <a:lstStyle/>
          <a:p>
            <a:pPr algn="l"/>
            <a:r>
              <a:rPr sz="1300" b="0" i="0">
                <a:solidFill>
                  <a:srgbClr val="333333"/>
                </a:solidFill>
              </a:rPr>
              <a:t>Bought &amp; connected to Vercel</a:t>
            </a:r>
          </a:p>
        </p:txBody>
      </p:sp>
      <p:sp>
        <p:nvSpPr>
          <p:cNvPr id="42" name="Rectangle 41"/>
          <p:cNvSpPr/>
          <p:nvPr/>
        </p:nvSpPr>
        <p:spPr>
          <a:xfrm>
            <a:off x="365760" y="4096512"/>
            <a:ext cx="256032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160520"/>
            <a:ext cx="2423160" cy="365760"/>
          </a:xfrm>
          <a:prstGeom prst="rect">
            <a:avLst/>
          </a:prstGeom>
          <a:noFill/>
        </p:spPr>
        <p:txBody>
          <a:bodyPr wrap="square">
            <a:spAutoFit/>
          </a:bodyPr>
          <a:lstStyle/>
          <a:p>
            <a:pPr algn="l"/>
            <a:r>
              <a:rPr sz="1300" b="1" i="0">
                <a:solidFill>
                  <a:srgbClr val="0F3D5C"/>
                </a:solidFill>
              </a:rPr>
              <a:t>GitHub</a:t>
            </a:r>
          </a:p>
        </p:txBody>
      </p:sp>
      <p:sp>
        <p:nvSpPr>
          <p:cNvPr id="44" name="Rectangle 43"/>
          <p:cNvSpPr/>
          <p:nvPr/>
        </p:nvSpPr>
        <p:spPr>
          <a:xfrm>
            <a:off x="3017520" y="4096512"/>
            <a:ext cx="411480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08960" y="4160520"/>
            <a:ext cx="3977640" cy="365760"/>
          </a:xfrm>
          <a:prstGeom prst="rect">
            <a:avLst/>
          </a:prstGeom>
          <a:noFill/>
        </p:spPr>
        <p:txBody>
          <a:bodyPr wrap="square">
            <a:spAutoFit/>
          </a:bodyPr>
          <a:lstStyle/>
          <a:p>
            <a:pPr algn="l"/>
            <a:r>
              <a:rPr sz="1300" b="0" i="0">
                <a:solidFill>
                  <a:srgbClr val="333333"/>
                </a:solidFill>
              </a:rPr>
              <a:t>Backs up and stores code</a:t>
            </a:r>
          </a:p>
        </p:txBody>
      </p:sp>
      <p:sp>
        <p:nvSpPr>
          <p:cNvPr id="46" name="Rectangle 45"/>
          <p:cNvSpPr/>
          <p:nvPr/>
        </p:nvSpPr>
        <p:spPr>
          <a:xfrm>
            <a:off x="7223760" y="4096512"/>
            <a:ext cx="411480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0" y="4160520"/>
            <a:ext cx="3977640" cy="365760"/>
          </a:xfrm>
          <a:prstGeom prst="rect">
            <a:avLst/>
          </a:prstGeom>
          <a:noFill/>
        </p:spPr>
        <p:txBody>
          <a:bodyPr wrap="square">
            <a:spAutoFit/>
          </a:bodyPr>
          <a:lstStyle/>
          <a:p>
            <a:pPr algn="l"/>
            <a:r>
              <a:rPr sz="1300" b="0" i="0">
                <a:solidFill>
                  <a:srgbClr val="333333"/>
                </a:solidFill>
              </a:rPr>
              <a:t>Source of truth</a:t>
            </a:r>
          </a:p>
        </p:txBody>
      </p:sp>
      <p:sp>
        <p:nvSpPr>
          <p:cNvPr id="48" name="Rectangle 47"/>
          <p:cNvSpPr/>
          <p:nvPr/>
        </p:nvSpPr>
        <p:spPr>
          <a:xfrm>
            <a:off x="365760" y="4572000"/>
            <a:ext cx="256032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636008"/>
            <a:ext cx="2423160" cy="365760"/>
          </a:xfrm>
          <a:prstGeom prst="rect">
            <a:avLst/>
          </a:prstGeom>
          <a:noFill/>
        </p:spPr>
        <p:txBody>
          <a:bodyPr wrap="square">
            <a:spAutoFit/>
          </a:bodyPr>
          <a:lstStyle/>
          <a:p>
            <a:pPr algn="l"/>
            <a:r>
              <a:rPr sz="1300" b="1" i="0">
                <a:solidFill>
                  <a:srgbClr val="0F3D5C"/>
                </a:solidFill>
              </a:rPr>
              <a:t>Google Analytics</a:t>
            </a:r>
          </a:p>
        </p:txBody>
      </p:sp>
      <p:sp>
        <p:nvSpPr>
          <p:cNvPr id="50" name="Rectangle 49"/>
          <p:cNvSpPr/>
          <p:nvPr/>
        </p:nvSpPr>
        <p:spPr>
          <a:xfrm>
            <a:off x="3017520" y="4572000"/>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08960" y="4636008"/>
            <a:ext cx="3977640" cy="365760"/>
          </a:xfrm>
          <a:prstGeom prst="rect">
            <a:avLst/>
          </a:prstGeom>
          <a:noFill/>
        </p:spPr>
        <p:txBody>
          <a:bodyPr wrap="square">
            <a:spAutoFit/>
          </a:bodyPr>
          <a:lstStyle/>
          <a:p>
            <a:pPr algn="l"/>
            <a:r>
              <a:rPr sz="1300" b="0" i="0">
                <a:solidFill>
                  <a:srgbClr val="333333"/>
                </a:solidFill>
              </a:rPr>
              <a:t>Tracks how many people visit</a:t>
            </a:r>
          </a:p>
        </p:txBody>
      </p:sp>
      <p:sp>
        <p:nvSpPr>
          <p:cNvPr id="52" name="Rectangle 51"/>
          <p:cNvSpPr/>
          <p:nvPr/>
        </p:nvSpPr>
        <p:spPr>
          <a:xfrm>
            <a:off x="7223760" y="4572000"/>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0" y="4636008"/>
            <a:ext cx="3977640" cy="365760"/>
          </a:xfrm>
          <a:prstGeom prst="rect">
            <a:avLst/>
          </a:prstGeom>
          <a:noFill/>
        </p:spPr>
        <p:txBody>
          <a:bodyPr wrap="square">
            <a:spAutoFit/>
          </a:bodyPr>
          <a:lstStyle/>
          <a:p>
            <a:pPr algn="l"/>
            <a:r>
              <a:rPr sz="1300" b="0" i="0">
                <a:solidFill>
                  <a:srgbClr val="333333"/>
                </a:solidFill>
              </a:rPr>
              <a:t>Traffic &amp; conversion data</a:t>
            </a:r>
          </a:p>
        </p:txBody>
      </p:sp>
      <p:sp>
        <p:nvSpPr>
          <p:cNvPr id="54" name="Rectangle 53"/>
          <p:cNvSpPr/>
          <p:nvPr/>
        </p:nvSpPr>
        <p:spPr>
          <a:xfrm>
            <a:off x="365760" y="5047488"/>
            <a:ext cx="256032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5111496"/>
            <a:ext cx="2423160" cy="365760"/>
          </a:xfrm>
          <a:prstGeom prst="rect">
            <a:avLst/>
          </a:prstGeom>
          <a:noFill/>
        </p:spPr>
        <p:txBody>
          <a:bodyPr wrap="square">
            <a:spAutoFit/>
          </a:bodyPr>
          <a:lstStyle/>
          <a:p>
            <a:pPr algn="l"/>
            <a:r>
              <a:rPr sz="1300" b="1" i="0">
                <a:solidFill>
                  <a:srgbClr val="0F3D5C"/>
                </a:solidFill>
              </a:rPr>
              <a:t>Microsoft Clarity</a:t>
            </a:r>
          </a:p>
        </p:txBody>
      </p:sp>
      <p:sp>
        <p:nvSpPr>
          <p:cNvPr id="56" name="Rectangle 55"/>
          <p:cNvSpPr/>
          <p:nvPr/>
        </p:nvSpPr>
        <p:spPr>
          <a:xfrm>
            <a:off x="3017520" y="5047488"/>
            <a:ext cx="411480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108960" y="5111496"/>
            <a:ext cx="3977640" cy="365760"/>
          </a:xfrm>
          <a:prstGeom prst="rect">
            <a:avLst/>
          </a:prstGeom>
          <a:noFill/>
        </p:spPr>
        <p:txBody>
          <a:bodyPr wrap="square">
            <a:spAutoFit/>
          </a:bodyPr>
          <a:lstStyle/>
          <a:p>
            <a:pPr algn="l"/>
            <a:r>
              <a:rPr sz="1300" b="0" i="0">
                <a:solidFill>
                  <a:srgbClr val="333333"/>
                </a:solidFill>
              </a:rPr>
              <a:t>Records what users do on the page</a:t>
            </a:r>
          </a:p>
        </p:txBody>
      </p:sp>
      <p:sp>
        <p:nvSpPr>
          <p:cNvPr id="58" name="Rectangle 57"/>
          <p:cNvSpPr/>
          <p:nvPr/>
        </p:nvSpPr>
        <p:spPr>
          <a:xfrm>
            <a:off x="7223760" y="5047488"/>
            <a:ext cx="4114800" cy="44805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15200" y="5111496"/>
            <a:ext cx="3977640" cy="365760"/>
          </a:xfrm>
          <a:prstGeom prst="rect">
            <a:avLst/>
          </a:prstGeom>
          <a:noFill/>
        </p:spPr>
        <p:txBody>
          <a:bodyPr wrap="square">
            <a:spAutoFit/>
          </a:bodyPr>
          <a:lstStyle/>
          <a:p>
            <a:pPr algn="l"/>
            <a:r>
              <a:rPr sz="1300" b="0" i="0">
                <a:solidFill>
                  <a:srgbClr val="333333"/>
                </a:solidFill>
              </a:rPr>
              <a:t>Session replays &amp; heatmaps</a:t>
            </a:r>
          </a:p>
        </p:txBody>
      </p:sp>
      <p:sp>
        <p:nvSpPr>
          <p:cNvPr id="60" name="Rectangle 59"/>
          <p:cNvSpPr/>
          <p:nvPr/>
        </p:nvSpPr>
        <p:spPr>
          <a:xfrm>
            <a:off x="365760" y="5522976"/>
            <a:ext cx="256032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5586984"/>
            <a:ext cx="2423160" cy="365760"/>
          </a:xfrm>
          <a:prstGeom prst="rect">
            <a:avLst/>
          </a:prstGeom>
          <a:noFill/>
        </p:spPr>
        <p:txBody>
          <a:bodyPr wrap="square">
            <a:spAutoFit/>
          </a:bodyPr>
          <a:lstStyle/>
          <a:p>
            <a:pPr algn="l"/>
            <a:r>
              <a:rPr sz="1300" b="1" i="0">
                <a:solidFill>
                  <a:srgbClr val="0F3D5C"/>
                </a:solidFill>
              </a:rPr>
              <a:t>Instagram / Social</a:t>
            </a:r>
          </a:p>
        </p:txBody>
      </p:sp>
      <p:sp>
        <p:nvSpPr>
          <p:cNvPr id="62" name="Rectangle 61"/>
          <p:cNvSpPr/>
          <p:nvPr/>
        </p:nvSpPr>
        <p:spPr>
          <a:xfrm>
            <a:off x="3017520" y="5522976"/>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08960" y="5586984"/>
            <a:ext cx="3977640" cy="365760"/>
          </a:xfrm>
          <a:prstGeom prst="rect">
            <a:avLst/>
          </a:prstGeom>
          <a:noFill/>
        </p:spPr>
        <p:txBody>
          <a:bodyPr wrap="square">
            <a:spAutoFit/>
          </a:bodyPr>
          <a:lstStyle/>
          <a:p>
            <a:pPr algn="l"/>
            <a:r>
              <a:rPr sz="1300" b="0" i="0">
                <a:solidFill>
                  <a:srgbClr val="333333"/>
                </a:solidFill>
              </a:rPr>
              <a:t>Drives people to the site</a:t>
            </a:r>
          </a:p>
        </p:txBody>
      </p:sp>
      <p:sp>
        <p:nvSpPr>
          <p:cNvPr id="64" name="Rectangle 63"/>
          <p:cNvSpPr/>
          <p:nvPr/>
        </p:nvSpPr>
        <p:spPr>
          <a:xfrm>
            <a:off x="7223760" y="5522976"/>
            <a:ext cx="4114800" cy="44805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0" y="5586984"/>
            <a:ext cx="3977640" cy="365760"/>
          </a:xfrm>
          <a:prstGeom prst="rect">
            <a:avLst/>
          </a:prstGeom>
          <a:noFill/>
        </p:spPr>
        <p:txBody>
          <a:bodyPr wrap="square">
            <a:spAutoFit/>
          </a:bodyPr>
          <a:lstStyle/>
          <a:p>
            <a:pPr algn="l"/>
            <a:r>
              <a:rPr sz="1300" b="0" i="0">
                <a:solidFill>
                  <a:srgbClr val="333333"/>
                </a:solidFill>
              </a:rPr>
              <a:t>Link in bio → theconnek.com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How the Internet Works</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The basics everything else builds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Browser &amp; Server — Two Computers Talking</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411480"/>
          </a:xfrm>
          <a:prstGeom prst="rect">
            <a:avLst/>
          </a:prstGeom>
          <a:noFill/>
        </p:spPr>
        <p:txBody>
          <a:bodyPr wrap="square">
            <a:spAutoFit/>
          </a:bodyPr>
          <a:lstStyle/>
          <a:p>
            <a:pPr algn="l"/>
            <a:r>
              <a:rPr sz="1700" b="0" i="0">
                <a:solidFill>
                  <a:srgbClr val="333333"/>
                </a:solidFill>
              </a:rPr>
              <a:t>Every website interaction is a conversation between two computers:</a:t>
            </a:r>
          </a:p>
        </p:txBody>
      </p:sp>
      <p:sp>
        <p:nvSpPr>
          <p:cNvPr id="6" name="Rectangle 5"/>
          <p:cNvSpPr/>
          <p:nvPr/>
        </p:nvSpPr>
        <p:spPr>
          <a:xfrm>
            <a:off x="640080" y="1920240"/>
            <a:ext cx="3200400" cy="12801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3017520" cy="365760"/>
          </a:xfrm>
          <a:prstGeom prst="rect">
            <a:avLst/>
          </a:prstGeom>
          <a:noFill/>
        </p:spPr>
        <p:txBody>
          <a:bodyPr wrap="square">
            <a:spAutoFit/>
          </a:bodyPr>
          <a:lstStyle/>
          <a:p>
            <a:pPr algn="ctr"/>
            <a:r>
              <a:rPr sz="1400" b="1" i="0">
                <a:solidFill>
                  <a:srgbClr val="0D47A1"/>
                </a:solidFill>
              </a:rPr>
              <a:t>YOUR BROWSER</a:t>
            </a:r>
          </a:p>
        </p:txBody>
      </p:sp>
      <p:sp>
        <p:nvSpPr>
          <p:cNvPr id="8" name="TextBox 7"/>
          <p:cNvSpPr txBox="1"/>
          <p:nvPr/>
        </p:nvSpPr>
        <p:spPr>
          <a:xfrm>
            <a:off x="731520" y="2377440"/>
            <a:ext cx="3017520" cy="731520"/>
          </a:xfrm>
          <a:prstGeom prst="rect">
            <a:avLst/>
          </a:prstGeom>
          <a:noFill/>
        </p:spPr>
        <p:txBody>
          <a:bodyPr wrap="square">
            <a:spAutoFit/>
          </a:bodyPr>
          <a:lstStyle/>
          <a:p>
            <a:pPr algn="ctr"/>
            <a:r>
              <a:rPr sz="1300" b="0" i="0">
                <a:solidFill>
                  <a:srgbClr val="0D47A1"/>
                </a:solidFill>
              </a:rPr>
              <a:t>Chrome / Safari
(your laptop or phone)</a:t>
            </a:r>
          </a:p>
        </p:txBody>
      </p:sp>
      <p:sp>
        <p:nvSpPr>
          <p:cNvPr id="9" name="Rectangle 8"/>
          <p:cNvSpPr/>
          <p:nvPr/>
        </p:nvSpPr>
        <p:spPr>
          <a:xfrm>
            <a:off x="8321040" y="1920240"/>
            <a:ext cx="3200400" cy="128016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2011680"/>
            <a:ext cx="3017520" cy="365760"/>
          </a:xfrm>
          <a:prstGeom prst="rect">
            <a:avLst/>
          </a:prstGeom>
          <a:noFill/>
        </p:spPr>
        <p:txBody>
          <a:bodyPr wrap="square">
            <a:spAutoFit/>
          </a:bodyPr>
          <a:lstStyle/>
          <a:p>
            <a:pPr algn="ctr"/>
            <a:r>
              <a:rPr sz="1400" b="1" i="0">
                <a:solidFill>
                  <a:srgbClr val="1B5E20"/>
                </a:solidFill>
              </a:rPr>
              <a:t>VERCEL SERVER</a:t>
            </a:r>
          </a:p>
        </p:txBody>
      </p:sp>
      <p:sp>
        <p:nvSpPr>
          <p:cNvPr id="11" name="TextBox 10"/>
          <p:cNvSpPr txBox="1"/>
          <p:nvPr/>
        </p:nvSpPr>
        <p:spPr>
          <a:xfrm>
            <a:off x="8412480" y="2377440"/>
            <a:ext cx="3017520" cy="731520"/>
          </a:xfrm>
          <a:prstGeom prst="rect">
            <a:avLst/>
          </a:prstGeom>
          <a:noFill/>
        </p:spPr>
        <p:txBody>
          <a:bodyPr wrap="square">
            <a:spAutoFit/>
          </a:bodyPr>
          <a:lstStyle/>
          <a:p>
            <a:pPr algn="ctr"/>
            <a:r>
              <a:rPr sz="1300" b="0" i="0">
                <a:solidFill>
                  <a:srgbClr val="1B5E20"/>
                </a:solidFill>
              </a:rPr>
              <a:t>A computer in the cloud
running theconnek.com</a:t>
            </a:r>
          </a:p>
        </p:txBody>
      </p:sp>
      <p:sp>
        <p:nvSpPr>
          <p:cNvPr id="12" name="TextBox 11"/>
          <p:cNvSpPr txBox="1"/>
          <p:nvPr/>
        </p:nvSpPr>
        <p:spPr>
          <a:xfrm>
            <a:off x="4023360" y="2011680"/>
            <a:ext cx="4206240" cy="457200"/>
          </a:xfrm>
          <a:prstGeom prst="rect">
            <a:avLst/>
          </a:prstGeom>
          <a:noFill/>
        </p:spPr>
        <p:txBody>
          <a:bodyPr wrap="square">
            <a:spAutoFit/>
          </a:bodyPr>
          <a:lstStyle/>
          <a:p>
            <a:pPr algn="ctr"/>
            <a:r>
              <a:rPr sz="1300" b="1" i="0">
                <a:solidFill>
                  <a:srgbClr val="E8601C"/>
                </a:solidFill>
              </a:rPr>
              <a:t>→  "Give me the homepage"  →</a:t>
            </a:r>
          </a:p>
        </p:txBody>
      </p:sp>
      <p:sp>
        <p:nvSpPr>
          <p:cNvPr id="13" name="TextBox 12"/>
          <p:cNvSpPr txBox="1"/>
          <p:nvPr/>
        </p:nvSpPr>
        <p:spPr>
          <a:xfrm>
            <a:off x="4023360" y="2651760"/>
            <a:ext cx="4206240" cy="457200"/>
          </a:xfrm>
          <a:prstGeom prst="rect">
            <a:avLst/>
          </a:prstGeom>
          <a:noFill/>
        </p:spPr>
        <p:txBody>
          <a:bodyPr wrap="square">
            <a:spAutoFit/>
          </a:bodyPr>
          <a:lstStyle/>
          <a:p>
            <a:pPr algn="ctr"/>
            <a:r>
              <a:rPr sz="1300" b="1" i="0">
                <a:solidFill>
                  <a:srgbClr val="0F3D5C"/>
                </a:solidFill>
              </a:rPr>
              <a:t>←  Here are the page files  ←</a:t>
            </a:r>
          </a:p>
        </p:txBody>
      </p:sp>
      <p:sp>
        <p:nvSpPr>
          <p:cNvPr id="14" name="TextBox 13"/>
          <p:cNvSpPr txBox="1"/>
          <p:nvPr/>
        </p:nvSpPr>
        <p:spPr>
          <a:xfrm>
            <a:off x="502920" y="3429000"/>
            <a:ext cx="11155680" cy="457200"/>
          </a:xfrm>
          <a:prstGeom prst="rect">
            <a:avLst/>
          </a:prstGeom>
          <a:noFill/>
        </p:spPr>
        <p:txBody>
          <a:bodyPr wrap="square">
            <a:spAutoFit/>
          </a:bodyPr>
          <a:lstStyle/>
          <a:p>
            <a:pPr algn="l"/>
            <a:r>
              <a:rPr sz="1500" b="0" i="0">
                <a:solidFill>
                  <a:srgbClr val="333333"/>
                </a:solidFill>
              </a:rPr>
              <a:t>The server is always switched on, connected to the internet, waiting for requests. You never see it — you only see what it sends back.</a:t>
            </a:r>
          </a:p>
        </p:txBody>
      </p:sp>
      <p:sp>
        <p:nvSpPr>
          <p:cNvPr id="15" name="Rectangle 14"/>
          <p:cNvSpPr/>
          <p:nvPr/>
        </p:nvSpPr>
        <p:spPr>
          <a:xfrm>
            <a:off x="502920" y="4023360"/>
            <a:ext cx="11155680" cy="86868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4114800"/>
            <a:ext cx="1554480" cy="758952"/>
          </a:xfrm>
          <a:prstGeom prst="rect">
            <a:avLst/>
          </a:prstGeom>
          <a:noFill/>
        </p:spPr>
        <p:txBody>
          <a:bodyPr wrap="square">
            <a:spAutoFit/>
          </a:bodyPr>
          <a:lstStyle/>
          <a:p>
            <a:pPr algn="l"/>
            <a:r>
              <a:rPr sz="1300" b="1" i="0">
                <a:solidFill>
                  <a:srgbClr val="926000"/>
                </a:solidFill>
              </a:rPr>
              <a:t>ANALOGY:</a:t>
            </a:r>
          </a:p>
        </p:txBody>
      </p:sp>
      <p:sp>
        <p:nvSpPr>
          <p:cNvPr id="17" name="TextBox 16"/>
          <p:cNvSpPr txBox="1"/>
          <p:nvPr/>
        </p:nvSpPr>
        <p:spPr>
          <a:xfrm>
            <a:off x="2057400" y="4114800"/>
            <a:ext cx="9436608" cy="758952"/>
          </a:xfrm>
          <a:prstGeom prst="rect">
            <a:avLst/>
          </a:prstGeom>
          <a:noFill/>
        </p:spPr>
        <p:txBody>
          <a:bodyPr wrap="square">
            <a:spAutoFit/>
          </a:bodyPr>
          <a:lstStyle/>
          <a:p>
            <a:pPr algn="l"/>
            <a:r>
              <a:rPr sz="1300" b="0" i="0">
                <a:solidFill>
                  <a:srgbClr val="333333"/>
                </a:solidFill>
              </a:rPr>
              <a:t>You (browser) = customer. Vercel server = kitchen. You place an order (request). Kitchen prepares and sends food back (response). You never enter the kitchen.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HTTP and HTTPS — The Language of the Internet</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0"/>
            <a:ext cx="10972800" cy="457200"/>
          </a:xfrm>
          <a:prstGeom prst="rect">
            <a:avLst/>
          </a:prstGeom>
          <a:noFill/>
        </p:spPr>
        <p:txBody>
          <a:bodyPr wrap="square">
            <a:spAutoFit/>
          </a:bodyPr>
          <a:lstStyle/>
          <a:p>
            <a:pPr algn="l"/>
            <a:r>
              <a:rPr sz="2000" b="1" i="0">
                <a:solidFill>
                  <a:srgbClr val="1A1A2E"/>
                </a:solidFill>
              </a:rPr>
              <a:t>HTTP = HyperText Transfer Protocol</a:t>
            </a:r>
          </a:p>
        </p:txBody>
      </p:sp>
      <p:sp>
        <p:nvSpPr>
          <p:cNvPr id="6" name="TextBox 5"/>
          <p:cNvSpPr txBox="1"/>
          <p:nvPr/>
        </p:nvSpPr>
        <p:spPr>
          <a:xfrm>
            <a:off x="502920" y="1737360"/>
            <a:ext cx="10972800" cy="457200"/>
          </a:xfrm>
          <a:prstGeom prst="rect">
            <a:avLst/>
          </a:prstGeom>
          <a:noFill/>
        </p:spPr>
        <p:txBody>
          <a:bodyPr wrap="square">
            <a:spAutoFit/>
          </a:bodyPr>
          <a:lstStyle/>
          <a:p>
            <a:pPr algn="l"/>
            <a:r>
              <a:rPr sz="1600" b="0" i="0">
                <a:solidFill>
                  <a:srgbClr val="333333"/>
                </a:solidFill>
              </a:rPr>
              <a:t>It is the language browsers and servers use to talk to each other. Every time you open a webpage, HTTP is happening.</a:t>
            </a:r>
          </a:p>
        </p:txBody>
      </p:sp>
      <p:sp>
        <p:nvSpPr>
          <p:cNvPr id="7" name="Rectangle 6"/>
          <p:cNvSpPr/>
          <p:nvPr/>
        </p:nvSpPr>
        <p:spPr>
          <a:xfrm>
            <a:off x="502920" y="2331720"/>
            <a:ext cx="5303520" cy="14630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23160"/>
            <a:ext cx="5029200" cy="411480"/>
          </a:xfrm>
          <a:prstGeom prst="rect">
            <a:avLst/>
          </a:prstGeom>
          <a:noFill/>
        </p:spPr>
        <p:txBody>
          <a:bodyPr wrap="square">
            <a:spAutoFit/>
          </a:bodyPr>
          <a:lstStyle/>
          <a:p>
            <a:pPr algn="l"/>
            <a:r>
              <a:rPr sz="1800" b="1" i="0">
                <a:solidFill>
                  <a:srgbClr val="0D47A1"/>
                </a:solidFill>
              </a:rPr>
              <a:t>HTTP</a:t>
            </a:r>
          </a:p>
        </p:txBody>
      </p:sp>
      <p:sp>
        <p:nvSpPr>
          <p:cNvPr id="9" name="TextBox 8"/>
          <p:cNvSpPr txBox="1"/>
          <p:nvPr/>
        </p:nvSpPr>
        <p:spPr>
          <a:xfrm>
            <a:off x="640080" y="2834640"/>
            <a:ext cx="5029200" cy="822960"/>
          </a:xfrm>
          <a:prstGeom prst="rect">
            <a:avLst/>
          </a:prstGeom>
          <a:noFill/>
        </p:spPr>
        <p:txBody>
          <a:bodyPr wrap="square">
            <a:spAutoFit/>
          </a:bodyPr>
          <a:lstStyle/>
          <a:p>
            <a:pPr algn="l"/>
            <a:r>
              <a:rPr sz="1400" b="0" i="0">
                <a:solidFill>
                  <a:srgbClr val="0D47A1"/>
                </a:solidFill>
              </a:rPr>
              <a:t>Not encrypted. Data can be read
by anyone between you and the server.</a:t>
            </a:r>
          </a:p>
        </p:txBody>
      </p:sp>
      <p:sp>
        <p:nvSpPr>
          <p:cNvPr id="10" name="Rectangle 9"/>
          <p:cNvSpPr/>
          <p:nvPr/>
        </p:nvSpPr>
        <p:spPr>
          <a:xfrm>
            <a:off x="6309360" y="2331720"/>
            <a:ext cx="5303520" cy="14630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423160"/>
            <a:ext cx="5029200" cy="411480"/>
          </a:xfrm>
          <a:prstGeom prst="rect">
            <a:avLst/>
          </a:prstGeom>
          <a:noFill/>
        </p:spPr>
        <p:txBody>
          <a:bodyPr wrap="square">
            <a:spAutoFit/>
          </a:bodyPr>
          <a:lstStyle/>
          <a:p>
            <a:pPr algn="l"/>
            <a:r>
              <a:rPr sz="1800" b="1" i="0">
                <a:solidFill>
                  <a:srgbClr val="1B5E20"/>
                </a:solidFill>
              </a:rPr>
              <a:t>HTTPS  (the S = SSL encrypted)</a:t>
            </a:r>
          </a:p>
        </p:txBody>
      </p:sp>
      <p:sp>
        <p:nvSpPr>
          <p:cNvPr id="12" name="TextBox 11"/>
          <p:cNvSpPr txBox="1"/>
          <p:nvPr/>
        </p:nvSpPr>
        <p:spPr>
          <a:xfrm>
            <a:off x="6400800" y="2834640"/>
            <a:ext cx="5029200" cy="822960"/>
          </a:xfrm>
          <a:prstGeom prst="rect">
            <a:avLst/>
          </a:prstGeom>
          <a:noFill/>
        </p:spPr>
        <p:txBody>
          <a:bodyPr wrap="square">
            <a:spAutoFit/>
          </a:bodyPr>
          <a:lstStyle/>
          <a:p>
            <a:pPr algn="l"/>
            <a:r>
              <a:rPr sz="1400" b="0" i="0">
                <a:solidFill>
                  <a:srgbClr val="1B5E20"/>
                </a:solidFill>
              </a:rPr>
              <a:t>Encrypted. No one in between
can read the data. All modern sites use this.</a:t>
            </a:r>
          </a:p>
        </p:txBody>
      </p:sp>
      <p:sp>
        <p:nvSpPr>
          <p:cNvPr id="13" name="Rectangle 12"/>
          <p:cNvSpPr/>
          <p:nvPr/>
        </p:nvSpPr>
        <p:spPr>
          <a:xfrm>
            <a:off x="502920" y="3977639"/>
            <a:ext cx="11155680" cy="7772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069079"/>
            <a:ext cx="1554480" cy="667512"/>
          </a:xfrm>
          <a:prstGeom prst="rect">
            <a:avLst/>
          </a:prstGeom>
          <a:noFill/>
        </p:spPr>
        <p:txBody>
          <a:bodyPr wrap="square">
            <a:spAutoFit/>
          </a:bodyPr>
          <a:lstStyle/>
          <a:p>
            <a:pPr algn="l"/>
            <a:r>
              <a:rPr sz="1300" b="1" i="0">
                <a:solidFill>
                  <a:srgbClr val="1B5E20"/>
                </a:solidFill>
              </a:rPr>
              <a:t>IN CONNEK:</a:t>
            </a:r>
          </a:p>
        </p:txBody>
      </p:sp>
      <p:sp>
        <p:nvSpPr>
          <p:cNvPr id="15" name="TextBox 14"/>
          <p:cNvSpPr txBox="1"/>
          <p:nvPr/>
        </p:nvSpPr>
        <p:spPr>
          <a:xfrm>
            <a:off x="2057400" y="4069079"/>
            <a:ext cx="9436608" cy="667512"/>
          </a:xfrm>
          <a:prstGeom prst="rect">
            <a:avLst/>
          </a:prstGeom>
          <a:noFill/>
        </p:spPr>
        <p:txBody>
          <a:bodyPr wrap="square">
            <a:spAutoFit/>
          </a:bodyPr>
          <a:lstStyle/>
          <a:p>
            <a:pPr algn="l"/>
            <a:r>
              <a:rPr sz="1300" b="0" i="0">
                <a:solidFill>
                  <a:srgbClr val="333333"/>
                </a:solidFill>
              </a:rPr>
              <a:t>When someone submits the waitlist form, their name and email travel over HTTPS. Vercel enforces HTTPS automatically — we don't have to set it up.</a:t>
            </a:r>
          </a:p>
        </p:txBody>
      </p:sp>
      <p:sp>
        <p:nvSpPr>
          <p:cNvPr id="16" name="TextBox 15"/>
          <p:cNvSpPr txBox="1"/>
          <p:nvPr/>
        </p:nvSpPr>
        <p:spPr>
          <a:xfrm>
            <a:off x="502920" y="4892040"/>
            <a:ext cx="11155680" cy="411480"/>
          </a:xfrm>
          <a:prstGeom prst="rect">
            <a:avLst/>
          </a:prstGeom>
          <a:noFill/>
        </p:spPr>
        <p:txBody>
          <a:bodyPr wrap="square">
            <a:spAutoFit/>
          </a:bodyPr>
          <a:lstStyle/>
          <a:p>
            <a:pPr algn="l"/>
            <a:r>
              <a:rPr sz="1600" b="1" i="0">
                <a:solidFill>
                  <a:srgbClr val="E8601C"/>
                </a:solidFill>
              </a:rPr>
              <a:t>Every URL starting with  https://  is secure.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GET and POST — The Two Things a Browser Can Do</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80160"/>
            <a:ext cx="5303520" cy="256032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5029200" cy="502920"/>
          </a:xfrm>
          <a:prstGeom prst="rect">
            <a:avLst/>
          </a:prstGeom>
          <a:noFill/>
        </p:spPr>
        <p:txBody>
          <a:bodyPr wrap="square">
            <a:spAutoFit/>
          </a:bodyPr>
          <a:lstStyle/>
          <a:p>
            <a:pPr algn="l"/>
            <a:r>
              <a:rPr sz="3200" b="1" i="0">
                <a:solidFill>
                  <a:srgbClr val="0D47A1"/>
                </a:solidFill>
              </a:rPr>
              <a:t>GET</a:t>
            </a:r>
          </a:p>
        </p:txBody>
      </p:sp>
      <p:sp>
        <p:nvSpPr>
          <p:cNvPr id="7" name="TextBox 6"/>
          <p:cNvSpPr txBox="1"/>
          <p:nvPr/>
        </p:nvSpPr>
        <p:spPr>
          <a:xfrm>
            <a:off x="640080" y="1874519"/>
            <a:ext cx="5029200" cy="411480"/>
          </a:xfrm>
          <a:prstGeom prst="rect">
            <a:avLst/>
          </a:prstGeom>
          <a:noFill/>
        </p:spPr>
        <p:txBody>
          <a:bodyPr wrap="square">
            <a:spAutoFit/>
          </a:bodyPr>
          <a:lstStyle/>
          <a:p>
            <a:pPr algn="l"/>
            <a:r>
              <a:rPr sz="1600" b="0" i="1">
                <a:solidFill>
                  <a:srgbClr val="0D47A1"/>
                </a:solidFill>
              </a:rPr>
              <a:t>"Give me something."</a:t>
            </a:r>
          </a:p>
        </p:txBody>
      </p:sp>
      <p:sp>
        <p:nvSpPr>
          <p:cNvPr id="8" name="TextBox 7"/>
          <p:cNvSpPr txBox="1"/>
          <p:nvPr/>
        </p:nvSpPr>
        <p:spPr>
          <a:xfrm>
            <a:off x="640080" y="2331720"/>
            <a:ext cx="5029200" cy="777240"/>
          </a:xfrm>
          <a:prstGeom prst="rect">
            <a:avLst/>
          </a:prstGeom>
          <a:noFill/>
        </p:spPr>
        <p:txBody>
          <a:bodyPr wrap="square">
            <a:spAutoFit/>
          </a:bodyPr>
          <a:lstStyle/>
          <a:p>
            <a:pPr algn="l"/>
            <a:r>
              <a:rPr sz="1400" b="0" i="0">
                <a:solidFill>
                  <a:srgbClr val="333333"/>
                </a:solidFill>
              </a:rPr>
              <a:t>Used when you open a webpage.
No data sent — just asking for content.</a:t>
            </a:r>
          </a:p>
        </p:txBody>
      </p:sp>
      <p:sp>
        <p:nvSpPr>
          <p:cNvPr id="9" name="TextBox 8"/>
          <p:cNvSpPr txBox="1"/>
          <p:nvPr/>
        </p:nvSpPr>
        <p:spPr>
          <a:xfrm>
            <a:off x="640080" y="3154680"/>
            <a:ext cx="5029200" cy="411480"/>
          </a:xfrm>
          <a:prstGeom prst="rect">
            <a:avLst/>
          </a:prstGeom>
          <a:noFill/>
        </p:spPr>
        <p:txBody>
          <a:bodyPr wrap="square">
            <a:spAutoFit/>
          </a:bodyPr>
          <a:lstStyle/>
          <a:p>
            <a:pPr algn="l"/>
            <a:r>
              <a:rPr sz="1300" b="1" i="0">
                <a:solidFill>
                  <a:srgbClr val="0D47A1"/>
                </a:solidFill>
              </a:rPr>
              <a:t>Example: opening theconnek.com</a:t>
            </a:r>
          </a:p>
        </p:txBody>
      </p:sp>
      <p:sp>
        <p:nvSpPr>
          <p:cNvPr id="10" name="Rectangle 9"/>
          <p:cNvSpPr/>
          <p:nvPr/>
        </p:nvSpPr>
        <p:spPr>
          <a:xfrm>
            <a:off x="6309360" y="1280160"/>
            <a:ext cx="5303520" cy="25603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371600"/>
            <a:ext cx="5029200" cy="502920"/>
          </a:xfrm>
          <a:prstGeom prst="rect">
            <a:avLst/>
          </a:prstGeom>
          <a:noFill/>
        </p:spPr>
        <p:txBody>
          <a:bodyPr wrap="square">
            <a:spAutoFit/>
          </a:bodyPr>
          <a:lstStyle/>
          <a:p>
            <a:pPr algn="l"/>
            <a:r>
              <a:rPr sz="3200" b="1" i="0">
                <a:solidFill>
                  <a:srgbClr val="1B5E20"/>
                </a:solidFill>
              </a:rPr>
              <a:t>POST</a:t>
            </a:r>
          </a:p>
        </p:txBody>
      </p:sp>
      <p:sp>
        <p:nvSpPr>
          <p:cNvPr id="12" name="TextBox 11"/>
          <p:cNvSpPr txBox="1"/>
          <p:nvPr/>
        </p:nvSpPr>
        <p:spPr>
          <a:xfrm>
            <a:off x="6446520" y="1874519"/>
            <a:ext cx="5029200" cy="411480"/>
          </a:xfrm>
          <a:prstGeom prst="rect">
            <a:avLst/>
          </a:prstGeom>
          <a:noFill/>
        </p:spPr>
        <p:txBody>
          <a:bodyPr wrap="square">
            <a:spAutoFit/>
          </a:bodyPr>
          <a:lstStyle/>
          <a:p>
            <a:pPr algn="l"/>
            <a:r>
              <a:rPr sz="1600" b="0" i="1">
                <a:solidFill>
                  <a:srgbClr val="1B5E20"/>
                </a:solidFill>
              </a:rPr>
              <a:t>"Here is data — do something with it."</a:t>
            </a:r>
          </a:p>
        </p:txBody>
      </p:sp>
      <p:sp>
        <p:nvSpPr>
          <p:cNvPr id="13" name="TextBox 12"/>
          <p:cNvSpPr txBox="1"/>
          <p:nvPr/>
        </p:nvSpPr>
        <p:spPr>
          <a:xfrm>
            <a:off x="6446520" y="2331720"/>
            <a:ext cx="5029200" cy="777240"/>
          </a:xfrm>
          <a:prstGeom prst="rect">
            <a:avLst/>
          </a:prstGeom>
          <a:noFill/>
        </p:spPr>
        <p:txBody>
          <a:bodyPr wrap="square">
            <a:spAutoFit/>
          </a:bodyPr>
          <a:lstStyle/>
          <a:p>
            <a:pPr algn="l"/>
            <a:r>
              <a:rPr sz="1400" b="0" i="0">
                <a:solidFill>
                  <a:srgbClr val="333333"/>
                </a:solidFill>
              </a:rPr>
              <a:t>Used when you submit a form.
Data is sent in the body of the request.</a:t>
            </a:r>
          </a:p>
        </p:txBody>
      </p:sp>
      <p:sp>
        <p:nvSpPr>
          <p:cNvPr id="14" name="TextBox 13"/>
          <p:cNvSpPr txBox="1"/>
          <p:nvPr/>
        </p:nvSpPr>
        <p:spPr>
          <a:xfrm>
            <a:off x="6446520" y="3154680"/>
            <a:ext cx="5029200" cy="411480"/>
          </a:xfrm>
          <a:prstGeom prst="rect">
            <a:avLst/>
          </a:prstGeom>
          <a:noFill/>
        </p:spPr>
        <p:txBody>
          <a:bodyPr wrap="square">
            <a:spAutoFit/>
          </a:bodyPr>
          <a:lstStyle/>
          <a:p>
            <a:pPr algn="l"/>
            <a:r>
              <a:rPr sz="1300" b="1" i="0">
                <a:solidFill>
                  <a:srgbClr val="1B5E20"/>
                </a:solidFill>
              </a:rPr>
              <a:t>Example: clicking Join on the waitlist</a:t>
            </a:r>
          </a:p>
        </p:txBody>
      </p:sp>
      <p:sp>
        <p:nvSpPr>
          <p:cNvPr id="15" name="Rectangle 14"/>
          <p:cNvSpPr/>
          <p:nvPr/>
        </p:nvSpPr>
        <p:spPr>
          <a:xfrm>
            <a:off x="502920" y="4023360"/>
            <a:ext cx="11155680" cy="77724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4114800"/>
            <a:ext cx="1554480" cy="667512"/>
          </a:xfrm>
          <a:prstGeom prst="rect">
            <a:avLst/>
          </a:prstGeom>
          <a:noFill/>
        </p:spPr>
        <p:txBody>
          <a:bodyPr wrap="square">
            <a:spAutoFit/>
          </a:bodyPr>
          <a:lstStyle/>
          <a:p>
            <a:pPr algn="l"/>
            <a:r>
              <a:rPr sz="1300" b="1" i="0">
                <a:solidFill>
                  <a:srgbClr val="926000"/>
                </a:solidFill>
              </a:rPr>
              <a:t>ANALOGY:</a:t>
            </a:r>
          </a:p>
        </p:txBody>
      </p:sp>
      <p:sp>
        <p:nvSpPr>
          <p:cNvPr id="17" name="TextBox 16"/>
          <p:cNvSpPr txBox="1"/>
          <p:nvPr/>
        </p:nvSpPr>
        <p:spPr>
          <a:xfrm>
            <a:off x="2057400" y="4114800"/>
            <a:ext cx="9436608" cy="667512"/>
          </a:xfrm>
          <a:prstGeom prst="rect">
            <a:avLst/>
          </a:prstGeom>
          <a:noFill/>
        </p:spPr>
        <p:txBody>
          <a:bodyPr wrap="square">
            <a:spAutoFit/>
          </a:bodyPr>
          <a:lstStyle/>
          <a:p>
            <a:pPr algn="l"/>
            <a:r>
              <a:rPr sz="1300" b="0" i="0">
                <a:solidFill>
                  <a:srgbClr val="333333"/>
                </a:solidFill>
              </a:rPr>
              <a:t>GET = asking a librarian 'what books do you have?' POST = handing the librarian a new book and saying 'please add this.'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The Tools We Used</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The tech stack — what each tool is and why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React — Building What Users See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94360"/>
          </a:xfrm>
          <a:prstGeom prst="rect">
            <a:avLst/>
          </a:prstGeom>
          <a:noFill/>
        </p:spPr>
        <p:txBody>
          <a:bodyPr wrap="square">
            <a:spAutoFit/>
          </a:bodyPr>
          <a:lstStyle/>
          <a:p>
            <a:pPr algn="l"/>
            <a:r>
              <a:rPr sz="1600" b="0" i="0">
                <a:solidFill>
                  <a:srgbClr val="333333"/>
                </a:solidFill>
              </a:rPr>
              <a:t>React is a tool (made by Meta/Facebook) for building the visible parts of a website. Instead of one giant file, you build the page as small reusable pieces called components.</a:t>
            </a:r>
          </a:p>
        </p:txBody>
      </p:sp>
      <p:sp>
        <p:nvSpPr>
          <p:cNvPr id="6" name="Rectangle 5"/>
          <p:cNvSpPr/>
          <p:nvPr/>
        </p:nvSpPr>
        <p:spPr>
          <a:xfrm>
            <a:off x="502920" y="1965960"/>
            <a:ext cx="11155680" cy="365760"/>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10789920" cy="320040"/>
          </a:xfrm>
          <a:prstGeom prst="rect">
            <a:avLst/>
          </a:prstGeom>
          <a:noFill/>
        </p:spPr>
        <p:txBody>
          <a:bodyPr wrap="square">
            <a:spAutoFit/>
          </a:bodyPr>
          <a:lstStyle/>
          <a:p>
            <a:pPr algn="l"/>
            <a:r>
              <a:rPr sz="1400" b="1" i="0">
                <a:solidFill>
                  <a:srgbClr val="FFFFFF"/>
                </a:solidFill>
              </a:rPr>
              <a:t>theconnek.com is assembled from these components:</a:t>
            </a:r>
          </a:p>
        </p:txBody>
      </p:sp>
      <p:sp>
        <p:nvSpPr>
          <p:cNvPr id="8" name="Rectangle 7"/>
          <p:cNvSpPr/>
          <p:nvPr/>
        </p:nvSpPr>
        <p:spPr>
          <a:xfrm>
            <a:off x="502920" y="2468880"/>
            <a:ext cx="3566160" cy="8686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523744"/>
            <a:ext cx="3383280" cy="347472"/>
          </a:xfrm>
          <a:prstGeom prst="rect">
            <a:avLst/>
          </a:prstGeom>
          <a:noFill/>
        </p:spPr>
        <p:txBody>
          <a:bodyPr wrap="square">
            <a:spAutoFit/>
          </a:bodyPr>
          <a:lstStyle/>
          <a:p>
            <a:pPr algn="l"/>
            <a:r>
              <a:rPr sz="1500" b="1" i="0">
                <a:solidFill>
                  <a:srgbClr val="0D47A1"/>
                </a:solidFill>
              </a:rPr>
              <a:t>Logo.tsx</a:t>
            </a:r>
          </a:p>
        </p:txBody>
      </p:sp>
      <p:sp>
        <p:nvSpPr>
          <p:cNvPr id="10" name="TextBox 9"/>
          <p:cNvSpPr txBox="1"/>
          <p:nvPr/>
        </p:nvSpPr>
        <p:spPr>
          <a:xfrm>
            <a:off x="612648" y="2871216"/>
            <a:ext cx="3383280" cy="347472"/>
          </a:xfrm>
          <a:prstGeom prst="rect">
            <a:avLst/>
          </a:prstGeom>
          <a:noFill/>
        </p:spPr>
        <p:txBody>
          <a:bodyPr wrap="square">
            <a:spAutoFit/>
          </a:bodyPr>
          <a:lstStyle/>
          <a:p>
            <a:pPr algn="l"/>
            <a:r>
              <a:rPr sz="1200" b="0" i="0">
                <a:solidFill>
                  <a:srgbClr val="333333"/>
                </a:solidFill>
              </a:rPr>
              <a:t>The Connek logo at the top</a:t>
            </a:r>
          </a:p>
        </p:txBody>
      </p:sp>
      <p:sp>
        <p:nvSpPr>
          <p:cNvPr id="11" name="Rectangle 10"/>
          <p:cNvSpPr/>
          <p:nvPr/>
        </p:nvSpPr>
        <p:spPr>
          <a:xfrm>
            <a:off x="4251959" y="2468880"/>
            <a:ext cx="3566160" cy="8686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61687" y="2523744"/>
            <a:ext cx="3383280" cy="347472"/>
          </a:xfrm>
          <a:prstGeom prst="rect">
            <a:avLst/>
          </a:prstGeom>
          <a:noFill/>
        </p:spPr>
        <p:txBody>
          <a:bodyPr wrap="square">
            <a:spAutoFit/>
          </a:bodyPr>
          <a:lstStyle/>
          <a:p>
            <a:pPr algn="l"/>
            <a:r>
              <a:rPr sz="1500" b="1" i="0">
                <a:solidFill>
                  <a:srgbClr val="1B5E20"/>
                </a:solidFill>
              </a:rPr>
              <a:t>Footer.tsx</a:t>
            </a:r>
          </a:p>
        </p:txBody>
      </p:sp>
      <p:sp>
        <p:nvSpPr>
          <p:cNvPr id="13" name="TextBox 12"/>
          <p:cNvSpPr txBox="1"/>
          <p:nvPr/>
        </p:nvSpPr>
        <p:spPr>
          <a:xfrm>
            <a:off x="4361687" y="2871216"/>
            <a:ext cx="3383280" cy="347472"/>
          </a:xfrm>
          <a:prstGeom prst="rect">
            <a:avLst/>
          </a:prstGeom>
          <a:noFill/>
        </p:spPr>
        <p:txBody>
          <a:bodyPr wrap="square">
            <a:spAutoFit/>
          </a:bodyPr>
          <a:lstStyle/>
          <a:p>
            <a:pPr algn="l"/>
            <a:r>
              <a:rPr sz="1200" b="0" i="0">
                <a:solidFill>
                  <a:srgbClr val="333333"/>
                </a:solidFill>
              </a:rPr>
              <a:t>The bottom bar on every page</a:t>
            </a:r>
          </a:p>
        </p:txBody>
      </p:sp>
      <p:sp>
        <p:nvSpPr>
          <p:cNvPr id="14" name="Rectangle 13"/>
          <p:cNvSpPr/>
          <p:nvPr/>
        </p:nvSpPr>
        <p:spPr>
          <a:xfrm>
            <a:off x="8000998" y="2468880"/>
            <a:ext cx="3566160" cy="86868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0726" y="2523744"/>
            <a:ext cx="3383280" cy="347472"/>
          </a:xfrm>
          <a:prstGeom prst="rect">
            <a:avLst/>
          </a:prstGeom>
          <a:noFill/>
        </p:spPr>
        <p:txBody>
          <a:bodyPr wrap="square">
            <a:spAutoFit/>
          </a:bodyPr>
          <a:lstStyle/>
          <a:p>
            <a:pPr algn="l"/>
            <a:r>
              <a:rPr sz="1500" b="1" i="0">
                <a:solidFill>
                  <a:srgbClr val="4A147A"/>
                </a:solidFill>
              </a:rPr>
              <a:t>WaitlistForm.tsx</a:t>
            </a:r>
          </a:p>
        </p:txBody>
      </p:sp>
      <p:sp>
        <p:nvSpPr>
          <p:cNvPr id="16" name="TextBox 15"/>
          <p:cNvSpPr txBox="1"/>
          <p:nvPr/>
        </p:nvSpPr>
        <p:spPr>
          <a:xfrm>
            <a:off x="8110726" y="2871216"/>
            <a:ext cx="3383280" cy="347472"/>
          </a:xfrm>
          <a:prstGeom prst="rect">
            <a:avLst/>
          </a:prstGeom>
          <a:noFill/>
        </p:spPr>
        <p:txBody>
          <a:bodyPr wrap="square">
            <a:spAutoFit/>
          </a:bodyPr>
          <a:lstStyle/>
          <a:p>
            <a:pPr algn="l"/>
            <a:r>
              <a:rPr sz="1200" b="0" i="0">
                <a:solidFill>
                  <a:srgbClr val="333333"/>
                </a:solidFill>
              </a:rPr>
              <a:t>The signup form</a:t>
            </a:r>
          </a:p>
        </p:txBody>
      </p:sp>
      <p:sp>
        <p:nvSpPr>
          <p:cNvPr id="17" name="Rectangle 16"/>
          <p:cNvSpPr/>
          <p:nvPr/>
        </p:nvSpPr>
        <p:spPr>
          <a:xfrm>
            <a:off x="502920" y="3474720"/>
            <a:ext cx="3566160" cy="86868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529584"/>
            <a:ext cx="3383280" cy="347472"/>
          </a:xfrm>
          <a:prstGeom prst="rect">
            <a:avLst/>
          </a:prstGeom>
          <a:noFill/>
        </p:spPr>
        <p:txBody>
          <a:bodyPr wrap="square">
            <a:spAutoFit/>
          </a:bodyPr>
          <a:lstStyle/>
          <a:p>
            <a:pPr algn="l"/>
            <a:r>
              <a:rPr sz="1500" b="1" i="0">
                <a:solidFill>
                  <a:srgbClr val="926000"/>
                </a:solidFill>
              </a:rPr>
              <a:t>Mentors.tsx</a:t>
            </a:r>
          </a:p>
        </p:txBody>
      </p:sp>
      <p:sp>
        <p:nvSpPr>
          <p:cNvPr id="19" name="TextBox 18"/>
          <p:cNvSpPr txBox="1"/>
          <p:nvPr/>
        </p:nvSpPr>
        <p:spPr>
          <a:xfrm>
            <a:off x="612648" y="3877056"/>
            <a:ext cx="3383280" cy="347472"/>
          </a:xfrm>
          <a:prstGeom prst="rect">
            <a:avLst/>
          </a:prstGeom>
          <a:noFill/>
        </p:spPr>
        <p:txBody>
          <a:bodyPr wrap="square">
            <a:spAutoFit/>
          </a:bodyPr>
          <a:lstStyle/>
          <a:p>
            <a:pPr algn="l"/>
            <a:r>
              <a:rPr sz="1200" b="0" i="0">
                <a:solidFill>
                  <a:srgbClr val="333333"/>
                </a:solidFill>
              </a:rPr>
              <a:t>The grid of mentor photos</a:t>
            </a:r>
          </a:p>
        </p:txBody>
      </p:sp>
      <p:sp>
        <p:nvSpPr>
          <p:cNvPr id="20" name="Rectangle 19"/>
          <p:cNvSpPr/>
          <p:nvPr/>
        </p:nvSpPr>
        <p:spPr>
          <a:xfrm>
            <a:off x="4251959" y="3474720"/>
            <a:ext cx="3566160" cy="8686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61687" y="3529584"/>
            <a:ext cx="3383280" cy="347472"/>
          </a:xfrm>
          <a:prstGeom prst="rect">
            <a:avLst/>
          </a:prstGeom>
          <a:noFill/>
        </p:spPr>
        <p:txBody>
          <a:bodyPr wrap="square">
            <a:spAutoFit/>
          </a:bodyPr>
          <a:lstStyle/>
          <a:p>
            <a:pPr algn="l"/>
            <a:r>
              <a:rPr sz="1500" b="1" i="0">
                <a:solidFill>
                  <a:srgbClr val="0D47A1"/>
                </a:solidFill>
              </a:rPr>
              <a:t>Analytics.tsx</a:t>
            </a:r>
          </a:p>
        </p:txBody>
      </p:sp>
      <p:sp>
        <p:nvSpPr>
          <p:cNvPr id="22" name="TextBox 21"/>
          <p:cNvSpPr txBox="1"/>
          <p:nvPr/>
        </p:nvSpPr>
        <p:spPr>
          <a:xfrm>
            <a:off x="4361687" y="3877056"/>
            <a:ext cx="3383280" cy="347472"/>
          </a:xfrm>
          <a:prstGeom prst="rect">
            <a:avLst/>
          </a:prstGeom>
          <a:noFill/>
        </p:spPr>
        <p:txBody>
          <a:bodyPr wrap="square">
            <a:spAutoFit/>
          </a:bodyPr>
          <a:lstStyle/>
          <a:p>
            <a:pPr algn="l"/>
            <a:r>
              <a:rPr sz="1200" b="0" i="0">
                <a:solidFill>
                  <a:srgbClr val="333333"/>
                </a:solidFill>
              </a:rPr>
              <a:t>Loads GA4 + Clarity invisibly</a:t>
            </a:r>
          </a:p>
        </p:txBody>
      </p:sp>
      <p:sp>
        <p:nvSpPr>
          <p:cNvPr id="23" name="Rectangle 22"/>
          <p:cNvSpPr/>
          <p:nvPr/>
        </p:nvSpPr>
        <p:spPr>
          <a:xfrm>
            <a:off x="502920" y="4617720"/>
            <a:ext cx="11155680" cy="77724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 y="4709160"/>
            <a:ext cx="1554480" cy="667512"/>
          </a:xfrm>
          <a:prstGeom prst="rect">
            <a:avLst/>
          </a:prstGeom>
          <a:noFill/>
        </p:spPr>
        <p:txBody>
          <a:bodyPr wrap="square">
            <a:spAutoFit/>
          </a:bodyPr>
          <a:lstStyle/>
          <a:p>
            <a:pPr algn="l"/>
            <a:r>
              <a:rPr sz="1300" b="1" i="0">
                <a:solidFill>
                  <a:srgbClr val="926000"/>
                </a:solidFill>
              </a:rPr>
              <a:t>ANALOGY:</a:t>
            </a:r>
          </a:p>
        </p:txBody>
      </p:sp>
      <p:sp>
        <p:nvSpPr>
          <p:cNvPr id="25" name="TextBox 24"/>
          <p:cNvSpPr txBox="1"/>
          <p:nvPr/>
        </p:nvSpPr>
        <p:spPr>
          <a:xfrm>
            <a:off x="2057400" y="4709160"/>
            <a:ext cx="9436608" cy="667512"/>
          </a:xfrm>
          <a:prstGeom prst="rect">
            <a:avLst/>
          </a:prstGeom>
          <a:noFill/>
        </p:spPr>
        <p:txBody>
          <a:bodyPr wrap="square">
            <a:spAutoFit/>
          </a:bodyPr>
          <a:lstStyle/>
          <a:p>
            <a:pPr algn="l"/>
            <a:r>
              <a:rPr sz="1300" b="0" i="0">
                <a:solidFill>
                  <a:srgbClr val="333333"/>
                </a:solidFill>
              </a:rPr>
              <a:t>Components = Lego bricks. Each brick does one job. You snap them together to build the page. Change one brick → it updates everywhere it's used.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React — State (How the Page Reacts to You)</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02920"/>
          </a:xfrm>
          <a:prstGeom prst="rect">
            <a:avLst/>
          </a:prstGeom>
          <a:noFill/>
        </p:spPr>
        <p:txBody>
          <a:bodyPr wrap="square">
            <a:spAutoFit/>
          </a:bodyPr>
          <a:lstStyle/>
          <a:p>
            <a:pPr algn="l"/>
            <a:r>
              <a:rPr sz="1600" b="0" i="0">
                <a:solidFill>
                  <a:srgbClr val="333333"/>
                </a:solidFill>
              </a:rPr>
              <a:t>State is data inside a component that can change. When it changes, React automatically updates the page — without reloading.</a:t>
            </a:r>
          </a:p>
        </p:txBody>
      </p:sp>
      <p:sp>
        <p:nvSpPr>
          <p:cNvPr id="6" name="Rectangle 5"/>
          <p:cNvSpPr/>
          <p:nvPr/>
        </p:nvSpPr>
        <p:spPr>
          <a:xfrm>
            <a:off x="502920" y="1874519"/>
            <a:ext cx="11155680" cy="256032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5029200" cy="411480"/>
          </a:xfrm>
          <a:prstGeom prst="rect">
            <a:avLst/>
          </a:prstGeom>
          <a:noFill/>
        </p:spPr>
        <p:txBody>
          <a:bodyPr wrap="square">
            <a:spAutoFit/>
          </a:bodyPr>
          <a:lstStyle/>
          <a:p>
            <a:pPr algn="l"/>
            <a:r>
              <a:rPr sz="1400" b="1" i="0">
                <a:solidFill>
                  <a:srgbClr val="0D47A1"/>
                </a:solidFill>
              </a:rPr>
              <a:t>userType state = 'candidate'</a:t>
            </a:r>
          </a:p>
        </p:txBody>
      </p:sp>
      <p:sp>
        <p:nvSpPr>
          <p:cNvPr id="8" name="Rectangle 7"/>
          <p:cNvSpPr/>
          <p:nvPr/>
        </p:nvSpPr>
        <p:spPr>
          <a:xfrm>
            <a:off x="685800" y="2423160"/>
            <a:ext cx="4846320" cy="16916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14600"/>
            <a:ext cx="4572000" cy="1508760"/>
          </a:xfrm>
          <a:prstGeom prst="rect">
            <a:avLst/>
          </a:prstGeom>
          <a:noFill/>
        </p:spPr>
        <p:txBody>
          <a:bodyPr wrap="square">
            <a:spAutoFit/>
          </a:bodyPr>
          <a:lstStyle/>
          <a:p>
            <a:pPr algn="l"/>
            <a:r>
              <a:rPr sz="1300" b="0" i="0">
                <a:solidFill>
                  <a:srgbClr val="0D47A1"/>
                </a:solidFill>
              </a:rPr>
              <a:t>Headline: "I want to build my career"
Form shows: college, target role
Steps for: candidates</a:t>
            </a:r>
          </a:p>
        </p:txBody>
      </p:sp>
      <p:sp>
        <p:nvSpPr>
          <p:cNvPr id="10" name="TextBox 9"/>
          <p:cNvSpPr txBox="1"/>
          <p:nvPr/>
        </p:nvSpPr>
        <p:spPr>
          <a:xfrm>
            <a:off x="6309360" y="1965960"/>
            <a:ext cx="5394960" cy="411480"/>
          </a:xfrm>
          <a:prstGeom prst="rect">
            <a:avLst/>
          </a:prstGeom>
          <a:noFill/>
        </p:spPr>
        <p:txBody>
          <a:bodyPr wrap="square">
            <a:spAutoFit/>
          </a:bodyPr>
          <a:lstStyle/>
          <a:p>
            <a:pPr algn="l"/>
            <a:r>
              <a:rPr sz="1400" b="1" i="0">
                <a:solidFill>
                  <a:srgbClr val="1B5E20"/>
                </a:solidFill>
              </a:rPr>
              <a:t>userType state = 'professional'</a:t>
            </a:r>
          </a:p>
        </p:txBody>
      </p:sp>
      <p:sp>
        <p:nvSpPr>
          <p:cNvPr id="11" name="Rectangle 10"/>
          <p:cNvSpPr/>
          <p:nvPr/>
        </p:nvSpPr>
        <p:spPr>
          <a:xfrm>
            <a:off x="6309360" y="2423160"/>
            <a:ext cx="4846320" cy="16916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514600"/>
            <a:ext cx="4572000" cy="1508760"/>
          </a:xfrm>
          <a:prstGeom prst="rect">
            <a:avLst/>
          </a:prstGeom>
          <a:noFill/>
        </p:spPr>
        <p:txBody>
          <a:bodyPr wrap="square">
            <a:spAutoFit/>
          </a:bodyPr>
          <a:lstStyle/>
          <a:p>
            <a:pPr algn="l"/>
            <a:r>
              <a:rPr sz="1300" b="0" i="0">
                <a:solidFill>
                  <a:srgbClr val="1B5E20"/>
                </a:solidFill>
              </a:rPr>
              <a:t>Headline: "I want to give back"
Form shows: company, current role
Steps for: professionals</a:t>
            </a:r>
          </a:p>
        </p:txBody>
      </p:sp>
      <p:sp>
        <p:nvSpPr>
          <p:cNvPr id="13" name="TextBox 12"/>
          <p:cNvSpPr txBox="1"/>
          <p:nvPr/>
        </p:nvSpPr>
        <p:spPr>
          <a:xfrm>
            <a:off x="5074920" y="3063240"/>
            <a:ext cx="2011680" cy="457200"/>
          </a:xfrm>
          <a:prstGeom prst="rect">
            <a:avLst/>
          </a:prstGeom>
          <a:noFill/>
        </p:spPr>
        <p:txBody>
          <a:bodyPr wrap="square">
            <a:spAutoFit/>
          </a:bodyPr>
          <a:lstStyle/>
          <a:p>
            <a:pPr algn="ctr"/>
            <a:r>
              <a:rPr sz="1400" b="1" i="0">
                <a:solidFill>
                  <a:srgbClr val="E8601C"/>
                </a:solidFill>
              </a:rPr>
              <a:t>← click the toggle →</a:t>
            </a:r>
          </a:p>
        </p:txBody>
      </p:sp>
      <p:sp>
        <p:nvSpPr>
          <p:cNvPr id="14" name="Rectangle 13"/>
          <p:cNvSpPr/>
          <p:nvPr/>
        </p:nvSpPr>
        <p:spPr>
          <a:xfrm>
            <a:off x="502920" y="4617720"/>
            <a:ext cx="11155680" cy="804672"/>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4709160"/>
            <a:ext cx="1554480" cy="694944"/>
          </a:xfrm>
          <a:prstGeom prst="rect">
            <a:avLst/>
          </a:prstGeom>
          <a:noFill/>
        </p:spPr>
        <p:txBody>
          <a:bodyPr wrap="square">
            <a:spAutoFit/>
          </a:bodyPr>
          <a:lstStyle/>
          <a:p>
            <a:pPr algn="l"/>
            <a:r>
              <a:rPr sz="1300" b="1" i="0">
                <a:solidFill>
                  <a:srgbClr val="1B5E20"/>
                </a:solidFill>
              </a:rPr>
              <a:t>IN CONNEK:</a:t>
            </a:r>
          </a:p>
        </p:txBody>
      </p:sp>
      <p:sp>
        <p:nvSpPr>
          <p:cNvPr id="16" name="TextBox 15"/>
          <p:cNvSpPr txBox="1"/>
          <p:nvPr/>
        </p:nvSpPr>
        <p:spPr>
          <a:xfrm>
            <a:off x="2057400" y="4709160"/>
            <a:ext cx="9436608" cy="694944"/>
          </a:xfrm>
          <a:prstGeom prst="rect">
            <a:avLst/>
          </a:prstGeom>
          <a:noFill/>
        </p:spPr>
        <p:txBody>
          <a:bodyPr wrap="square">
            <a:spAutoFit/>
          </a:bodyPr>
          <a:lstStyle/>
          <a:p>
            <a:pPr algn="l"/>
            <a:r>
              <a:rPr sz="1300" b="0" i="0">
                <a:solidFill>
                  <a:srgbClr val="333333"/>
                </a:solidFill>
              </a:rPr>
              <a:t>When you click Candidate / Professional on the homepage, userType changes. React immediately re-renders the headline, form fields, and steps — no page reload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Next.js — The Full Framework</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457200"/>
          </a:xfrm>
          <a:prstGeom prst="rect">
            <a:avLst/>
          </a:prstGeom>
          <a:noFill/>
        </p:spPr>
        <p:txBody>
          <a:bodyPr wrap="square">
            <a:spAutoFit/>
          </a:bodyPr>
          <a:lstStyle/>
          <a:p>
            <a:pPr algn="l"/>
            <a:r>
              <a:rPr sz="1600" b="0" i="0">
                <a:solidFill>
                  <a:srgbClr val="333333"/>
                </a:solidFill>
              </a:rPr>
              <a:t>React builds the UI. Next.js is the full application — it adds everything else you need:</a:t>
            </a:r>
          </a:p>
        </p:txBody>
      </p:sp>
      <p:sp>
        <p:nvSpPr>
          <p:cNvPr id="6" name="Rectangle 5"/>
          <p:cNvSpPr/>
          <p:nvPr/>
        </p:nvSpPr>
        <p:spPr>
          <a:xfrm>
            <a:off x="365760" y="1828800"/>
            <a:ext cx="3749039" cy="9144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883664"/>
            <a:ext cx="3566160" cy="347472"/>
          </a:xfrm>
          <a:prstGeom prst="rect">
            <a:avLst/>
          </a:prstGeom>
          <a:noFill/>
        </p:spPr>
        <p:txBody>
          <a:bodyPr wrap="square">
            <a:spAutoFit/>
          </a:bodyPr>
          <a:lstStyle/>
          <a:p>
            <a:pPr algn="l"/>
            <a:r>
              <a:rPr sz="1500" b="1" i="0">
                <a:solidFill>
                  <a:srgbClr val="0D47A1"/>
                </a:solidFill>
              </a:rPr>
              <a:t>Routing</a:t>
            </a:r>
          </a:p>
        </p:txBody>
      </p:sp>
      <p:sp>
        <p:nvSpPr>
          <p:cNvPr id="8" name="TextBox 7"/>
          <p:cNvSpPr txBox="1"/>
          <p:nvPr/>
        </p:nvSpPr>
        <p:spPr>
          <a:xfrm>
            <a:off x="475488" y="2249424"/>
            <a:ext cx="3566160" cy="384048"/>
          </a:xfrm>
          <a:prstGeom prst="rect">
            <a:avLst/>
          </a:prstGeom>
          <a:noFill/>
        </p:spPr>
        <p:txBody>
          <a:bodyPr wrap="square">
            <a:spAutoFit/>
          </a:bodyPr>
          <a:lstStyle/>
          <a:p>
            <a:pPr algn="l"/>
            <a:r>
              <a:rPr sz="1200" b="0" i="0">
                <a:solidFill>
                  <a:srgbClr val="333333"/>
                </a:solidFill>
              </a:rPr>
              <a:t>Folder structure = URL structure. No config needed.</a:t>
            </a:r>
          </a:p>
        </p:txBody>
      </p:sp>
      <p:sp>
        <p:nvSpPr>
          <p:cNvPr id="9" name="Rectangle 8"/>
          <p:cNvSpPr/>
          <p:nvPr/>
        </p:nvSpPr>
        <p:spPr>
          <a:xfrm>
            <a:off x="4297680" y="1828800"/>
            <a:ext cx="3749039" cy="9144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8" y="1883664"/>
            <a:ext cx="3566160" cy="347472"/>
          </a:xfrm>
          <a:prstGeom prst="rect">
            <a:avLst/>
          </a:prstGeom>
          <a:noFill/>
        </p:spPr>
        <p:txBody>
          <a:bodyPr wrap="square">
            <a:spAutoFit/>
          </a:bodyPr>
          <a:lstStyle/>
          <a:p>
            <a:pPr algn="l"/>
            <a:r>
              <a:rPr sz="1500" b="1" i="0">
                <a:solidFill>
                  <a:srgbClr val="1B5E20"/>
                </a:solidFill>
              </a:rPr>
              <a:t>API Routes</a:t>
            </a:r>
          </a:p>
        </p:txBody>
      </p:sp>
      <p:sp>
        <p:nvSpPr>
          <p:cNvPr id="11" name="TextBox 10"/>
          <p:cNvSpPr txBox="1"/>
          <p:nvPr/>
        </p:nvSpPr>
        <p:spPr>
          <a:xfrm>
            <a:off x="4407408" y="2249424"/>
            <a:ext cx="3566160" cy="384048"/>
          </a:xfrm>
          <a:prstGeom prst="rect">
            <a:avLst/>
          </a:prstGeom>
          <a:noFill/>
        </p:spPr>
        <p:txBody>
          <a:bodyPr wrap="square">
            <a:spAutoFit/>
          </a:bodyPr>
          <a:lstStyle/>
          <a:p>
            <a:pPr algn="l"/>
            <a:r>
              <a:rPr sz="1200" b="0" i="0">
                <a:solidFill>
                  <a:srgbClr val="333333"/>
                </a:solidFill>
              </a:rPr>
              <a:t>Backend code lives inside the same project as frontend.</a:t>
            </a:r>
          </a:p>
        </p:txBody>
      </p:sp>
      <p:sp>
        <p:nvSpPr>
          <p:cNvPr id="12" name="Rectangle 11"/>
          <p:cNvSpPr/>
          <p:nvPr/>
        </p:nvSpPr>
        <p:spPr>
          <a:xfrm>
            <a:off x="8229600" y="1828800"/>
            <a:ext cx="3749039" cy="91440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8" y="1883664"/>
            <a:ext cx="3566160" cy="347472"/>
          </a:xfrm>
          <a:prstGeom prst="rect">
            <a:avLst/>
          </a:prstGeom>
          <a:noFill/>
        </p:spPr>
        <p:txBody>
          <a:bodyPr wrap="square">
            <a:spAutoFit/>
          </a:bodyPr>
          <a:lstStyle/>
          <a:p>
            <a:pPr algn="l"/>
            <a:r>
              <a:rPr sz="1500" b="1" i="0">
                <a:solidFill>
                  <a:srgbClr val="4A147A"/>
                </a:solidFill>
              </a:rPr>
              <a:t>Server-Side Rendering</a:t>
            </a:r>
          </a:p>
        </p:txBody>
      </p:sp>
      <p:sp>
        <p:nvSpPr>
          <p:cNvPr id="14" name="TextBox 13"/>
          <p:cNvSpPr txBox="1"/>
          <p:nvPr/>
        </p:nvSpPr>
        <p:spPr>
          <a:xfrm>
            <a:off x="8339328" y="2249424"/>
            <a:ext cx="3566160" cy="384048"/>
          </a:xfrm>
          <a:prstGeom prst="rect">
            <a:avLst/>
          </a:prstGeom>
          <a:noFill/>
        </p:spPr>
        <p:txBody>
          <a:bodyPr wrap="square">
            <a:spAutoFit/>
          </a:bodyPr>
          <a:lstStyle/>
          <a:p>
            <a:pPr algn="l"/>
            <a:r>
              <a:rPr sz="1200" b="0" i="0">
                <a:solidFill>
                  <a:srgbClr val="333333"/>
                </a:solidFill>
              </a:rPr>
              <a:t>Pages are built on the server → better SEO.</a:t>
            </a:r>
          </a:p>
        </p:txBody>
      </p:sp>
      <p:sp>
        <p:nvSpPr>
          <p:cNvPr id="15" name="Rectangle 14"/>
          <p:cNvSpPr/>
          <p:nvPr/>
        </p:nvSpPr>
        <p:spPr>
          <a:xfrm>
            <a:off x="365760" y="2834640"/>
            <a:ext cx="3749039" cy="91440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2889504"/>
            <a:ext cx="3566160" cy="347472"/>
          </a:xfrm>
          <a:prstGeom prst="rect">
            <a:avLst/>
          </a:prstGeom>
          <a:noFill/>
        </p:spPr>
        <p:txBody>
          <a:bodyPr wrap="square">
            <a:spAutoFit/>
          </a:bodyPr>
          <a:lstStyle/>
          <a:p>
            <a:pPr algn="l"/>
            <a:r>
              <a:rPr sz="1500" b="1" i="0">
                <a:solidFill>
                  <a:srgbClr val="926000"/>
                </a:solidFill>
              </a:rPr>
              <a:t>Image Optimisation</a:t>
            </a:r>
          </a:p>
        </p:txBody>
      </p:sp>
      <p:sp>
        <p:nvSpPr>
          <p:cNvPr id="17" name="TextBox 16"/>
          <p:cNvSpPr txBox="1"/>
          <p:nvPr/>
        </p:nvSpPr>
        <p:spPr>
          <a:xfrm>
            <a:off x="475488" y="3255264"/>
            <a:ext cx="3566160" cy="384048"/>
          </a:xfrm>
          <a:prstGeom prst="rect">
            <a:avLst/>
          </a:prstGeom>
          <a:noFill/>
        </p:spPr>
        <p:txBody>
          <a:bodyPr wrap="square">
            <a:spAutoFit/>
          </a:bodyPr>
          <a:lstStyle/>
          <a:p>
            <a:pPr algn="l"/>
            <a:r>
              <a:rPr sz="1200" b="0" i="0">
                <a:solidFill>
                  <a:srgbClr val="333333"/>
                </a:solidFill>
              </a:rPr>
              <a:t>Automatically compresses &amp; resizes images.</a:t>
            </a:r>
          </a:p>
        </p:txBody>
      </p:sp>
      <p:sp>
        <p:nvSpPr>
          <p:cNvPr id="18" name="Rectangle 17"/>
          <p:cNvSpPr/>
          <p:nvPr/>
        </p:nvSpPr>
        <p:spPr>
          <a:xfrm>
            <a:off x="4297680" y="2834640"/>
            <a:ext cx="3749039" cy="9144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7408" y="2889504"/>
            <a:ext cx="3566160" cy="347472"/>
          </a:xfrm>
          <a:prstGeom prst="rect">
            <a:avLst/>
          </a:prstGeom>
          <a:noFill/>
        </p:spPr>
        <p:txBody>
          <a:bodyPr wrap="square">
            <a:spAutoFit/>
          </a:bodyPr>
          <a:lstStyle/>
          <a:p>
            <a:pPr algn="l"/>
            <a:r>
              <a:rPr sz="1500" b="1" i="0">
                <a:solidFill>
                  <a:srgbClr val="0D47A1"/>
                </a:solidFill>
              </a:rPr>
              <a:t>TypeScript Support</a:t>
            </a:r>
          </a:p>
        </p:txBody>
      </p:sp>
      <p:sp>
        <p:nvSpPr>
          <p:cNvPr id="20" name="TextBox 19"/>
          <p:cNvSpPr txBox="1"/>
          <p:nvPr/>
        </p:nvSpPr>
        <p:spPr>
          <a:xfrm>
            <a:off x="4407408" y="3255264"/>
            <a:ext cx="3566160" cy="384048"/>
          </a:xfrm>
          <a:prstGeom prst="rect">
            <a:avLst/>
          </a:prstGeom>
          <a:noFill/>
        </p:spPr>
        <p:txBody>
          <a:bodyPr wrap="square">
            <a:spAutoFit/>
          </a:bodyPr>
          <a:lstStyle/>
          <a:p>
            <a:pPr algn="l"/>
            <a:r>
              <a:rPr sz="1200" b="0" i="0">
                <a:solidFill>
                  <a:srgbClr val="333333"/>
                </a:solidFill>
              </a:rPr>
              <a:t>First-class TypeScript — no extra setup.</a:t>
            </a:r>
          </a:p>
        </p:txBody>
      </p:sp>
      <p:sp>
        <p:nvSpPr>
          <p:cNvPr id="21" name="Rectangle 20"/>
          <p:cNvSpPr/>
          <p:nvPr/>
        </p:nvSpPr>
        <p:spPr>
          <a:xfrm>
            <a:off x="8229600" y="2834640"/>
            <a:ext cx="3749039" cy="9144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8" y="2889504"/>
            <a:ext cx="3566160" cy="347472"/>
          </a:xfrm>
          <a:prstGeom prst="rect">
            <a:avLst/>
          </a:prstGeom>
          <a:noFill/>
        </p:spPr>
        <p:txBody>
          <a:bodyPr wrap="square">
            <a:spAutoFit/>
          </a:bodyPr>
          <a:lstStyle/>
          <a:p>
            <a:pPr algn="l"/>
            <a:r>
              <a:rPr sz="1500" b="1" i="0">
                <a:solidFill>
                  <a:srgbClr val="1B5E20"/>
                </a:solidFill>
              </a:rPr>
              <a:t>Tailwind Support</a:t>
            </a:r>
          </a:p>
        </p:txBody>
      </p:sp>
      <p:sp>
        <p:nvSpPr>
          <p:cNvPr id="23" name="TextBox 22"/>
          <p:cNvSpPr txBox="1"/>
          <p:nvPr/>
        </p:nvSpPr>
        <p:spPr>
          <a:xfrm>
            <a:off x="8339328" y="3255264"/>
            <a:ext cx="3566160" cy="384048"/>
          </a:xfrm>
          <a:prstGeom prst="rect">
            <a:avLst/>
          </a:prstGeom>
          <a:noFill/>
        </p:spPr>
        <p:txBody>
          <a:bodyPr wrap="square">
            <a:spAutoFit/>
          </a:bodyPr>
          <a:lstStyle/>
          <a:p>
            <a:pPr algn="l"/>
            <a:r>
              <a:rPr sz="1200" b="0" i="0">
                <a:solidFill>
                  <a:srgbClr val="333333"/>
                </a:solidFill>
              </a:rPr>
              <a:t>Tailwind CSS works out of the box.</a:t>
            </a:r>
          </a:p>
        </p:txBody>
      </p:sp>
      <p:sp>
        <p:nvSpPr>
          <p:cNvPr id="24" name="Rectangle 23"/>
          <p:cNvSpPr/>
          <p:nvPr/>
        </p:nvSpPr>
        <p:spPr>
          <a:xfrm>
            <a:off x="502920" y="3977639"/>
            <a:ext cx="11155680" cy="77724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4069079"/>
            <a:ext cx="1554480" cy="667512"/>
          </a:xfrm>
          <a:prstGeom prst="rect">
            <a:avLst/>
          </a:prstGeom>
          <a:noFill/>
        </p:spPr>
        <p:txBody>
          <a:bodyPr wrap="square">
            <a:spAutoFit/>
          </a:bodyPr>
          <a:lstStyle/>
          <a:p>
            <a:pPr algn="l"/>
            <a:r>
              <a:rPr sz="1300" b="1" i="0">
                <a:solidFill>
                  <a:srgbClr val="926000"/>
                </a:solidFill>
              </a:rPr>
              <a:t>ANALOGY:</a:t>
            </a:r>
          </a:p>
        </p:txBody>
      </p:sp>
      <p:sp>
        <p:nvSpPr>
          <p:cNvPr id="26" name="TextBox 25"/>
          <p:cNvSpPr txBox="1"/>
          <p:nvPr/>
        </p:nvSpPr>
        <p:spPr>
          <a:xfrm>
            <a:off x="2057400" y="4069079"/>
            <a:ext cx="9436608" cy="667512"/>
          </a:xfrm>
          <a:prstGeom prst="rect">
            <a:avLst/>
          </a:prstGeom>
          <a:noFill/>
        </p:spPr>
        <p:txBody>
          <a:bodyPr wrap="square">
            <a:spAutoFit/>
          </a:bodyPr>
          <a:lstStyle/>
          <a:p>
            <a:pPr algn="l"/>
            <a:r>
              <a:rPr sz="1300" b="0" i="0">
                <a:solidFill>
                  <a:srgbClr val="333333"/>
                </a:solidFill>
              </a:rPr>
              <a:t>React = engine.  Next.js = the full car (engine + steering + GPS + fuel gauge). You could build from scratch using just React — but why would you?</a:t>
            </a:r>
          </a:p>
        </p:txBody>
      </p:sp>
      <p:sp>
        <p:nvSpPr>
          <p:cNvPr id="27" name="Rectangle 26"/>
          <p:cNvSpPr/>
          <p:nvPr/>
        </p:nvSpPr>
        <p:spPr>
          <a:xfrm>
            <a:off x="502920" y="4846320"/>
            <a:ext cx="11155680" cy="86868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4937760"/>
            <a:ext cx="1554480" cy="758952"/>
          </a:xfrm>
          <a:prstGeom prst="rect">
            <a:avLst/>
          </a:prstGeom>
          <a:noFill/>
        </p:spPr>
        <p:txBody>
          <a:bodyPr wrap="square">
            <a:spAutoFit/>
          </a:bodyPr>
          <a:lstStyle/>
          <a:p>
            <a:pPr algn="l"/>
            <a:r>
              <a:rPr sz="1300" b="1" i="0">
                <a:solidFill>
                  <a:srgbClr val="4A147A"/>
                </a:solidFill>
              </a:rPr>
              <a:t>INTERVIEW:</a:t>
            </a:r>
          </a:p>
        </p:txBody>
      </p:sp>
      <p:sp>
        <p:nvSpPr>
          <p:cNvPr id="29" name="TextBox 28"/>
          <p:cNvSpPr txBox="1"/>
          <p:nvPr/>
        </p:nvSpPr>
        <p:spPr>
          <a:xfrm>
            <a:off x="2057400" y="4937760"/>
            <a:ext cx="9436608" cy="758952"/>
          </a:xfrm>
          <a:prstGeom prst="rect">
            <a:avLst/>
          </a:prstGeom>
          <a:noFill/>
        </p:spPr>
        <p:txBody>
          <a:bodyPr wrap="square">
            <a:spAutoFit/>
          </a:bodyPr>
          <a:lstStyle/>
          <a:p>
            <a:pPr algn="l"/>
            <a:r>
              <a:rPr sz="1300" b="0" i="0">
                <a:solidFill>
                  <a:srgbClr val="333333"/>
                </a:solidFill>
              </a:rPr>
              <a:t>Next.js gives React + API routes + SSR + Vercel deployment in one framework. I didn't need a separate backend server — the API routes are serverless functions.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Next.js Routing — Folders = URLs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457200"/>
          </a:xfrm>
          <a:prstGeom prst="rect">
            <a:avLst/>
          </a:prstGeom>
          <a:noFill/>
        </p:spPr>
        <p:txBody>
          <a:bodyPr wrap="square">
            <a:spAutoFit/>
          </a:bodyPr>
          <a:lstStyle/>
          <a:p>
            <a:pPr algn="l"/>
            <a:r>
              <a:rPr sz="1600" b="0" i="0">
                <a:solidFill>
                  <a:srgbClr val="333333"/>
                </a:solidFill>
              </a:rPr>
              <a:t>The folder structure of your project is the URL structure. No config. No mapping. Just folders.</a:t>
            </a:r>
          </a:p>
        </p:txBody>
      </p:sp>
      <p:sp>
        <p:nvSpPr>
          <p:cNvPr id="6" name="Rectangle 5"/>
          <p:cNvSpPr/>
          <p:nvPr/>
        </p:nvSpPr>
        <p:spPr>
          <a:xfrm>
            <a:off x="502920" y="1874519"/>
            <a:ext cx="11155680" cy="5943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65959"/>
            <a:ext cx="4114800" cy="411480"/>
          </a:xfrm>
          <a:prstGeom prst="rect">
            <a:avLst/>
          </a:prstGeom>
          <a:noFill/>
        </p:spPr>
        <p:txBody>
          <a:bodyPr wrap="square">
            <a:spAutoFit/>
          </a:bodyPr>
          <a:lstStyle/>
          <a:p>
            <a:pPr algn="l"/>
            <a:r>
              <a:rPr sz="1400" b="1" i="0">
                <a:solidFill>
                  <a:srgbClr val="0D47A1"/>
                </a:solidFill>
              </a:rPr>
              <a:t>app/page.tsx</a:t>
            </a:r>
          </a:p>
        </p:txBody>
      </p:sp>
      <p:sp>
        <p:nvSpPr>
          <p:cNvPr id="8" name="TextBox 7"/>
          <p:cNvSpPr txBox="1"/>
          <p:nvPr/>
        </p:nvSpPr>
        <p:spPr>
          <a:xfrm>
            <a:off x="4846320" y="1965959"/>
            <a:ext cx="548640" cy="411480"/>
          </a:xfrm>
          <a:prstGeom prst="rect">
            <a:avLst/>
          </a:prstGeom>
          <a:noFill/>
        </p:spPr>
        <p:txBody>
          <a:bodyPr wrap="square">
            <a:spAutoFit/>
          </a:bodyPr>
          <a:lstStyle/>
          <a:p>
            <a:pPr algn="ctr"/>
            <a:r>
              <a:rPr sz="1600" b="1" i="0">
                <a:solidFill>
                  <a:srgbClr val="E8601C"/>
                </a:solidFill>
              </a:rPr>
              <a:t>→</a:t>
            </a:r>
          </a:p>
        </p:txBody>
      </p:sp>
      <p:sp>
        <p:nvSpPr>
          <p:cNvPr id="9" name="TextBox 8"/>
          <p:cNvSpPr txBox="1"/>
          <p:nvPr/>
        </p:nvSpPr>
        <p:spPr>
          <a:xfrm>
            <a:off x="5486400" y="1965959"/>
            <a:ext cx="5943600" cy="411480"/>
          </a:xfrm>
          <a:prstGeom prst="rect">
            <a:avLst/>
          </a:prstGeom>
          <a:noFill/>
        </p:spPr>
        <p:txBody>
          <a:bodyPr wrap="square">
            <a:spAutoFit/>
          </a:bodyPr>
          <a:lstStyle/>
          <a:p>
            <a:pPr algn="l"/>
            <a:r>
              <a:rPr sz="1400" b="0" i="0">
                <a:solidFill>
                  <a:srgbClr val="333333"/>
                </a:solidFill>
              </a:rPr>
              <a:t>theconnek.com/</a:t>
            </a:r>
          </a:p>
        </p:txBody>
      </p:sp>
      <p:sp>
        <p:nvSpPr>
          <p:cNvPr id="10" name="Rectangle 9"/>
          <p:cNvSpPr/>
          <p:nvPr/>
        </p:nvSpPr>
        <p:spPr>
          <a:xfrm>
            <a:off x="502920" y="2532887"/>
            <a:ext cx="11155680" cy="59436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24327"/>
            <a:ext cx="4114800" cy="411480"/>
          </a:xfrm>
          <a:prstGeom prst="rect">
            <a:avLst/>
          </a:prstGeom>
          <a:noFill/>
        </p:spPr>
        <p:txBody>
          <a:bodyPr wrap="square">
            <a:spAutoFit/>
          </a:bodyPr>
          <a:lstStyle/>
          <a:p>
            <a:pPr algn="l"/>
            <a:r>
              <a:rPr sz="1400" b="1" i="0">
                <a:solidFill>
                  <a:srgbClr val="0D47A1"/>
                </a:solidFill>
              </a:rPr>
              <a:t>app/thank-you/page.tsx</a:t>
            </a:r>
          </a:p>
        </p:txBody>
      </p:sp>
      <p:sp>
        <p:nvSpPr>
          <p:cNvPr id="12" name="TextBox 11"/>
          <p:cNvSpPr txBox="1"/>
          <p:nvPr/>
        </p:nvSpPr>
        <p:spPr>
          <a:xfrm>
            <a:off x="4846320" y="2624327"/>
            <a:ext cx="548640" cy="411480"/>
          </a:xfrm>
          <a:prstGeom prst="rect">
            <a:avLst/>
          </a:prstGeom>
          <a:noFill/>
        </p:spPr>
        <p:txBody>
          <a:bodyPr wrap="square">
            <a:spAutoFit/>
          </a:bodyPr>
          <a:lstStyle/>
          <a:p>
            <a:pPr algn="ctr"/>
            <a:r>
              <a:rPr sz="1600" b="1" i="0">
                <a:solidFill>
                  <a:srgbClr val="E8601C"/>
                </a:solidFill>
              </a:rPr>
              <a:t>→</a:t>
            </a:r>
          </a:p>
        </p:txBody>
      </p:sp>
      <p:sp>
        <p:nvSpPr>
          <p:cNvPr id="13" name="TextBox 12"/>
          <p:cNvSpPr txBox="1"/>
          <p:nvPr/>
        </p:nvSpPr>
        <p:spPr>
          <a:xfrm>
            <a:off x="5486400" y="2624327"/>
            <a:ext cx="5943600" cy="411480"/>
          </a:xfrm>
          <a:prstGeom prst="rect">
            <a:avLst/>
          </a:prstGeom>
          <a:noFill/>
        </p:spPr>
        <p:txBody>
          <a:bodyPr wrap="square">
            <a:spAutoFit/>
          </a:bodyPr>
          <a:lstStyle/>
          <a:p>
            <a:pPr algn="l"/>
            <a:r>
              <a:rPr sz="1400" b="0" i="0">
                <a:solidFill>
                  <a:srgbClr val="333333"/>
                </a:solidFill>
              </a:rPr>
              <a:t>theconnek.com/thank-you</a:t>
            </a:r>
          </a:p>
        </p:txBody>
      </p:sp>
      <p:sp>
        <p:nvSpPr>
          <p:cNvPr id="14" name="Rectangle 13"/>
          <p:cNvSpPr/>
          <p:nvPr/>
        </p:nvSpPr>
        <p:spPr>
          <a:xfrm>
            <a:off x="502920" y="3191255"/>
            <a:ext cx="11155680" cy="5943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82695"/>
            <a:ext cx="4114800" cy="411480"/>
          </a:xfrm>
          <a:prstGeom prst="rect">
            <a:avLst/>
          </a:prstGeom>
          <a:noFill/>
        </p:spPr>
        <p:txBody>
          <a:bodyPr wrap="square">
            <a:spAutoFit/>
          </a:bodyPr>
          <a:lstStyle/>
          <a:p>
            <a:pPr algn="l"/>
            <a:r>
              <a:rPr sz="1400" b="1" i="0">
                <a:solidFill>
                  <a:srgbClr val="0D47A1"/>
                </a:solidFill>
              </a:rPr>
              <a:t>app/privacy/page.tsx</a:t>
            </a:r>
          </a:p>
        </p:txBody>
      </p:sp>
      <p:sp>
        <p:nvSpPr>
          <p:cNvPr id="16" name="TextBox 15"/>
          <p:cNvSpPr txBox="1"/>
          <p:nvPr/>
        </p:nvSpPr>
        <p:spPr>
          <a:xfrm>
            <a:off x="4846320" y="3282695"/>
            <a:ext cx="548640" cy="411480"/>
          </a:xfrm>
          <a:prstGeom prst="rect">
            <a:avLst/>
          </a:prstGeom>
          <a:noFill/>
        </p:spPr>
        <p:txBody>
          <a:bodyPr wrap="square">
            <a:spAutoFit/>
          </a:bodyPr>
          <a:lstStyle/>
          <a:p>
            <a:pPr algn="ctr"/>
            <a:r>
              <a:rPr sz="1600" b="1" i="0">
                <a:solidFill>
                  <a:srgbClr val="E8601C"/>
                </a:solidFill>
              </a:rPr>
              <a:t>→</a:t>
            </a:r>
          </a:p>
        </p:txBody>
      </p:sp>
      <p:sp>
        <p:nvSpPr>
          <p:cNvPr id="17" name="TextBox 16"/>
          <p:cNvSpPr txBox="1"/>
          <p:nvPr/>
        </p:nvSpPr>
        <p:spPr>
          <a:xfrm>
            <a:off x="5486400" y="3282695"/>
            <a:ext cx="5943600" cy="411480"/>
          </a:xfrm>
          <a:prstGeom prst="rect">
            <a:avLst/>
          </a:prstGeom>
          <a:noFill/>
        </p:spPr>
        <p:txBody>
          <a:bodyPr wrap="square">
            <a:spAutoFit/>
          </a:bodyPr>
          <a:lstStyle/>
          <a:p>
            <a:pPr algn="l"/>
            <a:r>
              <a:rPr sz="1400" b="0" i="0">
                <a:solidFill>
                  <a:srgbClr val="333333"/>
                </a:solidFill>
              </a:rPr>
              <a:t>theconnek.com/privacy</a:t>
            </a:r>
          </a:p>
        </p:txBody>
      </p:sp>
      <p:sp>
        <p:nvSpPr>
          <p:cNvPr id="18" name="Rectangle 17"/>
          <p:cNvSpPr/>
          <p:nvPr/>
        </p:nvSpPr>
        <p:spPr>
          <a:xfrm>
            <a:off x="502920" y="3849623"/>
            <a:ext cx="11155680" cy="59436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941063"/>
            <a:ext cx="4114800" cy="411480"/>
          </a:xfrm>
          <a:prstGeom prst="rect">
            <a:avLst/>
          </a:prstGeom>
          <a:noFill/>
        </p:spPr>
        <p:txBody>
          <a:bodyPr wrap="square">
            <a:spAutoFit/>
          </a:bodyPr>
          <a:lstStyle/>
          <a:p>
            <a:pPr algn="l"/>
            <a:r>
              <a:rPr sz="1400" b="1" i="0">
                <a:solidFill>
                  <a:srgbClr val="0D47A1"/>
                </a:solidFill>
              </a:rPr>
              <a:t>app/about/page.tsx</a:t>
            </a:r>
          </a:p>
        </p:txBody>
      </p:sp>
      <p:sp>
        <p:nvSpPr>
          <p:cNvPr id="20" name="TextBox 19"/>
          <p:cNvSpPr txBox="1"/>
          <p:nvPr/>
        </p:nvSpPr>
        <p:spPr>
          <a:xfrm>
            <a:off x="4846320" y="3941063"/>
            <a:ext cx="548640" cy="411480"/>
          </a:xfrm>
          <a:prstGeom prst="rect">
            <a:avLst/>
          </a:prstGeom>
          <a:noFill/>
        </p:spPr>
        <p:txBody>
          <a:bodyPr wrap="square">
            <a:spAutoFit/>
          </a:bodyPr>
          <a:lstStyle/>
          <a:p>
            <a:pPr algn="ctr"/>
            <a:r>
              <a:rPr sz="1600" b="1" i="0">
                <a:solidFill>
                  <a:srgbClr val="E8601C"/>
                </a:solidFill>
              </a:rPr>
              <a:t>→</a:t>
            </a:r>
          </a:p>
        </p:txBody>
      </p:sp>
      <p:sp>
        <p:nvSpPr>
          <p:cNvPr id="21" name="TextBox 20"/>
          <p:cNvSpPr txBox="1"/>
          <p:nvPr/>
        </p:nvSpPr>
        <p:spPr>
          <a:xfrm>
            <a:off x="5486400" y="3941063"/>
            <a:ext cx="5943600" cy="411480"/>
          </a:xfrm>
          <a:prstGeom prst="rect">
            <a:avLst/>
          </a:prstGeom>
          <a:noFill/>
        </p:spPr>
        <p:txBody>
          <a:bodyPr wrap="square">
            <a:spAutoFit/>
          </a:bodyPr>
          <a:lstStyle/>
          <a:p>
            <a:pPr algn="l"/>
            <a:r>
              <a:rPr sz="1400" b="0" i="0">
                <a:solidFill>
                  <a:srgbClr val="333333"/>
                </a:solidFill>
              </a:rPr>
              <a:t>theconnek.com/about</a:t>
            </a:r>
          </a:p>
        </p:txBody>
      </p:sp>
      <p:sp>
        <p:nvSpPr>
          <p:cNvPr id="22" name="Rectangle 21"/>
          <p:cNvSpPr/>
          <p:nvPr/>
        </p:nvSpPr>
        <p:spPr>
          <a:xfrm>
            <a:off x="502920" y="4507991"/>
            <a:ext cx="11155680" cy="5943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599431"/>
            <a:ext cx="4114800" cy="411480"/>
          </a:xfrm>
          <a:prstGeom prst="rect">
            <a:avLst/>
          </a:prstGeom>
          <a:noFill/>
        </p:spPr>
        <p:txBody>
          <a:bodyPr wrap="square">
            <a:spAutoFit/>
          </a:bodyPr>
          <a:lstStyle/>
          <a:p>
            <a:pPr algn="l"/>
            <a:r>
              <a:rPr sz="1400" b="1" i="0">
                <a:solidFill>
                  <a:srgbClr val="0D47A1"/>
                </a:solidFill>
              </a:rPr>
              <a:t>app/api/waitlist/route.ts</a:t>
            </a:r>
          </a:p>
        </p:txBody>
      </p:sp>
      <p:sp>
        <p:nvSpPr>
          <p:cNvPr id="24" name="TextBox 23"/>
          <p:cNvSpPr txBox="1"/>
          <p:nvPr/>
        </p:nvSpPr>
        <p:spPr>
          <a:xfrm>
            <a:off x="4846320" y="4599431"/>
            <a:ext cx="548640" cy="411480"/>
          </a:xfrm>
          <a:prstGeom prst="rect">
            <a:avLst/>
          </a:prstGeom>
          <a:noFill/>
        </p:spPr>
        <p:txBody>
          <a:bodyPr wrap="square">
            <a:spAutoFit/>
          </a:bodyPr>
          <a:lstStyle/>
          <a:p>
            <a:pPr algn="ctr"/>
            <a:r>
              <a:rPr sz="1600" b="1" i="0">
                <a:solidFill>
                  <a:srgbClr val="E8601C"/>
                </a:solidFill>
              </a:rPr>
              <a:t>→</a:t>
            </a:r>
          </a:p>
        </p:txBody>
      </p:sp>
      <p:sp>
        <p:nvSpPr>
          <p:cNvPr id="25" name="TextBox 24"/>
          <p:cNvSpPr txBox="1"/>
          <p:nvPr/>
        </p:nvSpPr>
        <p:spPr>
          <a:xfrm>
            <a:off x="5486400" y="4599431"/>
            <a:ext cx="5943600" cy="411480"/>
          </a:xfrm>
          <a:prstGeom prst="rect">
            <a:avLst/>
          </a:prstGeom>
          <a:noFill/>
        </p:spPr>
        <p:txBody>
          <a:bodyPr wrap="square">
            <a:spAutoFit/>
          </a:bodyPr>
          <a:lstStyle/>
          <a:p>
            <a:pPr algn="l"/>
            <a:r>
              <a:rPr sz="1400" b="0" i="0">
                <a:solidFill>
                  <a:srgbClr val="333333"/>
                </a:solidFill>
              </a:rPr>
              <a:t>theconnek.com/api/waitlist</a:t>
            </a:r>
          </a:p>
        </p:txBody>
      </p:sp>
      <p:sp>
        <p:nvSpPr>
          <p:cNvPr id="26" name="Rectangle 25"/>
          <p:cNvSpPr/>
          <p:nvPr/>
        </p:nvSpPr>
        <p:spPr>
          <a:xfrm>
            <a:off x="502920" y="5166359"/>
            <a:ext cx="11155680" cy="59436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257799"/>
            <a:ext cx="4114800" cy="411480"/>
          </a:xfrm>
          <a:prstGeom prst="rect">
            <a:avLst/>
          </a:prstGeom>
          <a:noFill/>
        </p:spPr>
        <p:txBody>
          <a:bodyPr wrap="square">
            <a:spAutoFit/>
          </a:bodyPr>
          <a:lstStyle/>
          <a:p>
            <a:pPr algn="l"/>
            <a:r>
              <a:rPr sz="1400" b="1" i="0">
                <a:solidFill>
                  <a:srgbClr val="0D47A1"/>
                </a:solidFill>
              </a:rPr>
              <a:t>app/not-found.tsx</a:t>
            </a:r>
          </a:p>
        </p:txBody>
      </p:sp>
      <p:sp>
        <p:nvSpPr>
          <p:cNvPr id="28" name="TextBox 27"/>
          <p:cNvSpPr txBox="1"/>
          <p:nvPr/>
        </p:nvSpPr>
        <p:spPr>
          <a:xfrm>
            <a:off x="4846320" y="5257799"/>
            <a:ext cx="548640" cy="411480"/>
          </a:xfrm>
          <a:prstGeom prst="rect">
            <a:avLst/>
          </a:prstGeom>
          <a:noFill/>
        </p:spPr>
        <p:txBody>
          <a:bodyPr wrap="square">
            <a:spAutoFit/>
          </a:bodyPr>
          <a:lstStyle/>
          <a:p>
            <a:pPr algn="ctr"/>
            <a:r>
              <a:rPr sz="1600" b="1" i="0">
                <a:solidFill>
                  <a:srgbClr val="E8601C"/>
                </a:solidFill>
              </a:rPr>
              <a:t>→</a:t>
            </a:r>
          </a:p>
        </p:txBody>
      </p:sp>
      <p:sp>
        <p:nvSpPr>
          <p:cNvPr id="29" name="TextBox 28"/>
          <p:cNvSpPr txBox="1"/>
          <p:nvPr/>
        </p:nvSpPr>
        <p:spPr>
          <a:xfrm>
            <a:off x="5486400" y="5257799"/>
            <a:ext cx="5943600" cy="411480"/>
          </a:xfrm>
          <a:prstGeom prst="rect">
            <a:avLst/>
          </a:prstGeom>
          <a:noFill/>
        </p:spPr>
        <p:txBody>
          <a:bodyPr wrap="square">
            <a:spAutoFit/>
          </a:bodyPr>
          <a:lstStyle/>
          <a:p>
            <a:pPr algn="l"/>
            <a:r>
              <a:rPr sz="1400" b="0" i="0">
                <a:solidFill>
                  <a:srgbClr val="333333"/>
                </a:solidFill>
              </a:rPr>
              <a:t>theconnek.com/&lt;any broken URL&gt;  (404 page)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TypeScript — JavaScript with a Safety Net</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25880"/>
            <a:ext cx="5303520" cy="20116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5029200" cy="411480"/>
          </a:xfrm>
          <a:prstGeom prst="rect">
            <a:avLst/>
          </a:prstGeom>
          <a:noFill/>
        </p:spPr>
        <p:txBody>
          <a:bodyPr wrap="square">
            <a:spAutoFit/>
          </a:bodyPr>
          <a:lstStyle/>
          <a:p>
            <a:pPr algn="l"/>
            <a:r>
              <a:rPr sz="1800" b="1" i="0">
                <a:solidFill>
                  <a:srgbClr val="0D47A1"/>
                </a:solidFill>
              </a:rPr>
              <a:t>JavaScript</a:t>
            </a:r>
          </a:p>
        </p:txBody>
      </p:sp>
      <p:sp>
        <p:nvSpPr>
          <p:cNvPr id="7" name="TextBox 6"/>
          <p:cNvSpPr txBox="1"/>
          <p:nvPr/>
        </p:nvSpPr>
        <p:spPr>
          <a:xfrm>
            <a:off x="640080" y="1828800"/>
            <a:ext cx="5029200" cy="1371600"/>
          </a:xfrm>
          <a:prstGeom prst="rect">
            <a:avLst/>
          </a:prstGeom>
          <a:noFill/>
        </p:spPr>
        <p:txBody>
          <a:bodyPr wrap="square">
            <a:spAutoFit/>
          </a:bodyPr>
          <a:lstStyle/>
          <a:p>
            <a:pPr algn="l"/>
            <a:r>
              <a:rPr sz="1300" b="0" i="0">
                <a:solidFill>
                  <a:srgbClr val="333333"/>
                </a:solidFill>
              </a:rPr>
              <a:t>No types. Errors show up
when users see a broken page.
const userType = ...
(could be anything)</a:t>
            </a:r>
          </a:p>
        </p:txBody>
      </p:sp>
      <p:sp>
        <p:nvSpPr>
          <p:cNvPr id="8" name="Rectangle 7"/>
          <p:cNvSpPr/>
          <p:nvPr/>
        </p:nvSpPr>
        <p:spPr>
          <a:xfrm>
            <a:off x="6309360" y="1325880"/>
            <a:ext cx="5303520" cy="20116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417320"/>
            <a:ext cx="5029200" cy="411480"/>
          </a:xfrm>
          <a:prstGeom prst="rect">
            <a:avLst/>
          </a:prstGeom>
          <a:noFill/>
        </p:spPr>
        <p:txBody>
          <a:bodyPr wrap="square">
            <a:spAutoFit/>
          </a:bodyPr>
          <a:lstStyle/>
          <a:p>
            <a:pPr algn="l"/>
            <a:r>
              <a:rPr sz="1800" b="1" i="0">
                <a:solidFill>
                  <a:srgbClr val="1B5E20"/>
                </a:solidFill>
              </a:rPr>
              <a:t>TypeScript  ✓</a:t>
            </a:r>
          </a:p>
        </p:txBody>
      </p:sp>
      <p:sp>
        <p:nvSpPr>
          <p:cNvPr id="10" name="TextBox 9"/>
          <p:cNvSpPr txBox="1"/>
          <p:nvPr/>
        </p:nvSpPr>
        <p:spPr>
          <a:xfrm>
            <a:off x="6446520" y="1828800"/>
            <a:ext cx="5029200" cy="1371600"/>
          </a:xfrm>
          <a:prstGeom prst="rect">
            <a:avLst/>
          </a:prstGeom>
          <a:noFill/>
        </p:spPr>
        <p:txBody>
          <a:bodyPr wrap="square">
            <a:spAutoFit/>
          </a:bodyPr>
          <a:lstStyle/>
          <a:p>
            <a:pPr algn="l"/>
            <a:r>
              <a:rPr sz="1300" b="0" i="0">
                <a:solidFill>
                  <a:srgbClr val="333333"/>
                </a:solidFill>
              </a:rPr>
              <a:t>Types declared. Errors caught
before code even runs.
type UserType = 'candidate' | 'professional'
(only these two, nothing else)</a:t>
            </a:r>
          </a:p>
        </p:txBody>
      </p:sp>
      <p:sp>
        <p:nvSpPr>
          <p:cNvPr id="11" name="TextBox 10"/>
          <p:cNvSpPr txBox="1"/>
          <p:nvPr/>
        </p:nvSpPr>
        <p:spPr>
          <a:xfrm>
            <a:off x="502920" y="3520440"/>
            <a:ext cx="11155680" cy="457200"/>
          </a:xfrm>
          <a:prstGeom prst="rect">
            <a:avLst/>
          </a:prstGeom>
          <a:noFill/>
        </p:spPr>
        <p:txBody>
          <a:bodyPr wrap="square">
            <a:spAutoFit/>
          </a:bodyPr>
          <a:lstStyle/>
          <a:p>
            <a:pPr algn="l"/>
            <a:r>
              <a:rPr sz="1600" b="1" i="0">
                <a:solidFill>
                  <a:srgbClr val="1A1A2E"/>
                </a:solidFill>
              </a:rPr>
              <a:t>TypeScript = JavaScript + a spell-checker that catches mistakes before anyone sees them.</a:t>
            </a:r>
          </a:p>
        </p:txBody>
      </p:sp>
      <p:sp>
        <p:nvSpPr>
          <p:cNvPr id="12" name="Rectangle 11"/>
          <p:cNvSpPr/>
          <p:nvPr/>
        </p:nvSpPr>
        <p:spPr>
          <a:xfrm>
            <a:off x="502920" y="4114800"/>
            <a:ext cx="11155680" cy="91440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206240"/>
            <a:ext cx="1554480" cy="804672"/>
          </a:xfrm>
          <a:prstGeom prst="rect">
            <a:avLst/>
          </a:prstGeom>
          <a:noFill/>
        </p:spPr>
        <p:txBody>
          <a:bodyPr wrap="square">
            <a:spAutoFit/>
          </a:bodyPr>
          <a:lstStyle/>
          <a:p>
            <a:pPr algn="l"/>
            <a:r>
              <a:rPr sz="1300" b="1" i="0">
                <a:solidFill>
                  <a:srgbClr val="4A147A"/>
                </a:solidFill>
              </a:rPr>
              <a:t>INTERVIEW:</a:t>
            </a:r>
          </a:p>
        </p:txBody>
      </p:sp>
      <p:sp>
        <p:nvSpPr>
          <p:cNvPr id="14" name="TextBox 13"/>
          <p:cNvSpPr txBox="1"/>
          <p:nvPr/>
        </p:nvSpPr>
        <p:spPr>
          <a:xfrm>
            <a:off x="2057400" y="4206240"/>
            <a:ext cx="9436608" cy="804672"/>
          </a:xfrm>
          <a:prstGeom prst="rect">
            <a:avLst/>
          </a:prstGeom>
          <a:noFill/>
        </p:spPr>
        <p:txBody>
          <a:bodyPr wrap="square">
            <a:spAutoFit/>
          </a:bodyPr>
          <a:lstStyle/>
          <a:p>
            <a:pPr algn="l"/>
            <a:r>
              <a:rPr sz="1300" b="0" i="0">
                <a:solidFill>
                  <a:srgbClr val="333333"/>
                </a:solidFill>
              </a:rPr>
              <a:t>I used TypeScript across the codebase. It catches errors at build time — the form fields are typed so a missing field throws a build error, not a crash in production.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Tailwind CSS — Styling Without a Separate File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48640"/>
          </a:xfrm>
          <a:prstGeom prst="rect">
            <a:avLst/>
          </a:prstGeom>
          <a:noFill/>
        </p:spPr>
        <p:txBody>
          <a:bodyPr wrap="square">
            <a:spAutoFit/>
          </a:bodyPr>
          <a:lstStyle/>
          <a:p>
            <a:pPr algn="l"/>
            <a:r>
              <a:rPr sz="1600" b="0" i="0">
                <a:solidFill>
                  <a:srgbClr val="333333"/>
                </a:solidFill>
              </a:rPr>
              <a:t>CSS is what makes websites look the way they do — colours, fonts, spacing, layout. Tailwind lets you apply styles directly on the element using class names.</a:t>
            </a:r>
          </a:p>
        </p:txBody>
      </p:sp>
      <p:sp>
        <p:nvSpPr>
          <p:cNvPr id="6" name="Rectangle 5"/>
          <p:cNvSpPr/>
          <p:nvPr/>
        </p:nvSpPr>
        <p:spPr>
          <a:xfrm>
            <a:off x="502920" y="1920240"/>
            <a:ext cx="5303520" cy="192024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5029200" cy="411480"/>
          </a:xfrm>
          <a:prstGeom prst="rect">
            <a:avLst/>
          </a:prstGeom>
          <a:noFill/>
        </p:spPr>
        <p:txBody>
          <a:bodyPr wrap="square">
            <a:spAutoFit/>
          </a:bodyPr>
          <a:lstStyle/>
          <a:p>
            <a:pPr algn="l"/>
            <a:r>
              <a:rPr sz="1600" b="1" i="0">
                <a:solidFill>
                  <a:srgbClr val="4A147A"/>
                </a:solidFill>
              </a:rPr>
              <a:t>Traditional CSS</a:t>
            </a:r>
          </a:p>
        </p:txBody>
      </p:sp>
      <p:sp>
        <p:nvSpPr>
          <p:cNvPr id="8" name="TextBox 7"/>
          <p:cNvSpPr txBox="1"/>
          <p:nvPr/>
        </p:nvSpPr>
        <p:spPr>
          <a:xfrm>
            <a:off x="640080" y="2468880"/>
            <a:ext cx="5029200" cy="1143000"/>
          </a:xfrm>
          <a:prstGeom prst="rect">
            <a:avLst/>
          </a:prstGeom>
          <a:noFill/>
        </p:spPr>
        <p:txBody>
          <a:bodyPr wrap="square">
            <a:spAutoFit/>
          </a:bodyPr>
          <a:lstStyle/>
          <a:p>
            <a:pPr algn="l"/>
            <a:r>
              <a:rPr sz="1300" b="0" i="0">
                <a:solidFill>
                  <a:srgbClr val="333333"/>
                </a:solidFill>
              </a:rPr>
              <a:t>.button {
  background: blue;
  padding: 8px 16px;
  border-radius: 9999px;
}</a:t>
            </a:r>
          </a:p>
        </p:txBody>
      </p:sp>
      <p:sp>
        <p:nvSpPr>
          <p:cNvPr id="9" name="Rectangle 8"/>
          <p:cNvSpPr/>
          <p:nvPr/>
        </p:nvSpPr>
        <p:spPr>
          <a:xfrm>
            <a:off x="6309360" y="1920240"/>
            <a:ext cx="5303520" cy="19202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011680"/>
            <a:ext cx="5029200" cy="411480"/>
          </a:xfrm>
          <a:prstGeom prst="rect">
            <a:avLst/>
          </a:prstGeom>
          <a:noFill/>
        </p:spPr>
        <p:txBody>
          <a:bodyPr wrap="square">
            <a:spAutoFit/>
          </a:bodyPr>
          <a:lstStyle/>
          <a:p>
            <a:pPr algn="l"/>
            <a:r>
              <a:rPr sz="1600" b="1" i="0">
                <a:solidFill>
                  <a:srgbClr val="1B5E20"/>
                </a:solidFill>
              </a:rPr>
              <a:t>Tailwind CSS  ✓</a:t>
            </a:r>
          </a:p>
        </p:txBody>
      </p:sp>
      <p:sp>
        <p:nvSpPr>
          <p:cNvPr id="11" name="TextBox 10"/>
          <p:cNvSpPr txBox="1"/>
          <p:nvPr/>
        </p:nvSpPr>
        <p:spPr>
          <a:xfrm>
            <a:off x="6446520" y="2468880"/>
            <a:ext cx="5029200" cy="1143000"/>
          </a:xfrm>
          <a:prstGeom prst="rect">
            <a:avLst/>
          </a:prstGeom>
          <a:noFill/>
        </p:spPr>
        <p:txBody>
          <a:bodyPr wrap="square">
            <a:spAutoFit/>
          </a:bodyPr>
          <a:lstStyle/>
          <a:p>
            <a:pPr algn="l"/>
            <a:r>
              <a:rPr sz="1300" b="0" i="0">
                <a:solidFill>
                  <a:srgbClr val="333333"/>
                </a:solidFill>
              </a:rPr>
              <a:t>className=
"bg-blue-500 px-4 py-2 rounded-full"</a:t>
            </a:r>
          </a:p>
        </p:txBody>
      </p:sp>
      <p:sp>
        <p:nvSpPr>
          <p:cNvPr id="12" name="TextBox 11"/>
          <p:cNvSpPr txBox="1"/>
          <p:nvPr/>
        </p:nvSpPr>
        <p:spPr>
          <a:xfrm>
            <a:off x="502920" y="4023360"/>
            <a:ext cx="11155680" cy="411480"/>
          </a:xfrm>
          <a:prstGeom prst="rect">
            <a:avLst/>
          </a:prstGeom>
          <a:noFill/>
        </p:spPr>
        <p:txBody>
          <a:bodyPr wrap="square">
            <a:spAutoFit/>
          </a:bodyPr>
          <a:lstStyle/>
          <a:p>
            <a:pPr algn="l"/>
            <a:r>
              <a:rPr sz="1500" b="1" i="0">
                <a:solidFill>
                  <a:srgbClr val="E8601C"/>
                </a:solidFill>
              </a:rPr>
              <a:t>→  Same result. No separate file. Everything in one place. Faster to write and change.</a:t>
            </a:r>
          </a:p>
        </p:txBody>
      </p:sp>
      <p:sp>
        <p:nvSpPr>
          <p:cNvPr id="13" name="Rectangle 12"/>
          <p:cNvSpPr/>
          <p:nvPr/>
        </p:nvSpPr>
        <p:spPr>
          <a:xfrm>
            <a:off x="502920" y="4572000"/>
            <a:ext cx="11155680" cy="804672"/>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663440"/>
            <a:ext cx="1554480" cy="694944"/>
          </a:xfrm>
          <a:prstGeom prst="rect">
            <a:avLst/>
          </a:prstGeom>
          <a:noFill/>
        </p:spPr>
        <p:txBody>
          <a:bodyPr wrap="square">
            <a:spAutoFit/>
          </a:bodyPr>
          <a:lstStyle/>
          <a:p>
            <a:pPr algn="l"/>
            <a:r>
              <a:rPr sz="1300" b="1" i="0">
                <a:solidFill>
                  <a:srgbClr val="926000"/>
                </a:solidFill>
              </a:rPr>
              <a:t>ANALOGY:</a:t>
            </a:r>
          </a:p>
        </p:txBody>
      </p:sp>
      <p:sp>
        <p:nvSpPr>
          <p:cNvPr id="15" name="TextBox 14"/>
          <p:cNvSpPr txBox="1"/>
          <p:nvPr/>
        </p:nvSpPr>
        <p:spPr>
          <a:xfrm>
            <a:off x="2057400" y="4663440"/>
            <a:ext cx="9436608" cy="694944"/>
          </a:xfrm>
          <a:prstGeom prst="rect">
            <a:avLst/>
          </a:prstGeom>
          <a:noFill/>
        </p:spPr>
        <p:txBody>
          <a:bodyPr wrap="square">
            <a:spAutoFit/>
          </a:bodyPr>
          <a:lstStyle/>
          <a:p>
            <a:pPr algn="l"/>
            <a:r>
              <a:rPr sz="1300" b="0" i="0">
                <a:solidFill>
                  <a:srgbClr val="333333"/>
                </a:solidFill>
              </a:rPr>
              <a:t>Traditional CSS = buying a separate wardrobe for every room. Tailwind = dressing each item of furniture directly — no wardrobe needed.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Framer Motion — Animations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411480"/>
          </a:xfrm>
          <a:prstGeom prst="rect">
            <a:avLst/>
          </a:prstGeom>
          <a:noFill/>
        </p:spPr>
        <p:txBody>
          <a:bodyPr wrap="square">
            <a:spAutoFit/>
          </a:bodyPr>
          <a:lstStyle/>
          <a:p>
            <a:pPr algn="l"/>
            <a:r>
              <a:rPr sz="1600" b="0" i="0">
                <a:solidFill>
                  <a:srgbClr val="333333"/>
                </a:solidFill>
              </a:rPr>
              <a:t>Framer Motion makes things move smoothly instead of snapping into place.</a:t>
            </a:r>
          </a:p>
        </p:txBody>
      </p:sp>
      <p:sp>
        <p:nvSpPr>
          <p:cNvPr id="6" name="Rectangle 5"/>
          <p:cNvSpPr/>
          <p:nvPr/>
        </p:nvSpPr>
        <p:spPr>
          <a:xfrm>
            <a:off x="502920" y="1783080"/>
            <a:ext cx="5486400" cy="118872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74520"/>
            <a:ext cx="5212080" cy="384048"/>
          </a:xfrm>
          <a:prstGeom prst="rect">
            <a:avLst/>
          </a:prstGeom>
          <a:noFill/>
        </p:spPr>
        <p:txBody>
          <a:bodyPr wrap="square">
            <a:spAutoFit/>
          </a:bodyPr>
          <a:lstStyle/>
          <a:p>
            <a:pPr algn="l"/>
            <a:r>
              <a:rPr sz="1500" b="1" i="0">
                <a:solidFill>
                  <a:srgbClr val="4A147A"/>
                </a:solidFill>
              </a:rPr>
              <a:t>Fade-up on Scroll</a:t>
            </a:r>
          </a:p>
        </p:txBody>
      </p:sp>
      <p:sp>
        <p:nvSpPr>
          <p:cNvPr id="8" name="TextBox 7"/>
          <p:cNvSpPr txBox="1"/>
          <p:nvPr/>
        </p:nvSpPr>
        <p:spPr>
          <a:xfrm>
            <a:off x="640080" y="2258568"/>
            <a:ext cx="5212080" cy="594360"/>
          </a:xfrm>
          <a:prstGeom prst="rect">
            <a:avLst/>
          </a:prstGeom>
          <a:noFill/>
        </p:spPr>
        <p:txBody>
          <a:bodyPr wrap="square">
            <a:spAutoFit/>
          </a:bodyPr>
          <a:lstStyle/>
          <a:p>
            <a:pPr algn="l"/>
            <a:r>
              <a:rPr sz="1200" b="0" i="0">
                <a:solidFill>
                  <a:srgbClr val="333333"/>
                </a:solidFill>
              </a:rPr>
              <a:t>Sections rise into view as you scroll down
→ signals there's more content below</a:t>
            </a:r>
          </a:p>
        </p:txBody>
      </p:sp>
      <p:sp>
        <p:nvSpPr>
          <p:cNvPr id="9" name="Rectangle 8"/>
          <p:cNvSpPr/>
          <p:nvPr/>
        </p:nvSpPr>
        <p:spPr>
          <a:xfrm>
            <a:off x="6172200" y="1783080"/>
            <a:ext cx="5486400" cy="118872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874520"/>
            <a:ext cx="5212080" cy="384048"/>
          </a:xfrm>
          <a:prstGeom prst="rect">
            <a:avLst/>
          </a:prstGeom>
          <a:noFill/>
        </p:spPr>
        <p:txBody>
          <a:bodyPr wrap="square">
            <a:spAutoFit/>
          </a:bodyPr>
          <a:lstStyle/>
          <a:p>
            <a:pPr algn="l"/>
            <a:r>
              <a:rPr sz="1500" b="1" i="0">
                <a:solidFill>
                  <a:srgbClr val="4A147A"/>
                </a:solidFill>
              </a:rPr>
              <a:t>Toggle Crossfade</a:t>
            </a:r>
          </a:p>
        </p:txBody>
      </p:sp>
      <p:sp>
        <p:nvSpPr>
          <p:cNvPr id="11" name="TextBox 10"/>
          <p:cNvSpPr txBox="1"/>
          <p:nvPr/>
        </p:nvSpPr>
        <p:spPr>
          <a:xfrm>
            <a:off x="6309360" y="2258568"/>
            <a:ext cx="5212080" cy="594360"/>
          </a:xfrm>
          <a:prstGeom prst="rect">
            <a:avLst/>
          </a:prstGeom>
          <a:noFill/>
        </p:spPr>
        <p:txBody>
          <a:bodyPr wrap="square">
            <a:spAutoFit/>
          </a:bodyPr>
          <a:lstStyle/>
          <a:p>
            <a:pPr algn="l"/>
            <a:r>
              <a:rPr sz="1200" b="0" i="0">
                <a:solidFill>
                  <a:srgbClr val="333333"/>
                </a:solidFill>
              </a:rPr>
              <a:t>Candidate → Professional content fades in/out
→ feels personalised, not just text swapped</a:t>
            </a:r>
          </a:p>
        </p:txBody>
      </p:sp>
      <p:sp>
        <p:nvSpPr>
          <p:cNvPr id="12" name="Rectangle 11"/>
          <p:cNvSpPr/>
          <p:nvPr/>
        </p:nvSpPr>
        <p:spPr>
          <a:xfrm>
            <a:off x="502920" y="3108960"/>
            <a:ext cx="5486400" cy="118872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200400"/>
            <a:ext cx="5212080" cy="384048"/>
          </a:xfrm>
          <a:prstGeom prst="rect">
            <a:avLst/>
          </a:prstGeom>
          <a:noFill/>
        </p:spPr>
        <p:txBody>
          <a:bodyPr wrap="square">
            <a:spAutoFit/>
          </a:bodyPr>
          <a:lstStyle/>
          <a:p>
            <a:pPr algn="l"/>
            <a:r>
              <a:rPr sz="1500" b="1" i="0">
                <a:solidFill>
                  <a:srgbClr val="4A147A"/>
                </a:solidFill>
              </a:rPr>
              <a:t>Card Stagger</a:t>
            </a:r>
          </a:p>
        </p:txBody>
      </p:sp>
      <p:sp>
        <p:nvSpPr>
          <p:cNvPr id="14" name="TextBox 13"/>
          <p:cNvSpPr txBox="1"/>
          <p:nvPr/>
        </p:nvSpPr>
        <p:spPr>
          <a:xfrm>
            <a:off x="640080" y="3584448"/>
            <a:ext cx="5212080" cy="594360"/>
          </a:xfrm>
          <a:prstGeom prst="rect">
            <a:avLst/>
          </a:prstGeom>
          <a:noFill/>
        </p:spPr>
        <p:txBody>
          <a:bodyPr wrap="square">
            <a:spAutoFit/>
          </a:bodyPr>
          <a:lstStyle/>
          <a:p>
            <a:pPr algn="l"/>
            <a:r>
              <a:rPr sz="1200" b="0" i="0">
                <a:solidFill>
                  <a:srgbClr val="333333"/>
                </a:solidFill>
              </a:rPr>
              <a:t>Mentor cards animate in one by one
→ guides the eye, makes page feel alive</a:t>
            </a:r>
          </a:p>
        </p:txBody>
      </p:sp>
      <p:sp>
        <p:nvSpPr>
          <p:cNvPr id="15" name="Rectangle 14"/>
          <p:cNvSpPr/>
          <p:nvPr/>
        </p:nvSpPr>
        <p:spPr>
          <a:xfrm>
            <a:off x="6172200" y="3108960"/>
            <a:ext cx="5486400" cy="118872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3200400"/>
            <a:ext cx="5212080" cy="384048"/>
          </a:xfrm>
          <a:prstGeom prst="rect">
            <a:avLst/>
          </a:prstGeom>
          <a:noFill/>
        </p:spPr>
        <p:txBody>
          <a:bodyPr wrap="square">
            <a:spAutoFit/>
          </a:bodyPr>
          <a:lstStyle/>
          <a:p>
            <a:pPr algn="l"/>
            <a:r>
              <a:rPr sz="1500" b="1" i="0">
                <a:solidFill>
                  <a:srgbClr val="4A147A"/>
                </a:solidFill>
              </a:rPr>
              <a:t>Button Micro-interaction</a:t>
            </a:r>
          </a:p>
        </p:txBody>
      </p:sp>
      <p:sp>
        <p:nvSpPr>
          <p:cNvPr id="17" name="TextBox 16"/>
          <p:cNvSpPr txBox="1"/>
          <p:nvPr/>
        </p:nvSpPr>
        <p:spPr>
          <a:xfrm>
            <a:off x="6309360" y="3584448"/>
            <a:ext cx="5212080" cy="594360"/>
          </a:xfrm>
          <a:prstGeom prst="rect">
            <a:avLst/>
          </a:prstGeom>
          <a:noFill/>
        </p:spPr>
        <p:txBody>
          <a:bodyPr wrap="square">
            <a:spAutoFit/>
          </a:bodyPr>
          <a:lstStyle/>
          <a:p>
            <a:pPr algn="l"/>
            <a:r>
              <a:rPr sz="1200" b="0" i="0">
                <a:solidFill>
                  <a:srgbClr val="333333"/>
                </a:solidFill>
              </a:rPr>
              <a:t>Buttons scale slightly on hover/click
→ signals they are clickable</a:t>
            </a:r>
          </a:p>
        </p:txBody>
      </p:sp>
      <p:sp>
        <p:nvSpPr>
          <p:cNvPr id="18" name="Rectangle 17"/>
          <p:cNvSpPr/>
          <p:nvPr/>
        </p:nvSpPr>
        <p:spPr>
          <a:xfrm>
            <a:off x="502920" y="4526280"/>
            <a:ext cx="11155680" cy="91440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617720"/>
            <a:ext cx="1554480" cy="804672"/>
          </a:xfrm>
          <a:prstGeom prst="rect">
            <a:avLst/>
          </a:prstGeom>
          <a:noFill/>
        </p:spPr>
        <p:txBody>
          <a:bodyPr wrap="square">
            <a:spAutoFit/>
          </a:bodyPr>
          <a:lstStyle/>
          <a:p>
            <a:pPr algn="l"/>
            <a:r>
              <a:rPr sz="1300" b="1" i="0">
                <a:solidFill>
                  <a:srgbClr val="4A147A"/>
                </a:solidFill>
              </a:rPr>
              <a:t>INTERVIEW:</a:t>
            </a:r>
          </a:p>
        </p:txBody>
      </p:sp>
      <p:sp>
        <p:nvSpPr>
          <p:cNvPr id="20" name="TextBox 19"/>
          <p:cNvSpPr txBox="1"/>
          <p:nvPr/>
        </p:nvSpPr>
        <p:spPr>
          <a:xfrm>
            <a:off x="2057400" y="4617720"/>
            <a:ext cx="9436608" cy="804672"/>
          </a:xfrm>
          <a:prstGeom prst="rect">
            <a:avLst/>
          </a:prstGeom>
          <a:noFill/>
        </p:spPr>
        <p:txBody>
          <a:bodyPr wrap="square">
            <a:spAutoFit/>
          </a:bodyPr>
          <a:lstStyle/>
          <a:p>
            <a:pPr algn="l"/>
            <a:r>
              <a:rPr sz="1300" b="0" i="0">
                <a:solidFill>
                  <a:srgbClr val="333333"/>
                </a:solidFill>
              </a:rPr>
              <a:t>I used Framer Motion for scroll-triggered animations and the candidate/professional toggle. The toggle uses AnimatePresence so content crossfades — communicates personalisation, not just static text.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The Backend</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Where data is saved and logic runs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Frontend vs Backend — What's the Difference?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25880"/>
            <a:ext cx="5212080" cy="22860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4937760" cy="411480"/>
          </a:xfrm>
          <a:prstGeom prst="rect">
            <a:avLst/>
          </a:prstGeom>
          <a:noFill/>
        </p:spPr>
        <p:txBody>
          <a:bodyPr wrap="square">
            <a:spAutoFit/>
          </a:bodyPr>
          <a:lstStyle/>
          <a:p>
            <a:pPr algn="l"/>
            <a:r>
              <a:rPr sz="1800" b="1" i="0">
                <a:solidFill>
                  <a:srgbClr val="0D47A1"/>
                </a:solidFill>
              </a:rPr>
              <a:t>FRONTEND</a:t>
            </a:r>
          </a:p>
        </p:txBody>
      </p:sp>
      <p:sp>
        <p:nvSpPr>
          <p:cNvPr id="7" name="TextBox 6"/>
          <p:cNvSpPr txBox="1"/>
          <p:nvPr/>
        </p:nvSpPr>
        <p:spPr>
          <a:xfrm>
            <a:off x="640080" y="1874519"/>
            <a:ext cx="4937760" cy="1600200"/>
          </a:xfrm>
          <a:prstGeom prst="rect">
            <a:avLst/>
          </a:prstGeom>
          <a:noFill/>
        </p:spPr>
        <p:txBody>
          <a:bodyPr wrap="square">
            <a:spAutoFit/>
          </a:bodyPr>
          <a:lstStyle/>
          <a:p>
            <a:pPr algn="l"/>
            <a:r>
              <a:rPr sz="1300" b="0" i="0">
                <a:solidFill>
                  <a:srgbClr val="333333"/>
                </a:solidFill>
              </a:rPr>
              <a:t>Everything the user sees:
• The pages
• The form
• The animations
• The toggle
Runs in the user's browser.</a:t>
            </a:r>
          </a:p>
        </p:txBody>
      </p:sp>
      <p:sp>
        <p:nvSpPr>
          <p:cNvPr id="8" name="Rectangle 7"/>
          <p:cNvSpPr/>
          <p:nvPr/>
        </p:nvSpPr>
        <p:spPr>
          <a:xfrm>
            <a:off x="6355080" y="1325880"/>
            <a:ext cx="521208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17320"/>
            <a:ext cx="4937760" cy="411480"/>
          </a:xfrm>
          <a:prstGeom prst="rect">
            <a:avLst/>
          </a:prstGeom>
          <a:noFill/>
        </p:spPr>
        <p:txBody>
          <a:bodyPr wrap="square">
            <a:spAutoFit/>
          </a:bodyPr>
          <a:lstStyle/>
          <a:p>
            <a:pPr algn="l"/>
            <a:r>
              <a:rPr sz="1800" b="1" i="0">
                <a:solidFill>
                  <a:srgbClr val="1B5E20"/>
                </a:solidFill>
              </a:rPr>
              <a:t>BACKEND</a:t>
            </a:r>
          </a:p>
        </p:txBody>
      </p:sp>
      <p:sp>
        <p:nvSpPr>
          <p:cNvPr id="10" name="TextBox 9"/>
          <p:cNvSpPr txBox="1"/>
          <p:nvPr/>
        </p:nvSpPr>
        <p:spPr>
          <a:xfrm>
            <a:off x="6492240" y="1874519"/>
            <a:ext cx="4937760" cy="1600200"/>
          </a:xfrm>
          <a:prstGeom prst="rect">
            <a:avLst/>
          </a:prstGeom>
          <a:noFill/>
        </p:spPr>
        <p:txBody>
          <a:bodyPr wrap="square">
            <a:spAutoFit/>
          </a:bodyPr>
          <a:lstStyle/>
          <a:p>
            <a:pPr algn="l"/>
            <a:r>
              <a:rPr sz="1300" b="0" i="0">
                <a:solidFill>
                  <a:srgbClr val="333333"/>
                </a:solidFill>
              </a:rPr>
              <a:t>What happens behind the scenes:
• Save data to database
• Send emails
• Validate inputs
• Protect API keys
Runs on Vercel's servers.</a:t>
            </a:r>
          </a:p>
        </p:txBody>
      </p:sp>
      <p:sp>
        <p:nvSpPr>
          <p:cNvPr id="11" name="TextBox 10"/>
          <p:cNvSpPr txBox="1"/>
          <p:nvPr/>
        </p:nvSpPr>
        <p:spPr>
          <a:xfrm>
            <a:off x="502920" y="3794760"/>
            <a:ext cx="11155680" cy="457200"/>
          </a:xfrm>
          <a:prstGeom prst="rect">
            <a:avLst/>
          </a:prstGeom>
          <a:noFill/>
        </p:spPr>
        <p:txBody>
          <a:bodyPr wrap="square">
            <a:spAutoFit/>
          </a:bodyPr>
          <a:lstStyle/>
          <a:p>
            <a:pPr algn="l"/>
            <a:r>
              <a:rPr sz="1600" b="1" i="0">
                <a:solidFill>
                  <a:srgbClr val="1A1A2E"/>
                </a:solidFill>
              </a:rPr>
              <a:t>Without a backend, data would disappear the moment a user closes the tab.</a:t>
            </a:r>
          </a:p>
        </p:txBody>
      </p:sp>
      <p:sp>
        <p:nvSpPr>
          <p:cNvPr id="12" name="Rectangle 11"/>
          <p:cNvSpPr/>
          <p:nvPr/>
        </p:nvSpPr>
        <p:spPr>
          <a:xfrm>
            <a:off x="502920" y="4389120"/>
            <a:ext cx="11155680" cy="804672"/>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480560"/>
            <a:ext cx="1554480" cy="694944"/>
          </a:xfrm>
          <a:prstGeom prst="rect">
            <a:avLst/>
          </a:prstGeom>
          <a:noFill/>
        </p:spPr>
        <p:txBody>
          <a:bodyPr wrap="square">
            <a:spAutoFit/>
          </a:bodyPr>
          <a:lstStyle/>
          <a:p>
            <a:pPr algn="l"/>
            <a:r>
              <a:rPr sz="1300" b="1" i="0">
                <a:solidFill>
                  <a:srgbClr val="1B5E20"/>
                </a:solidFill>
              </a:rPr>
              <a:t>IN CONNEK:</a:t>
            </a:r>
          </a:p>
        </p:txBody>
      </p:sp>
      <p:sp>
        <p:nvSpPr>
          <p:cNvPr id="14" name="TextBox 13"/>
          <p:cNvSpPr txBox="1"/>
          <p:nvPr/>
        </p:nvSpPr>
        <p:spPr>
          <a:xfrm>
            <a:off x="2057400" y="4480560"/>
            <a:ext cx="9436608" cy="694944"/>
          </a:xfrm>
          <a:prstGeom prst="rect">
            <a:avLst/>
          </a:prstGeom>
          <a:noFill/>
        </p:spPr>
        <p:txBody>
          <a:bodyPr wrap="square">
            <a:spAutoFit/>
          </a:bodyPr>
          <a:lstStyle/>
          <a:p>
            <a:pPr algn="l"/>
            <a:r>
              <a:rPr sz="1300" b="0" i="0">
                <a:solidFill>
                  <a:srgbClr val="333333"/>
                </a:solidFill>
              </a:rPr>
              <a:t>When someone clicks Join, the frontend sends the data to the backend. The backend saves it to Supabase and sends the email notification — the frontend can't do either.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API — How the Frontend Talks to the Backend</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02920"/>
          </a:xfrm>
          <a:prstGeom prst="rect">
            <a:avLst/>
          </a:prstGeom>
          <a:noFill/>
        </p:spPr>
        <p:txBody>
          <a:bodyPr wrap="square">
            <a:spAutoFit/>
          </a:bodyPr>
          <a:lstStyle/>
          <a:p>
            <a:pPr algn="l"/>
            <a:r>
              <a:rPr sz="1600" b="0" i="0">
                <a:solidFill>
                  <a:srgbClr val="333333"/>
                </a:solidFill>
              </a:rPr>
              <a:t>API = Application Programming Interface. A defined address with a contract: send me this → I will do that → return this.</a:t>
            </a:r>
          </a:p>
        </p:txBody>
      </p:sp>
      <p:sp>
        <p:nvSpPr>
          <p:cNvPr id="6" name="Rectangle 5"/>
          <p:cNvSpPr/>
          <p:nvPr/>
        </p:nvSpPr>
        <p:spPr>
          <a:xfrm>
            <a:off x="502920" y="1874519"/>
            <a:ext cx="11155680" cy="91440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65959"/>
            <a:ext cx="1554480" cy="804672"/>
          </a:xfrm>
          <a:prstGeom prst="rect">
            <a:avLst/>
          </a:prstGeom>
          <a:noFill/>
        </p:spPr>
        <p:txBody>
          <a:bodyPr wrap="square">
            <a:spAutoFit/>
          </a:bodyPr>
          <a:lstStyle/>
          <a:p>
            <a:pPr algn="l"/>
            <a:r>
              <a:rPr sz="1300" b="1" i="0">
                <a:solidFill>
                  <a:srgbClr val="926000"/>
                </a:solidFill>
              </a:rPr>
              <a:t>ANALOGY:</a:t>
            </a:r>
          </a:p>
        </p:txBody>
      </p:sp>
      <p:sp>
        <p:nvSpPr>
          <p:cNvPr id="8" name="TextBox 7"/>
          <p:cNvSpPr txBox="1"/>
          <p:nvPr/>
        </p:nvSpPr>
        <p:spPr>
          <a:xfrm>
            <a:off x="2057400" y="1965959"/>
            <a:ext cx="9436608" cy="804672"/>
          </a:xfrm>
          <a:prstGeom prst="rect">
            <a:avLst/>
          </a:prstGeom>
          <a:noFill/>
        </p:spPr>
        <p:txBody>
          <a:bodyPr wrap="square">
            <a:spAutoFit/>
          </a:bodyPr>
          <a:lstStyle/>
          <a:p>
            <a:pPr algn="l"/>
            <a:r>
              <a:rPr sz="1300" b="0" i="0">
                <a:solidFill>
                  <a:srgbClr val="333333"/>
                </a:solidFill>
              </a:rPr>
              <a:t>An API is like a counter at a government office. You fill a form (request), hand it to the counter (API), the clerk does something behind the scenes, returns a receipt (response). You never go behind the counter.</a:t>
            </a:r>
          </a:p>
        </p:txBody>
      </p:sp>
      <p:sp>
        <p:nvSpPr>
          <p:cNvPr id="9" name="TextBox 8"/>
          <p:cNvSpPr txBox="1"/>
          <p:nvPr/>
        </p:nvSpPr>
        <p:spPr>
          <a:xfrm>
            <a:off x="502920" y="2926080"/>
            <a:ext cx="11155680" cy="457200"/>
          </a:xfrm>
          <a:prstGeom prst="rect">
            <a:avLst/>
          </a:prstGeom>
          <a:noFill/>
        </p:spPr>
        <p:txBody>
          <a:bodyPr wrap="square">
            <a:spAutoFit/>
          </a:bodyPr>
          <a:lstStyle/>
          <a:p>
            <a:pPr algn="l"/>
            <a:r>
              <a:rPr sz="1700" b="1" i="0">
                <a:solidFill>
                  <a:srgbClr val="1A1A2E"/>
                </a:solidFill>
              </a:rPr>
              <a:t>Our API endpoint:   theconnek.com/api/waitlist</a:t>
            </a:r>
          </a:p>
        </p:txBody>
      </p:sp>
      <p:sp>
        <p:nvSpPr>
          <p:cNvPr id="10" name="TextBox 9"/>
          <p:cNvSpPr txBox="1"/>
          <p:nvPr/>
        </p:nvSpPr>
        <p:spPr>
          <a:xfrm>
            <a:off x="502920" y="3474720"/>
            <a:ext cx="11155680" cy="365760"/>
          </a:xfrm>
          <a:prstGeom prst="rect">
            <a:avLst/>
          </a:prstGeom>
          <a:noFill/>
        </p:spPr>
        <p:txBody>
          <a:bodyPr wrap="square">
            <a:spAutoFit/>
          </a:bodyPr>
          <a:lstStyle/>
          <a:p>
            <a:pPr algn="l"/>
            <a:r>
              <a:rPr sz="1500" b="0" i="0">
                <a:solidFill>
                  <a:srgbClr val="333333"/>
                </a:solidFill>
              </a:rPr>
              <a:t>What it does when called:</a:t>
            </a:r>
          </a:p>
        </p:txBody>
      </p:sp>
      <p:sp>
        <p:nvSpPr>
          <p:cNvPr id="11" name="Rectangle 10"/>
          <p:cNvSpPr/>
          <p:nvPr/>
        </p:nvSpPr>
        <p:spPr>
          <a:xfrm>
            <a:off x="502920" y="3886200"/>
            <a:ext cx="1115568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977640"/>
            <a:ext cx="10789920" cy="347472"/>
          </a:xfrm>
          <a:prstGeom prst="rect">
            <a:avLst/>
          </a:prstGeom>
          <a:noFill/>
        </p:spPr>
        <p:txBody>
          <a:bodyPr wrap="square">
            <a:spAutoFit/>
          </a:bodyPr>
          <a:lstStyle/>
          <a:p>
            <a:pPr algn="l"/>
            <a:r>
              <a:rPr sz="1400" b="0" i="0">
                <a:solidFill>
                  <a:srgbClr val="0F3D5C"/>
                </a:solidFill>
              </a:rPr>
              <a:t>1  Validate — check all fields are present</a:t>
            </a:r>
          </a:p>
        </p:txBody>
      </p:sp>
      <p:sp>
        <p:nvSpPr>
          <p:cNvPr id="13" name="Rectangle 12"/>
          <p:cNvSpPr/>
          <p:nvPr/>
        </p:nvSpPr>
        <p:spPr>
          <a:xfrm>
            <a:off x="502920" y="4398264"/>
            <a:ext cx="1115568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489704"/>
            <a:ext cx="10789920" cy="347472"/>
          </a:xfrm>
          <a:prstGeom prst="rect">
            <a:avLst/>
          </a:prstGeom>
          <a:noFill/>
        </p:spPr>
        <p:txBody>
          <a:bodyPr wrap="square">
            <a:spAutoFit/>
          </a:bodyPr>
          <a:lstStyle/>
          <a:p>
            <a:pPr algn="l"/>
            <a:r>
              <a:rPr sz="1400" b="0" i="0">
                <a:solidFill>
                  <a:srgbClr val="333333"/>
                </a:solidFill>
              </a:rPr>
              <a:t>2  Save — insert row into Supabase database</a:t>
            </a:r>
          </a:p>
        </p:txBody>
      </p:sp>
      <p:sp>
        <p:nvSpPr>
          <p:cNvPr id="15" name="Rectangle 14"/>
          <p:cNvSpPr/>
          <p:nvPr/>
        </p:nvSpPr>
        <p:spPr>
          <a:xfrm>
            <a:off x="502920" y="4910328"/>
            <a:ext cx="1115568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001768"/>
            <a:ext cx="10789920" cy="347472"/>
          </a:xfrm>
          <a:prstGeom prst="rect">
            <a:avLst/>
          </a:prstGeom>
          <a:noFill/>
        </p:spPr>
        <p:txBody>
          <a:bodyPr wrap="square">
            <a:spAutoFit/>
          </a:bodyPr>
          <a:lstStyle/>
          <a:p>
            <a:pPr algn="l"/>
            <a:r>
              <a:rPr sz="1400" b="0" i="0">
                <a:solidFill>
                  <a:srgbClr val="0F3D5C"/>
                </a:solidFill>
              </a:rPr>
              <a:t>3  Email — call Resend to send notification</a:t>
            </a:r>
          </a:p>
        </p:txBody>
      </p:sp>
      <p:sp>
        <p:nvSpPr>
          <p:cNvPr id="17" name="Rectangle 16"/>
          <p:cNvSpPr/>
          <p:nvPr/>
        </p:nvSpPr>
        <p:spPr>
          <a:xfrm>
            <a:off x="502920" y="5422392"/>
            <a:ext cx="1115568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513832"/>
            <a:ext cx="10789920" cy="347472"/>
          </a:xfrm>
          <a:prstGeom prst="rect">
            <a:avLst/>
          </a:prstGeom>
          <a:noFill/>
        </p:spPr>
        <p:txBody>
          <a:bodyPr wrap="square">
            <a:spAutoFit/>
          </a:bodyPr>
          <a:lstStyle/>
          <a:p>
            <a:pPr algn="l"/>
            <a:r>
              <a:rPr sz="1400" b="0" i="0">
                <a:solidFill>
                  <a:srgbClr val="333333"/>
                </a:solidFill>
              </a:rPr>
              <a:t>4  Return — send { success: true } back to browser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Serverless Functions — How Our API Actually Runs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25880"/>
            <a:ext cx="5212080" cy="210312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4937760" cy="411480"/>
          </a:xfrm>
          <a:prstGeom prst="rect">
            <a:avLst/>
          </a:prstGeom>
          <a:noFill/>
        </p:spPr>
        <p:txBody>
          <a:bodyPr wrap="square">
            <a:spAutoFit/>
          </a:bodyPr>
          <a:lstStyle/>
          <a:p>
            <a:pPr algn="l"/>
            <a:r>
              <a:rPr sz="1600" b="1" i="0">
                <a:solidFill>
                  <a:srgbClr val="4A147A"/>
                </a:solidFill>
              </a:rPr>
              <a:t>Traditional Server  ✗</a:t>
            </a:r>
          </a:p>
        </p:txBody>
      </p:sp>
      <p:sp>
        <p:nvSpPr>
          <p:cNvPr id="7" name="TextBox 6"/>
          <p:cNvSpPr txBox="1"/>
          <p:nvPr/>
        </p:nvSpPr>
        <p:spPr>
          <a:xfrm>
            <a:off x="640080" y="1874519"/>
            <a:ext cx="4937760" cy="1417320"/>
          </a:xfrm>
          <a:prstGeom prst="rect">
            <a:avLst/>
          </a:prstGeom>
          <a:noFill/>
        </p:spPr>
        <p:txBody>
          <a:bodyPr wrap="square">
            <a:spAutoFit/>
          </a:bodyPr>
          <a:lstStyle/>
          <a:p>
            <a:pPr algn="l"/>
            <a:r>
              <a:rPr sz="1300" b="0" i="0">
                <a:solidFill>
                  <a:srgbClr val="333333"/>
                </a:solidFill>
              </a:rPr>
              <a:t>A computer that is always on.
Waiting 24/7 for requests.
You pay whether anyone visits or not.
You manage it when it crashes.</a:t>
            </a:r>
          </a:p>
        </p:txBody>
      </p:sp>
      <p:sp>
        <p:nvSpPr>
          <p:cNvPr id="8" name="Rectangle 7"/>
          <p:cNvSpPr/>
          <p:nvPr/>
        </p:nvSpPr>
        <p:spPr>
          <a:xfrm>
            <a:off x="6355080" y="1325880"/>
            <a:ext cx="5212080" cy="21031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17320"/>
            <a:ext cx="4937760" cy="411480"/>
          </a:xfrm>
          <a:prstGeom prst="rect">
            <a:avLst/>
          </a:prstGeom>
          <a:noFill/>
        </p:spPr>
        <p:txBody>
          <a:bodyPr wrap="square">
            <a:spAutoFit/>
          </a:bodyPr>
          <a:lstStyle/>
          <a:p>
            <a:pPr algn="l"/>
            <a:r>
              <a:rPr sz="1600" b="1" i="0">
                <a:solidFill>
                  <a:srgbClr val="1B5E20"/>
                </a:solidFill>
              </a:rPr>
              <a:t>Serverless  ✓</a:t>
            </a:r>
          </a:p>
        </p:txBody>
      </p:sp>
      <p:sp>
        <p:nvSpPr>
          <p:cNvPr id="10" name="TextBox 9"/>
          <p:cNvSpPr txBox="1"/>
          <p:nvPr/>
        </p:nvSpPr>
        <p:spPr>
          <a:xfrm>
            <a:off x="6492240" y="1874519"/>
            <a:ext cx="4937760" cy="1417320"/>
          </a:xfrm>
          <a:prstGeom prst="rect">
            <a:avLst/>
          </a:prstGeom>
          <a:noFill/>
        </p:spPr>
        <p:txBody>
          <a:bodyPr wrap="square">
            <a:spAutoFit/>
          </a:bodyPr>
          <a:lstStyle/>
          <a:p>
            <a:pPr algn="l"/>
            <a:r>
              <a:rPr sz="1300" b="0" i="0">
                <a:solidFill>
                  <a:srgbClr val="333333"/>
                </a:solidFill>
              </a:rPr>
              <a:t>No always-on machine.
Vercel creates a tiny computer only when the API is called.
It runs the code → returns result → disappears.
You pay per call, not per hour.</a:t>
            </a:r>
          </a:p>
        </p:txBody>
      </p:sp>
      <p:sp>
        <p:nvSpPr>
          <p:cNvPr id="11" name="Rectangle 10"/>
          <p:cNvSpPr/>
          <p:nvPr/>
        </p:nvSpPr>
        <p:spPr>
          <a:xfrm>
            <a:off x="502920" y="3611880"/>
            <a:ext cx="11155680" cy="91440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3703320"/>
            <a:ext cx="1554480" cy="804672"/>
          </a:xfrm>
          <a:prstGeom prst="rect">
            <a:avLst/>
          </a:prstGeom>
          <a:noFill/>
        </p:spPr>
        <p:txBody>
          <a:bodyPr wrap="square">
            <a:spAutoFit/>
          </a:bodyPr>
          <a:lstStyle/>
          <a:p>
            <a:pPr algn="l"/>
            <a:r>
              <a:rPr sz="1300" b="1" i="0">
                <a:solidFill>
                  <a:srgbClr val="926000"/>
                </a:solidFill>
              </a:rPr>
              <a:t>ANALOGY:</a:t>
            </a:r>
          </a:p>
        </p:txBody>
      </p:sp>
      <p:sp>
        <p:nvSpPr>
          <p:cNvPr id="13" name="TextBox 12"/>
          <p:cNvSpPr txBox="1"/>
          <p:nvPr/>
        </p:nvSpPr>
        <p:spPr>
          <a:xfrm>
            <a:off x="2057400" y="3703320"/>
            <a:ext cx="9436608" cy="804672"/>
          </a:xfrm>
          <a:prstGeom prst="rect">
            <a:avLst/>
          </a:prstGeom>
          <a:noFill/>
        </p:spPr>
        <p:txBody>
          <a:bodyPr wrap="square">
            <a:spAutoFit/>
          </a:bodyPr>
          <a:lstStyle/>
          <a:p>
            <a:pPr algn="l"/>
            <a:r>
              <a:rPr sz="1300" b="0" i="0">
                <a:solidFill>
                  <a:srgbClr val="333333"/>
                </a:solidFill>
              </a:rPr>
              <a:t>Traditional server = a full-time employee sitting at a desk all day waiting. Serverless = a freelancer you call only when needed. They show up, do the work, leave. Pay per task, not per hour of sitting.</a:t>
            </a:r>
          </a:p>
        </p:txBody>
      </p:sp>
      <p:sp>
        <p:nvSpPr>
          <p:cNvPr id="14" name="Rectangle 13"/>
          <p:cNvSpPr/>
          <p:nvPr/>
        </p:nvSpPr>
        <p:spPr>
          <a:xfrm>
            <a:off x="502920" y="4663440"/>
            <a:ext cx="11155680" cy="7772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4754880"/>
            <a:ext cx="1554480" cy="667512"/>
          </a:xfrm>
          <a:prstGeom prst="rect">
            <a:avLst/>
          </a:prstGeom>
          <a:noFill/>
        </p:spPr>
        <p:txBody>
          <a:bodyPr wrap="square">
            <a:spAutoFit/>
          </a:bodyPr>
          <a:lstStyle/>
          <a:p>
            <a:pPr algn="l"/>
            <a:r>
              <a:rPr sz="1300" b="1" i="0">
                <a:solidFill>
                  <a:srgbClr val="1B5E20"/>
                </a:solidFill>
              </a:rPr>
              <a:t>IN CONNEK:</a:t>
            </a:r>
          </a:p>
        </p:txBody>
      </p:sp>
      <p:sp>
        <p:nvSpPr>
          <p:cNvPr id="16" name="TextBox 15"/>
          <p:cNvSpPr txBox="1"/>
          <p:nvPr/>
        </p:nvSpPr>
        <p:spPr>
          <a:xfrm>
            <a:off x="2057400" y="4754880"/>
            <a:ext cx="9436608" cy="667512"/>
          </a:xfrm>
          <a:prstGeom prst="rect">
            <a:avLst/>
          </a:prstGeom>
          <a:noFill/>
        </p:spPr>
        <p:txBody>
          <a:bodyPr wrap="square">
            <a:spAutoFit/>
          </a:bodyPr>
          <a:lstStyle/>
          <a:p>
            <a:pPr algn="l"/>
            <a:r>
              <a:rPr sz="1300" b="0" i="0">
                <a:solidFill>
                  <a:srgbClr val="333333"/>
                </a:solidFill>
              </a:rPr>
              <a:t>1000 people submit the form at the same time → Vercel spins up 1000 tiny computers simultaneously. Scales automatically. Zero configuration from us.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JSON — How Data Travels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457200"/>
          </a:xfrm>
          <a:prstGeom prst="rect">
            <a:avLst/>
          </a:prstGeom>
          <a:noFill/>
        </p:spPr>
        <p:txBody>
          <a:bodyPr wrap="square">
            <a:spAutoFit/>
          </a:bodyPr>
          <a:lstStyle/>
          <a:p>
            <a:pPr algn="l"/>
            <a:r>
              <a:rPr sz="1600" b="0" i="0">
                <a:solidFill>
                  <a:srgbClr val="333333"/>
                </a:solidFill>
              </a:rPr>
              <a:t>JSON = JavaScript Object Notation. It is the format in which data is sent between the browser and the server.</a:t>
            </a:r>
          </a:p>
        </p:txBody>
      </p:sp>
      <p:sp>
        <p:nvSpPr>
          <p:cNvPr id="6" name="Rectangle 5"/>
          <p:cNvSpPr/>
          <p:nvPr/>
        </p:nvSpPr>
        <p:spPr>
          <a:xfrm>
            <a:off x="502920" y="1828800"/>
            <a:ext cx="11155680" cy="1828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20240"/>
            <a:ext cx="10789920" cy="365760"/>
          </a:xfrm>
          <a:prstGeom prst="rect">
            <a:avLst/>
          </a:prstGeom>
          <a:noFill/>
        </p:spPr>
        <p:txBody>
          <a:bodyPr wrap="square">
            <a:spAutoFit/>
          </a:bodyPr>
          <a:lstStyle/>
          <a:p>
            <a:pPr algn="l"/>
            <a:r>
              <a:rPr sz="1300" b="1" i="0">
                <a:solidFill>
                  <a:srgbClr val="AABBFF"/>
                </a:solidFill>
              </a:rPr>
              <a:t>What the waitlist form sends as JSON:</a:t>
            </a:r>
          </a:p>
        </p:txBody>
      </p:sp>
      <p:sp>
        <p:nvSpPr>
          <p:cNvPr id="8" name="TextBox 7"/>
          <p:cNvSpPr txBox="1"/>
          <p:nvPr/>
        </p:nvSpPr>
        <p:spPr>
          <a:xfrm>
            <a:off x="685800" y="2331720"/>
            <a:ext cx="10789920" cy="1234440"/>
          </a:xfrm>
          <a:prstGeom prst="rect">
            <a:avLst/>
          </a:prstGeom>
          <a:noFill/>
        </p:spPr>
        <p:txBody>
          <a:bodyPr wrap="square">
            <a:spAutoFit/>
          </a:bodyPr>
          <a:lstStyle/>
          <a:p>
            <a:pPr algn="l"/>
            <a:r>
              <a:rPr sz="1400" b="0" i="0">
                <a:solidFill>
                  <a:srgbClr val="90EE90"/>
                </a:solidFill>
              </a:rPr>
              <a:t>{
  "name":      "Priya Sharma",
  "email":     "priya@example.com",
  "college":   "IIT Jodhpur",
  "role":      "Consulting",
  "user_type": "candidate"
}</a:t>
            </a:r>
          </a:p>
        </p:txBody>
      </p:sp>
      <p:sp>
        <p:nvSpPr>
          <p:cNvPr id="9" name="Rectangle 8"/>
          <p:cNvSpPr/>
          <p:nvPr/>
        </p:nvSpPr>
        <p:spPr>
          <a:xfrm>
            <a:off x="502920" y="3794760"/>
            <a:ext cx="11155680" cy="91440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86200"/>
            <a:ext cx="1554480" cy="804672"/>
          </a:xfrm>
          <a:prstGeom prst="rect">
            <a:avLst/>
          </a:prstGeom>
          <a:noFill/>
        </p:spPr>
        <p:txBody>
          <a:bodyPr wrap="square">
            <a:spAutoFit/>
          </a:bodyPr>
          <a:lstStyle/>
          <a:p>
            <a:pPr algn="l"/>
            <a:r>
              <a:rPr sz="1300" b="1" i="0">
                <a:solidFill>
                  <a:srgbClr val="926000"/>
                </a:solidFill>
              </a:rPr>
              <a:t>ANALOGY:</a:t>
            </a:r>
          </a:p>
        </p:txBody>
      </p:sp>
      <p:sp>
        <p:nvSpPr>
          <p:cNvPr id="11" name="TextBox 10"/>
          <p:cNvSpPr txBox="1"/>
          <p:nvPr/>
        </p:nvSpPr>
        <p:spPr>
          <a:xfrm>
            <a:off x="2057400" y="3886200"/>
            <a:ext cx="9436608" cy="804672"/>
          </a:xfrm>
          <a:prstGeom prst="rect">
            <a:avLst/>
          </a:prstGeom>
          <a:noFill/>
        </p:spPr>
        <p:txBody>
          <a:bodyPr wrap="square">
            <a:spAutoFit/>
          </a:bodyPr>
          <a:lstStyle/>
          <a:p>
            <a:pPr algn="l"/>
            <a:r>
              <a:rPr sz="1300" b="0" i="0">
                <a:solidFill>
                  <a:srgbClr val="333333"/>
                </a:solidFill>
              </a:rPr>
              <a:t>JSON is like a filled-in form. Instead of a paper form with labelled boxes, it's a digital format: each field has a name (key) and a value. Both browser and server can read it.</a:t>
            </a:r>
          </a:p>
        </p:txBody>
      </p:sp>
      <p:sp>
        <p:nvSpPr>
          <p:cNvPr id="12" name="TextBox 11"/>
          <p:cNvSpPr txBox="1"/>
          <p:nvPr/>
        </p:nvSpPr>
        <p:spPr>
          <a:xfrm>
            <a:off x="502920" y="4800600"/>
            <a:ext cx="11155680" cy="411480"/>
          </a:xfrm>
          <a:prstGeom prst="rect">
            <a:avLst/>
          </a:prstGeom>
          <a:noFill/>
        </p:spPr>
        <p:txBody>
          <a:bodyPr wrap="square">
            <a:spAutoFit/>
          </a:bodyPr>
          <a:lstStyle/>
          <a:p>
            <a:pPr algn="l"/>
            <a:r>
              <a:rPr sz="1600" b="1" i="0">
                <a:solidFill>
                  <a:srgbClr val="E8601C"/>
                </a:solidFill>
              </a:rPr>
              <a:t>Just structured text. Nothing scary about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Database — Permanent Storage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02920"/>
          </a:xfrm>
          <a:prstGeom prst="rect">
            <a:avLst/>
          </a:prstGeom>
          <a:noFill/>
        </p:spPr>
        <p:txBody>
          <a:bodyPr wrap="square">
            <a:spAutoFit/>
          </a:bodyPr>
          <a:lstStyle/>
          <a:p>
            <a:pPr algn="l"/>
            <a:r>
              <a:rPr sz="1600" b="0" i="0">
                <a:solidFill>
                  <a:srgbClr val="333333"/>
                </a:solidFill>
              </a:rPr>
              <a:t>A database is permanent, organised storage. Unlike code variables that vanish when the server restarts, a database survives indefinitely.</a:t>
            </a:r>
          </a:p>
        </p:txBody>
      </p:sp>
      <p:sp>
        <p:nvSpPr>
          <p:cNvPr id="6" name="TextBox 5"/>
          <p:cNvSpPr txBox="1"/>
          <p:nvPr/>
        </p:nvSpPr>
        <p:spPr>
          <a:xfrm>
            <a:off x="502920" y="1874519"/>
            <a:ext cx="11155680" cy="365760"/>
          </a:xfrm>
          <a:prstGeom prst="rect">
            <a:avLst/>
          </a:prstGeom>
          <a:noFill/>
        </p:spPr>
        <p:txBody>
          <a:bodyPr wrap="square">
            <a:spAutoFit/>
          </a:bodyPr>
          <a:lstStyle/>
          <a:p>
            <a:pPr algn="l"/>
            <a:r>
              <a:rPr sz="1500" b="1" i="0">
                <a:solidFill>
                  <a:srgbClr val="1A1A2E"/>
                </a:solidFill>
              </a:rPr>
              <a:t>Our waitlist table — one row per signup:</a:t>
            </a:r>
          </a:p>
        </p:txBody>
      </p:sp>
      <p:sp>
        <p:nvSpPr>
          <p:cNvPr id="7" name="Rectangle 6"/>
          <p:cNvSpPr/>
          <p:nvPr/>
        </p:nvSpPr>
        <p:spPr>
          <a:xfrm>
            <a:off x="365760" y="2331720"/>
            <a:ext cx="50292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2395728"/>
            <a:ext cx="411480" cy="320040"/>
          </a:xfrm>
          <a:prstGeom prst="rect">
            <a:avLst/>
          </a:prstGeom>
          <a:noFill/>
        </p:spPr>
        <p:txBody>
          <a:bodyPr wrap="square">
            <a:spAutoFit/>
          </a:bodyPr>
          <a:lstStyle/>
          <a:p>
            <a:pPr algn="ctr"/>
            <a:r>
              <a:rPr sz="1200" b="1" i="0">
                <a:solidFill>
                  <a:srgbClr val="FFFFFF"/>
                </a:solidFill>
              </a:rPr>
              <a:t>id</a:t>
            </a:r>
          </a:p>
        </p:txBody>
      </p:sp>
      <p:sp>
        <p:nvSpPr>
          <p:cNvPr id="9" name="Rectangle 8"/>
          <p:cNvSpPr/>
          <p:nvPr/>
        </p:nvSpPr>
        <p:spPr>
          <a:xfrm>
            <a:off x="868680" y="2331720"/>
            <a:ext cx="128016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2395728"/>
            <a:ext cx="1188720" cy="320040"/>
          </a:xfrm>
          <a:prstGeom prst="rect">
            <a:avLst/>
          </a:prstGeom>
          <a:noFill/>
        </p:spPr>
        <p:txBody>
          <a:bodyPr wrap="square">
            <a:spAutoFit/>
          </a:bodyPr>
          <a:lstStyle/>
          <a:p>
            <a:pPr algn="ctr"/>
            <a:r>
              <a:rPr sz="1200" b="1" i="0">
                <a:solidFill>
                  <a:srgbClr val="FFFFFF"/>
                </a:solidFill>
              </a:rPr>
              <a:t>name</a:t>
            </a:r>
          </a:p>
        </p:txBody>
      </p:sp>
      <p:sp>
        <p:nvSpPr>
          <p:cNvPr id="11" name="Rectangle 10"/>
          <p:cNvSpPr/>
          <p:nvPr/>
        </p:nvSpPr>
        <p:spPr>
          <a:xfrm>
            <a:off x="2148840" y="2331720"/>
            <a:ext cx="201168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03704" y="2395728"/>
            <a:ext cx="1920240" cy="320040"/>
          </a:xfrm>
          <a:prstGeom prst="rect">
            <a:avLst/>
          </a:prstGeom>
          <a:noFill/>
        </p:spPr>
        <p:txBody>
          <a:bodyPr wrap="square">
            <a:spAutoFit/>
          </a:bodyPr>
          <a:lstStyle/>
          <a:p>
            <a:pPr algn="ctr"/>
            <a:r>
              <a:rPr sz="1200" b="1" i="0">
                <a:solidFill>
                  <a:srgbClr val="FFFFFF"/>
                </a:solidFill>
              </a:rPr>
              <a:t>email</a:t>
            </a:r>
          </a:p>
        </p:txBody>
      </p:sp>
      <p:sp>
        <p:nvSpPr>
          <p:cNvPr id="13" name="Rectangle 12"/>
          <p:cNvSpPr/>
          <p:nvPr/>
        </p:nvSpPr>
        <p:spPr>
          <a:xfrm>
            <a:off x="4160520" y="2331720"/>
            <a:ext cx="192024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5384" y="2395728"/>
            <a:ext cx="1828800" cy="320040"/>
          </a:xfrm>
          <a:prstGeom prst="rect">
            <a:avLst/>
          </a:prstGeom>
          <a:noFill/>
        </p:spPr>
        <p:txBody>
          <a:bodyPr wrap="square">
            <a:spAutoFit/>
          </a:bodyPr>
          <a:lstStyle/>
          <a:p>
            <a:pPr algn="ctr"/>
            <a:r>
              <a:rPr sz="1200" b="1" i="0">
                <a:solidFill>
                  <a:srgbClr val="FFFFFF"/>
                </a:solidFill>
              </a:rPr>
              <a:t>college</a:t>
            </a:r>
          </a:p>
        </p:txBody>
      </p:sp>
      <p:sp>
        <p:nvSpPr>
          <p:cNvPr id="15" name="Rectangle 14"/>
          <p:cNvSpPr/>
          <p:nvPr/>
        </p:nvSpPr>
        <p:spPr>
          <a:xfrm>
            <a:off x="6080760" y="2331720"/>
            <a:ext cx="146304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2395728"/>
            <a:ext cx="1371600" cy="320040"/>
          </a:xfrm>
          <a:prstGeom prst="rect">
            <a:avLst/>
          </a:prstGeom>
          <a:noFill/>
        </p:spPr>
        <p:txBody>
          <a:bodyPr wrap="square">
            <a:spAutoFit/>
          </a:bodyPr>
          <a:lstStyle/>
          <a:p>
            <a:pPr algn="ctr"/>
            <a:r>
              <a:rPr sz="1200" b="1" i="0">
                <a:solidFill>
                  <a:srgbClr val="FFFFFF"/>
                </a:solidFill>
              </a:rPr>
              <a:t>role</a:t>
            </a:r>
          </a:p>
        </p:txBody>
      </p:sp>
      <p:sp>
        <p:nvSpPr>
          <p:cNvPr id="17" name="Rectangle 16"/>
          <p:cNvSpPr/>
          <p:nvPr/>
        </p:nvSpPr>
        <p:spPr>
          <a:xfrm>
            <a:off x="7543800" y="2331720"/>
            <a:ext cx="137160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98664" y="2395728"/>
            <a:ext cx="1280160" cy="320040"/>
          </a:xfrm>
          <a:prstGeom prst="rect">
            <a:avLst/>
          </a:prstGeom>
          <a:noFill/>
        </p:spPr>
        <p:txBody>
          <a:bodyPr wrap="square">
            <a:spAutoFit/>
          </a:bodyPr>
          <a:lstStyle/>
          <a:p>
            <a:pPr algn="ctr"/>
            <a:r>
              <a:rPr sz="1200" b="1" i="0">
                <a:solidFill>
                  <a:srgbClr val="FFFFFF"/>
                </a:solidFill>
              </a:rPr>
              <a:t>user_type</a:t>
            </a:r>
          </a:p>
        </p:txBody>
      </p:sp>
      <p:sp>
        <p:nvSpPr>
          <p:cNvPr id="19" name="Rectangle 18"/>
          <p:cNvSpPr/>
          <p:nvPr/>
        </p:nvSpPr>
        <p:spPr>
          <a:xfrm>
            <a:off x="8915400" y="2331720"/>
            <a:ext cx="1417320" cy="42062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0264" y="2395728"/>
            <a:ext cx="1325880" cy="320040"/>
          </a:xfrm>
          <a:prstGeom prst="rect">
            <a:avLst/>
          </a:prstGeom>
          <a:noFill/>
        </p:spPr>
        <p:txBody>
          <a:bodyPr wrap="square">
            <a:spAutoFit/>
          </a:bodyPr>
          <a:lstStyle/>
          <a:p>
            <a:pPr algn="ctr"/>
            <a:r>
              <a:rPr sz="1200" b="1" i="0">
                <a:solidFill>
                  <a:srgbClr val="FFFFFF"/>
                </a:solidFill>
              </a:rPr>
              <a:t>created_at</a:t>
            </a:r>
          </a:p>
        </p:txBody>
      </p:sp>
      <p:sp>
        <p:nvSpPr>
          <p:cNvPr id="21" name="Rectangle 20"/>
          <p:cNvSpPr/>
          <p:nvPr/>
        </p:nvSpPr>
        <p:spPr>
          <a:xfrm>
            <a:off x="365760" y="2752344"/>
            <a:ext cx="50292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 y="2843784"/>
            <a:ext cx="411480" cy="347472"/>
          </a:xfrm>
          <a:prstGeom prst="rect">
            <a:avLst/>
          </a:prstGeom>
          <a:noFill/>
        </p:spPr>
        <p:txBody>
          <a:bodyPr wrap="square">
            <a:spAutoFit/>
          </a:bodyPr>
          <a:lstStyle/>
          <a:p>
            <a:pPr algn="ctr"/>
            <a:r>
              <a:rPr sz="1100" b="0" i="0">
                <a:solidFill>
                  <a:srgbClr val="333333"/>
                </a:solidFill>
              </a:rPr>
              <a:t>1</a:t>
            </a:r>
          </a:p>
        </p:txBody>
      </p:sp>
      <p:sp>
        <p:nvSpPr>
          <p:cNvPr id="23" name="Rectangle 22"/>
          <p:cNvSpPr/>
          <p:nvPr/>
        </p:nvSpPr>
        <p:spPr>
          <a:xfrm>
            <a:off x="868680" y="2752344"/>
            <a:ext cx="128016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2843784"/>
            <a:ext cx="1188720" cy="347472"/>
          </a:xfrm>
          <a:prstGeom prst="rect">
            <a:avLst/>
          </a:prstGeom>
          <a:noFill/>
        </p:spPr>
        <p:txBody>
          <a:bodyPr wrap="square">
            <a:spAutoFit/>
          </a:bodyPr>
          <a:lstStyle/>
          <a:p>
            <a:pPr algn="ctr"/>
            <a:r>
              <a:rPr sz="1100" b="0" i="0">
                <a:solidFill>
                  <a:srgbClr val="333333"/>
                </a:solidFill>
              </a:rPr>
              <a:t>Priya Sharma</a:t>
            </a:r>
          </a:p>
        </p:txBody>
      </p:sp>
      <p:sp>
        <p:nvSpPr>
          <p:cNvPr id="25" name="Rectangle 24"/>
          <p:cNvSpPr/>
          <p:nvPr/>
        </p:nvSpPr>
        <p:spPr>
          <a:xfrm>
            <a:off x="2148840" y="2752344"/>
            <a:ext cx="201168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03704" y="2843784"/>
            <a:ext cx="1920240" cy="347472"/>
          </a:xfrm>
          <a:prstGeom prst="rect">
            <a:avLst/>
          </a:prstGeom>
          <a:noFill/>
        </p:spPr>
        <p:txBody>
          <a:bodyPr wrap="square">
            <a:spAutoFit/>
          </a:bodyPr>
          <a:lstStyle/>
          <a:p>
            <a:pPr algn="ctr"/>
            <a:r>
              <a:rPr sz="1100" b="0" i="0">
                <a:solidFill>
                  <a:srgbClr val="333333"/>
                </a:solidFill>
              </a:rPr>
              <a:t>priya@example.com</a:t>
            </a:r>
          </a:p>
        </p:txBody>
      </p:sp>
      <p:sp>
        <p:nvSpPr>
          <p:cNvPr id="27" name="Rectangle 26"/>
          <p:cNvSpPr/>
          <p:nvPr/>
        </p:nvSpPr>
        <p:spPr>
          <a:xfrm>
            <a:off x="4160520" y="2752344"/>
            <a:ext cx="192024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15384" y="2843784"/>
            <a:ext cx="1828800" cy="347472"/>
          </a:xfrm>
          <a:prstGeom prst="rect">
            <a:avLst/>
          </a:prstGeom>
          <a:noFill/>
        </p:spPr>
        <p:txBody>
          <a:bodyPr wrap="square">
            <a:spAutoFit/>
          </a:bodyPr>
          <a:lstStyle/>
          <a:p>
            <a:pPr algn="ctr"/>
            <a:r>
              <a:rPr sz="1100" b="0" i="0">
                <a:solidFill>
                  <a:srgbClr val="333333"/>
                </a:solidFill>
              </a:rPr>
              <a:t>IIT Jodhpur</a:t>
            </a:r>
          </a:p>
        </p:txBody>
      </p:sp>
      <p:sp>
        <p:nvSpPr>
          <p:cNvPr id="29" name="Rectangle 28"/>
          <p:cNvSpPr/>
          <p:nvPr/>
        </p:nvSpPr>
        <p:spPr>
          <a:xfrm>
            <a:off x="6080760" y="2752344"/>
            <a:ext cx="146304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35624" y="2843784"/>
            <a:ext cx="1371600" cy="347472"/>
          </a:xfrm>
          <a:prstGeom prst="rect">
            <a:avLst/>
          </a:prstGeom>
          <a:noFill/>
        </p:spPr>
        <p:txBody>
          <a:bodyPr wrap="square">
            <a:spAutoFit/>
          </a:bodyPr>
          <a:lstStyle/>
          <a:p>
            <a:pPr algn="ctr"/>
            <a:r>
              <a:rPr sz="1100" b="0" i="0">
                <a:solidFill>
                  <a:srgbClr val="333333"/>
                </a:solidFill>
              </a:rPr>
              <a:t>Consulting</a:t>
            </a:r>
          </a:p>
        </p:txBody>
      </p:sp>
      <p:sp>
        <p:nvSpPr>
          <p:cNvPr id="31" name="Rectangle 30"/>
          <p:cNvSpPr/>
          <p:nvPr/>
        </p:nvSpPr>
        <p:spPr>
          <a:xfrm>
            <a:off x="7543800" y="2752344"/>
            <a:ext cx="137160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98664" y="2843784"/>
            <a:ext cx="1280160" cy="347472"/>
          </a:xfrm>
          <a:prstGeom prst="rect">
            <a:avLst/>
          </a:prstGeom>
          <a:noFill/>
        </p:spPr>
        <p:txBody>
          <a:bodyPr wrap="square">
            <a:spAutoFit/>
          </a:bodyPr>
          <a:lstStyle/>
          <a:p>
            <a:pPr algn="ctr"/>
            <a:r>
              <a:rPr sz="1100" b="0" i="0">
                <a:solidFill>
                  <a:srgbClr val="333333"/>
                </a:solidFill>
              </a:rPr>
              <a:t>candidate</a:t>
            </a:r>
          </a:p>
        </p:txBody>
      </p:sp>
      <p:sp>
        <p:nvSpPr>
          <p:cNvPr id="33" name="Rectangle 32"/>
          <p:cNvSpPr/>
          <p:nvPr/>
        </p:nvSpPr>
        <p:spPr>
          <a:xfrm>
            <a:off x="8915400" y="2752344"/>
            <a:ext cx="141732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70264" y="2843784"/>
            <a:ext cx="1325880" cy="347472"/>
          </a:xfrm>
          <a:prstGeom prst="rect">
            <a:avLst/>
          </a:prstGeom>
          <a:noFill/>
        </p:spPr>
        <p:txBody>
          <a:bodyPr wrap="square">
            <a:spAutoFit/>
          </a:bodyPr>
          <a:lstStyle/>
          <a:p>
            <a:pPr algn="ctr"/>
            <a:r>
              <a:rPr sz="1100" b="0" i="0">
                <a:solidFill>
                  <a:srgbClr val="333333"/>
                </a:solidFill>
              </a:rPr>
              <a:t>2024-11-01</a:t>
            </a:r>
          </a:p>
        </p:txBody>
      </p:sp>
      <p:sp>
        <p:nvSpPr>
          <p:cNvPr id="35" name="Rectangle 34"/>
          <p:cNvSpPr/>
          <p:nvPr/>
        </p:nvSpPr>
        <p:spPr>
          <a:xfrm>
            <a:off x="365760" y="3255264"/>
            <a:ext cx="50292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4" y="3346704"/>
            <a:ext cx="411480" cy="347472"/>
          </a:xfrm>
          <a:prstGeom prst="rect">
            <a:avLst/>
          </a:prstGeom>
          <a:noFill/>
        </p:spPr>
        <p:txBody>
          <a:bodyPr wrap="square">
            <a:spAutoFit/>
          </a:bodyPr>
          <a:lstStyle/>
          <a:p>
            <a:pPr algn="ctr"/>
            <a:r>
              <a:rPr sz="1100" b="0" i="0">
                <a:solidFill>
                  <a:srgbClr val="333333"/>
                </a:solidFill>
              </a:rPr>
              <a:t>2</a:t>
            </a:r>
          </a:p>
        </p:txBody>
      </p:sp>
      <p:sp>
        <p:nvSpPr>
          <p:cNvPr id="37" name="Rectangle 36"/>
          <p:cNvSpPr/>
          <p:nvPr/>
        </p:nvSpPr>
        <p:spPr>
          <a:xfrm>
            <a:off x="868680" y="3255264"/>
            <a:ext cx="128016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3544" y="3346704"/>
            <a:ext cx="1188720" cy="347472"/>
          </a:xfrm>
          <a:prstGeom prst="rect">
            <a:avLst/>
          </a:prstGeom>
          <a:noFill/>
        </p:spPr>
        <p:txBody>
          <a:bodyPr wrap="square">
            <a:spAutoFit/>
          </a:bodyPr>
          <a:lstStyle/>
          <a:p>
            <a:pPr algn="ctr"/>
            <a:r>
              <a:rPr sz="1100" b="0" i="0">
                <a:solidFill>
                  <a:srgbClr val="333333"/>
                </a:solidFill>
              </a:rPr>
              <a:t>Arjun Mehta</a:t>
            </a:r>
          </a:p>
        </p:txBody>
      </p:sp>
      <p:sp>
        <p:nvSpPr>
          <p:cNvPr id="39" name="Rectangle 38"/>
          <p:cNvSpPr/>
          <p:nvPr/>
        </p:nvSpPr>
        <p:spPr>
          <a:xfrm>
            <a:off x="2148840" y="3255264"/>
            <a:ext cx="201168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03704" y="3346704"/>
            <a:ext cx="1920240" cy="347472"/>
          </a:xfrm>
          <a:prstGeom prst="rect">
            <a:avLst/>
          </a:prstGeom>
          <a:noFill/>
        </p:spPr>
        <p:txBody>
          <a:bodyPr wrap="square">
            <a:spAutoFit/>
          </a:bodyPr>
          <a:lstStyle/>
          <a:p>
            <a:pPr algn="ctr"/>
            <a:r>
              <a:rPr sz="1100" b="0" i="0">
                <a:solidFill>
                  <a:srgbClr val="333333"/>
                </a:solidFill>
              </a:rPr>
              <a:t>arjun@example.com</a:t>
            </a:r>
          </a:p>
        </p:txBody>
      </p:sp>
      <p:sp>
        <p:nvSpPr>
          <p:cNvPr id="41" name="Rectangle 40"/>
          <p:cNvSpPr/>
          <p:nvPr/>
        </p:nvSpPr>
        <p:spPr>
          <a:xfrm>
            <a:off x="4160520" y="3255264"/>
            <a:ext cx="192024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15384" y="3346704"/>
            <a:ext cx="1828800" cy="347472"/>
          </a:xfrm>
          <a:prstGeom prst="rect">
            <a:avLst/>
          </a:prstGeom>
          <a:noFill/>
        </p:spPr>
        <p:txBody>
          <a:bodyPr wrap="square">
            <a:spAutoFit/>
          </a:bodyPr>
          <a:lstStyle/>
          <a:p>
            <a:pPr algn="ctr"/>
            <a:r>
              <a:rPr sz="1100" b="0" i="0">
                <a:solidFill>
                  <a:srgbClr val="333333"/>
                </a:solidFill>
              </a:rPr>
              <a:t>IIM Ahmedabad</a:t>
            </a:r>
          </a:p>
        </p:txBody>
      </p:sp>
      <p:sp>
        <p:nvSpPr>
          <p:cNvPr id="43" name="Rectangle 42"/>
          <p:cNvSpPr/>
          <p:nvPr/>
        </p:nvSpPr>
        <p:spPr>
          <a:xfrm>
            <a:off x="6080760" y="3255264"/>
            <a:ext cx="146304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35624" y="3346704"/>
            <a:ext cx="1371600" cy="347472"/>
          </a:xfrm>
          <a:prstGeom prst="rect">
            <a:avLst/>
          </a:prstGeom>
          <a:noFill/>
        </p:spPr>
        <p:txBody>
          <a:bodyPr wrap="square">
            <a:spAutoFit/>
          </a:bodyPr>
          <a:lstStyle/>
          <a:p>
            <a:pPr algn="ctr"/>
            <a:r>
              <a:rPr sz="1100" b="0" i="0">
                <a:solidFill>
                  <a:srgbClr val="333333"/>
                </a:solidFill>
              </a:rPr>
              <a:t>Finance</a:t>
            </a:r>
          </a:p>
        </p:txBody>
      </p:sp>
      <p:sp>
        <p:nvSpPr>
          <p:cNvPr id="45" name="Rectangle 44"/>
          <p:cNvSpPr/>
          <p:nvPr/>
        </p:nvSpPr>
        <p:spPr>
          <a:xfrm>
            <a:off x="7543800" y="3255264"/>
            <a:ext cx="137160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98664" y="3346704"/>
            <a:ext cx="1280160" cy="347472"/>
          </a:xfrm>
          <a:prstGeom prst="rect">
            <a:avLst/>
          </a:prstGeom>
          <a:noFill/>
        </p:spPr>
        <p:txBody>
          <a:bodyPr wrap="square">
            <a:spAutoFit/>
          </a:bodyPr>
          <a:lstStyle/>
          <a:p>
            <a:pPr algn="ctr"/>
            <a:r>
              <a:rPr sz="1100" b="0" i="0">
                <a:solidFill>
                  <a:srgbClr val="333333"/>
                </a:solidFill>
              </a:rPr>
              <a:t>professional</a:t>
            </a:r>
          </a:p>
        </p:txBody>
      </p:sp>
      <p:sp>
        <p:nvSpPr>
          <p:cNvPr id="47" name="Rectangle 46"/>
          <p:cNvSpPr/>
          <p:nvPr/>
        </p:nvSpPr>
        <p:spPr>
          <a:xfrm>
            <a:off x="8915400" y="3255264"/>
            <a:ext cx="1417320" cy="475488"/>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70264" y="3346704"/>
            <a:ext cx="1325880" cy="347472"/>
          </a:xfrm>
          <a:prstGeom prst="rect">
            <a:avLst/>
          </a:prstGeom>
          <a:noFill/>
        </p:spPr>
        <p:txBody>
          <a:bodyPr wrap="square">
            <a:spAutoFit/>
          </a:bodyPr>
          <a:lstStyle/>
          <a:p>
            <a:pPr algn="ctr"/>
            <a:r>
              <a:rPr sz="1100" b="0" i="0">
                <a:solidFill>
                  <a:srgbClr val="333333"/>
                </a:solidFill>
              </a:rPr>
              <a:t>2024-11-02</a:t>
            </a:r>
          </a:p>
        </p:txBody>
      </p:sp>
      <p:sp>
        <p:nvSpPr>
          <p:cNvPr id="49" name="Rectangle 48"/>
          <p:cNvSpPr/>
          <p:nvPr/>
        </p:nvSpPr>
        <p:spPr>
          <a:xfrm>
            <a:off x="365760" y="3758184"/>
            <a:ext cx="50292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0624" y="3849624"/>
            <a:ext cx="411480" cy="347472"/>
          </a:xfrm>
          <a:prstGeom prst="rect">
            <a:avLst/>
          </a:prstGeom>
          <a:noFill/>
        </p:spPr>
        <p:txBody>
          <a:bodyPr wrap="square">
            <a:spAutoFit/>
          </a:bodyPr>
          <a:lstStyle/>
          <a:p>
            <a:pPr algn="ctr"/>
            <a:r>
              <a:rPr sz="1100" b="0" i="0">
                <a:solidFill>
                  <a:srgbClr val="333333"/>
                </a:solidFill>
              </a:rPr>
              <a:t>3</a:t>
            </a:r>
          </a:p>
        </p:txBody>
      </p:sp>
      <p:sp>
        <p:nvSpPr>
          <p:cNvPr id="51" name="Rectangle 50"/>
          <p:cNvSpPr/>
          <p:nvPr/>
        </p:nvSpPr>
        <p:spPr>
          <a:xfrm>
            <a:off x="868680" y="3758184"/>
            <a:ext cx="128016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3544" y="3849624"/>
            <a:ext cx="1188720" cy="347472"/>
          </a:xfrm>
          <a:prstGeom prst="rect">
            <a:avLst/>
          </a:prstGeom>
          <a:noFill/>
        </p:spPr>
        <p:txBody>
          <a:bodyPr wrap="square">
            <a:spAutoFit/>
          </a:bodyPr>
          <a:lstStyle/>
          <a:p>
            <a:pPr algn="ctr"/>
            <a:r>
              <a:rPr sz="1100" b="0" i="0">
                <a:solidFill>
                  <a:srgbClr val="333333"/>
                </a:solidFill>
              </a:rPr>
              <a:t>Sneha Patel</a:t>
            </a:r>
          </a:p>
        </p:txBody>
      </p:sp>
      <p:sp>
        <p:nvSpPr>
          <p:cNvPr id="53" name="Rectangle 52"/>
          <p:cNvSpPr/>
          <p:nvPr/>
        </p:nvSpPr>
        <p:spPr>
          <a:xfrm>
            <a:off x="2148840" y="3758184"/>
            <a:ext cx="201168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203704" y="3849624"/>
            <a:ext cx="1920240" cy="347472"/>
          </a:xfrm>
          <a:prstGeom prst="rect">
            <a:avLst/>
          </a:prstGeom>
          <a:noFill/>
        </p:spPr>
        <p:txBody>
          <a:bodyPr wrap="square">
            <a:spAutoFit/>
          </a:bodyPr>
          <a:lstStyle/>
          <a:p>
            <a:pPr algn="ctr"/>
            <a:r>
              <a:rPr sz="1100" b="0" i="0">
                <a:solidFill>
                  <a:srgbClr val="333333"/>
                </a:solidFill>
              </a:rPr>
              <a:t>sneha@example.com</a:t>
            </a:r>
          </a:p>
        </p:txBody>
      </p:sp>
      <p:sp>
        <p:nvSpPr>
          <p:cNvPr id="55" name="Rectangle 54"/>
          <p:cNvSpPr/>
          <p:nvPr/>
        </p:nvSpPr>
        <p:spPr>
          <a:xfrm>
            <a:off x="4160520" y="3758184"/>
            <a:ext cx="192024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215384" y="3849624"/>
            <a:ext cx="1828800" cy="347472"/>
          </a:xfrm>
          <a:prstGeom prst="rect">
            <a:avLst/>
          </a:prstGeom>
          <a:noFill/>
        </p:spPr>
        <p:txBody>
          <a:bodyPr wrap="square">
            <a:spAutoFit/>
          </a:bodyPr>
          <a:lstStyle/>
          <a:p>
            <a:pPr algn="ctr"/>
            <a:r>
              <a:rPr sz="1100" b="0" i="0">
                <a:solidFill>
                  <a:srgbClr val="333333"/>
                </a:solidFill>
              </a:rPr>
              <a:t>BITS Pilani</a:t>
            </a:r>
          </a:p>
        </p:txBody>
      </p:sp>
      <p:sp>
        <p:nvSpPr>
          <p:cNvPr id="57" name="Rectangle 56"/>
          <p:cNvSpPr/>
          <p:nvPr/>
        </p:nvSpPr>
        <p:spPr>
          <a:xfrm>
            <a:off x="6080760" y="3758184"/>
            <a:ext cx="146304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35624" y="3849624"/>
            <a:ext cx="1371600" cy="347472"/>
          </a:xfrm>
          <a:prstGeom prst="rect">
            <a:avLst/>
          </a:prstGeom>
          <a:noFill/>
        </p:spPr>
        <p:txBody>
          <a:bodyPr wrap="square">
            <a:spAutoFit/>
          </a:bodyPr>
          <a:lstStyle/>
          <a:p>
            <a:pPr algn="ctr"/>
            <a:r>
              <a:rPr sz="1100" b="0" i="0">
                <a:solidFill>
                  <a:srgbClr val="333333"/>
                </a:solidFill>
              </a:rPr>
              <a:t>Product</a:t>
            </a:r>
          </a:p>
        </p:txBody>
      </p:sp>
      <p:sp>
        <p:nvSpPr>
          <p:cNvPr id="59" name="Rectangle 58"/>
          <p:cNvSpPr/>
          <p:nvPr/>
        </p:nvSpPr>
        <p:spPr>
          <a:xfrm>
            <a:off x="7543800" y="3758184"/>
            <a:ext cx="137160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98664" y="3849624"/>
            <a:ext cx="1280160" cy="347472"/>
          </a:xfrm>
          <a:prstGeom prst="rect">
            <a:avLst/>
          </a:prstGeom>
          <a:noFill/>
        </p:spPr>
        <p:txBody>
          <a:bodyPr wrap="square">
            <a:spAutoFit/>
          </a:bodyPr>
          <a:lstStyle/>
          <a:p>
            <a:pPr algn="ctr"/>
            <a:r>
              <a:rPr sz="1100" b="0" i="0">
                <a:solidFill>
                  <a:srgbClr val="333333"/>
                </a:solidFill>
              </a:rPr>
              <a:t>candidate</a:t>
            </a:r>
          </a:p>
        </p:txBody>
      </p:sp>
      <p:sp>
        <p:nvSpPr>
          <p:cNvPr id="61" name="Rectangle 60"/>
          <p:cNvSpPr/>
          <p:nvPr/>
        </p:nvSpPr>
        <p:spPr>
          <a:xfrm>
            <a:off x="8915400" y="3758184"/>
            <a:ext cx="1417320" cy="47548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70264" y="3849624"/>
            <a:ext cx="1325880" cy="347472"/>
          </a:xfrm>
          <a:prstGeom prst="rect">
            <a:avLst/>
          </a:prstGeom>
          <a:noFill/>
        </p:spPr>
        <p:txBody>
          <a:bodyPr wrap="square">
            <a:spAutoFit/>
          </a:bodyPr>
          <a:lstStyle/>
          <a:p>
            <a:pPr algn="ctr"/>
            <a:r>
              <a:rPr sz="1100" b="0" i="0">
                <a:solidFill>
                  <a:srgbClr val="333333"/>
                </a:solidFill>
              </a:rPr>
              <a:t>2024-11-03</a:t>
            </a:r>
          </a:p>
        </p:txBody>
      </p:sp>
      <p:sp>
        <p:nvSpPr>
          <p:cNvPr id="63" name="Rectangle 62"/>
          <p:cNvSpPr/>
          <p:nvPr/>
        </p:nvSpPr>
        <p:spPr>
          <a:xfrm>
            <a:off x="502920" y="4754880"/>
            <a:ext cx="11155680" cy="82296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7512" y="4846320"/>
            <a:ext cx="1554480" cy="713232"/>
          </a:xfrm>
          <a:prstGeom prst="rect">
            <a:avLst/>
          </a:prstGeom>
          <a:noFill/>
        </p:spPr>
        <p:txBody>
          <a:bodyPr wrap="square">
            <a:spAutoFit/>
          </a:bodyPr>
          <a:lstStyle/>
          <a:p>
            <a:pPr algn="l"/>
            <a:r>
              <a:rPr sz="1300" b="1" i="0">
                <a:solidFill>
                  <a:srgbClr val="926000"/>
                </a:solidFill>
              </a:rPr>
              <a:t>ANALOGY:</a:t>
            </a:r>
          </a:p>
        </p:txBody>
      </p:sp>
      <p:sp>
        <p:nvSpPr>
          <p:cNvPr id="65" name="TextBox 64"/>
          <p:cNvSpPr txBox="1"/>
          <p:nvPr/>
        </p:nvSpPr>
        <p:spPr>
          <a:xfrm>
            <a:off x="2057400" y="4846320"/>
            <a:ext cx="9436608" cy="713232"/>
          </a:xfrm>
          <a:prstGeom prst="rect">
            <a:avLst/>
          </a:prstGeom>
          <a:noFill/>
        </p:spPr>
        <p:txBody>
          <a:bodyPr wrap="square">
            <a:spAutoFit/>
          </a:bodyPr>
          <a:lstStyle/>
          <a:p>
            <a:pPr algn="l"/>
            <a:r>
              <a:rPr sz="1300" b="0" i="0">
                <a:solidFill>
                  <a:srgbClr val="333333"/>
                </a:solidFill>
              </a:rPr>
              <a:t>Database = filing cabinet. Each table = a drawer. Each row = one folder. Each column = a labelled section in the folder. Search, sort, filter any data instantly.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Supabase — The Database We Use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94360"/>
          </a:xfrm>
          <a:prstGeom prst="rect">
            <a:avLst/>
          </a:prstGeom>
          <a:noFill/>
        </p:spPr>
        <p:txBody>
          <a:bodyPr wrap="square">
            <a:spAutoFit/>
          </a:bodyPr>
          <a:lstStyle/>
          <a:p>
            <a:pPr algn="l"/>
            <a:r>
              <a:rPr sz="1600" b="0" i="0">
                <a:solidFill>
                  <a:srgbClr val="333333"/>
                </a:solidFill>
              </a:rPr>
              <a:t>PostgreSQL is the world's most popular database. Normally setting it up needs a server, installs, security config, backups — weeks of work. Supabase does all of that for you.</a:t>
            </a:r>
          </a:p>
        </p:txBody>
      </p:sp>
      <p:sp>
        <p:nvSpPr>
          <p:cNvPr id="6" name="Rectangle 5"/>
          <p:cNvSpPr/>
          <p:nvPr/>
        </p:nvSpPr>
        <p:spPr>
          <a:xfrm>
            <a:off x="502920" y="1965960"/>
            <a:ext cx="11155680" cy="91440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1554480" cy="804672"/>
          </a:xfrm>
          <a:prstGeom prst="rect">
            <a:avLst/>
          </a:prstGeom>
          <a:noFill/>
        </p:spPr>
        <p:txBody>
          <a:bodyPr wrap="square">
            <a:spAutoFit/>
          </a:bodyPr>
          <a:lstStyle/>
          <a:p>
            <a:pPr algn="l"/>
            <a:r>
              <a:rPr sz="1300" b="1" i="0">
                <a:solidFill>
                  <a:srgbClr val="926000"/>
                </a:solidFill>
              </a:rPr>
              <a:t>ANALOGY:</a:t>
            </a:r>
          </a:p>
        </p:txBody>
      </p:sp>
      <p:sp>
        <p:nvSpPr>
          <p:cNvPr id="8" name="TextBox 7"/>
          <p:cNvSpPr txBox="1"/>
          <p:nvPr/>
        </p:nvSpPr>
        <p:spPr>
          <a:xfrm>
            <a:off x="2057400" y="2057400"/>
            <a:ext cx="9436608" cy="804672"/>
          </a:xfrm>
          <a:prstGeom prst="rect">
            <a:avLst/>
          </a:prstGeom>
          <a:noFill/>
        </p:spPr>
        <p:txBody>
          <a:bodyPr wrap="square">
            <a:spAutoFit/>
          </a:bodyPr>
          <a:lstStyle/>
          <a:p>
            <a:pPr algn="l"/>
            <a:r>
              <a:rPr sz="1300" b="0" i="0">
                <a:solidFill>
                  <a:srgbClr val="333333"/>
                </a:solidFill>
              </a:rPr>
              <a:t>Supabase is to databases what Gmail is to email servers. Running your own email server is complex. Gmail abstracts it — you just log in and send. Supabase: you just create a table and use it.</a:t>
            </a:r>
          </a:p>
        </p:txBody>
      </p:sp>
      <p:sp>
        <p:nvSpPr>
          <p:cNvPr id="9" name="Rectangle 8"/>
          <p:cNvSpPr/>
          <p:nvPr/>
        </p:nvSpPr>
        <p:spPr>
          <a:xfrm>
            <a:off x="502920" y="3063240"/>
            <a:ext cx="11155680" cy="4114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27248"/>
            <a:ext cx="10972800" cy="320040"/>
          </a:xfrm>
          <a:prstGeom prst="rect">
            <a:avLst/>
          </a:prstGeom>
          <a:noFill/>
        </p:spPr>
        <p:txBody>
          <a:bodyPr wrap="square">
            <a:spAutoFit/>
          </a:bodyPr>
          <a:lstStyle/>
          <a:p>
            <a:pPr algn="l"/>
            <a:r>
              <a:rPr sz="1400" b="1" i="0">
                <a:solidFill>
                  <a:srgbClr val="1B5E20"/>
                </a:solidFill>
              </a:rPr>
              <a:t>Supabase gives us:  Database  +  REST API to talk to it  +  Dashboard to view data  — zero server management</a:t>
            </a:r>
          </a:p>
        </p:txBody>
      </p:sp>
      <p:sp>
        <p:nvSpPr>
          <p:cNvPr id="11" name="Rectangle 10"/>
          <p:cNvSpPr/>
          <p:nvPr/>
        </p:nvSpPr>
        <p:spPr>
          <a:xfrm>
            <a:off x="502920" y="3611880"/>
            <a:ext cx="11155680" cy="118872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703320"/>
            <a:ext cx="10972800" cy="347472"/>
          </a:xfrm>
          <a:prstGeom prst="rect">
            <a:avLst/>
          </a:prstGeom>
          <a:noFill/>
        </p:spPr>
        <p:txBody>
          <a:bodyPr wrap="square">
            <a:spAutoFit/>
          </a:bodyPr>
          <a:lstStyle/>
          <a:p>
            <a:pPr algn="l"/>
            <a:r>
              <a:rPr sz="1400" b="1" i="0">
                <a:solidFill>
                  <a:srgbClr val="926000"/>
                </a:solidFill>
              </a:rPr>
              <a:t>⚠  FREE TIER WARNING</a:t>
            </a:r>
          </a:p>
        </p:txBody>
      </p:sp>
      <p:sp>
        <p:nvSpPr>
          <p:cNvPr id="13" name="TextBox 12"/>
          <p:cNvSpPr txBox="1"/>
          <p:nvPr/>
        </p:nvSpPr>
        <p:spPr>
          <a:xfrm>
            <a:off x="640080" y="4069080"/>
            <a:ext cx="10972800" cy="658368"/>
          </a:xfrm>
          <a:prstGeom prst="rect">
            <a:avLst/>
          </a:prstGeom>
          <a:noFill/>
        </p:spPr>
        <p:txBody>
          <a:bodyPr wrap="square">
            <a:spAutoFit/>
          </a:bodyPr>
          <a:lstStyle/>
          <a:p>
            <a:pPr algn="l"/>
            <a:r>
              <a:rPr sz="1300" b="0" i="0">
                <a:solidFill>
                  <a:srgbClr val="333333"/>
                </a:solidFill>
              </a:rPr>
              <a:t>Supabase free tier pauses the database after 7 days of no activity. If no one signs up for a week, the next visitor gets an error. Fix: log into Supabase dashboard → click Restore. Known trade-off of the free tier.</a:t>
            </a:r>
          </a:p>
        </p:txBody>
      </p:sp>
      <p:sp>
        <p:nvSpPr>
          <p:cNvPr id="14" name="Rectangle 13"/>
          <p:cNvSpPr/>
          <p:nvPr/>
        </p:nvSpPr>
        <p:spPr>
          <a:xfrm>
            <a:off x="502920" y="4937760"/>
            <a:ext cx="11155680" cy="86868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5029200"/>
            <a:ext cx="1554480" cy="758952"/>
          </a:xfrm>
          <a:prstGeom prst="rect">
            <a:avLst/>
          </a:prstGeom>
          <a:noFill/>
        </p:spPr>
        <p:txBody>
          <a:bodyPr wrap="square">
            <a:spAutoFit/>
          </a:bodyPr>
          <a:lstStyle/>
          <a:p>
            <a:pPr algn="l"/>
            <a:r>
              <a:rPr sz="1300" b="1" i="0">
                <a:solidFill>
                  <a:srgbClr val="4A147A"/>
                </a:solidFill>
              </a:rPr>
              <a:t>INTERVIEW:</a:t>
            </a:r>
          </a:p>
        </p:txBody>
      </p:sp>
      <p:sp>
        <p:nvSpPr>
          <p:cNvPr id="16" name="TextBox 15"/>
          <p:cNvSpPr txBox="1"/>
          <p:nvPr/>
        </p:nvSpPr>
        <p:spPr>
          <a:xfrm>
            <a:off x="2057400" y="5029200"/>
            <a:ext cx="9436608" cy="758952"/>
          </a:xfrm>
          <a:prstGeom prst="rect">
            <a:avLst/>
          </a:prstGeom>
          <a:noFill/>
        </p:spPr>
        <p:txBody>
          <a:bodyPr wrap="square">
            <a:spAutoFit/>
          </a:bodyPr>
          <a:lstStyle/>
          <a:p>
            <a:pPr algn="l"/>
            <a:r>
              <a:rPr sz="1300" b="0" i="0">
                <a:solidFill>
                  <a:srgbClr val="333333"/>
                </a:solidFill>
              </a:rPr>
              <a:t>I used Supabase as my database layer — hosted PostgreSQL with a JS client. Each signup inserts a row via their API. Free at this scale, zero server management, dashboard shows signups in real time.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Environment Variables — Keeping Secrets Safe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457200"/>
          </a:xfrm>
          <a:prstGeom prst="rect">
            <a:avLst/>
          </a:prstGeom>
          <a:noFill/>
        </p:spPr>
        <p:txBody>
          <a:bodyPr wrap="square">
            <a:spAutoFit/>
          </a:bodyPr>
          <a:lstStyle/>
          <a:p>
            <a:pPr algn="l"/>
            <a:r>
              <a:rPr sz="1600" b="0" i="0">
                <a:solidFill>
                  <a:srgbClr val="333333"/>
                </a:solidFill>
              </a:rPr>
              <a:t>Every service we use gives us a secret API key — like a password. If it's in our code on GitHub, anyone can steal it.</a:t>
            </a:r>
          </a:p>
        </p:txBody>
      </p:sp>
      <p:sp>
        <p:nvSpPr>
          <p:cNvPr id="6" name="Rectangle 5"/>
          <p:cNvSpPr/>
          <p:nvPr/>
        </p:nvSpPr>
        <p:spPr>
          <a:xfrm>
            <a:off x="502920" y="1828800"/>
            <a:ext cx="5212080" cy="192024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4937760" cy="384048"/>
          </a:xfrm>
          <a:prstGeom prst="rect">
            <a:avLst/>
          </a:prstGeom>
          <a:noFill/>
        </p:spPr>
        <p:txBody>
          <a:bodyPr wrap="square">
            <a:spAutoFit/>
          </a:bodyPr>
          <a:lstStyle/>
          <a:p>
            <a:pPr algn="l"/>
            <a:r>
              <a:rPr sz="1600" b="1" i="0">
                <a:solidFill>
                  <a:srgbClr val="4A147A"/>
                </a:solidFill>
              </a:rPr>
              <a:t>❌  Wrong way</a:t>
            </a:r>
          </a:p>
        </p:txBody>
      </p:sp>
      <p:sp>
        <p:nvSpPr>
          <p:cNvPr id="8" name="TextBox 7"/>
          <p:cNvSpPr txBox="1"/>
          <p:nvPr/>
        </p:nvSpPr>
        <p:spPr>
          <a:xfrm>
            <a:off x="640080" y="2331720"/>
            <a:ext cx="4937760" cy="1280160"/>
          </a:xfrm>
          <a:prstGeom prst="rect">
            <a:avLst/>
          </a:prstGeom>
          <a:noFill/>
        </p:spPr>
        <p:txBody>
          <a:bodyPr wrap="square">
            <a:spAutoFit/>
          </a:bodyPr>
          <a:lstStyle/>
          <a:p>
            <a:pPr algn="l"/>
            <a:r>
              <a:rPr sz="1200" b="0" i="0">
                <a:solidFill>
                  <a:srgbClr val="333333"/>
                </a:solidFill>
              </a:rPr>
              <a:t>const key = "re_abc123secret"
// This is in your code
// GitHub = public = anyone sees it
// They can send emails as you!</a:t>
            </a:r>
          </a:p>
        </p:txBody>
      </p:sp>
      <p:sp>
        <p:nvSpPr>
          <p:cNvPr id="9" name="Rectangle 8"/>
          <p:cNvSpPr/>
          <p:nvPr/>
        </p:nvSpPr>
        <p:spPr>
          <a:xfrm>
            <a:off x="6309360" y="1828800"/>
            <a:ext cx="5212080" cy="19202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4937760" cy="384048"/>
          </a:xfrm>
          <a:prstGeom prst="rect">
            <a:avLst/>
          </a:prstGeom>
          <a:noFill/>
        </p:spPr>
        <p:txBody>
          <a:bodyPr wrap="square">
            <a:spAutoFit/>
          </a:bodyPr>
          <a:lstStyle/>
          <a:p>
            <a:pPr algn="l"/>
            <a:r>
              <a:rPr sz="1600" b="1" i="0">
                <a:solidFill>
                  <a:srgbClr val="1B5E20"/>
                </a:solidFill>
              </a:rPr>
              <a:t>✓  Right way</a:t>
            </a:r>
          </a:p>
        </p:txBody>
      </p:sp>
      <p:sp>
        <p:nvSpPr>
          <p:cNvPr id="11" name="TextBox 10"/>
          <p:cNvSpPr txBox="1"/>
          <p:nvPr/>
        </p:nvSpPr>
        <p:spPr>
          <a:xfrm>
            <a:off x="6446520" y="2331720"/>
            <a:ext cx="4937760" cy="1280160"/>
          </a:xfrm>
          <a:prstGeom prst="rect">
            <a:avLst/>
          </a:prstGeom>
          <a:noFill/>
        </p:spPr>
        <p:txBody>
          <a:bodyPr wrap="square">
            <a:spAutoFit/>
          </a:bodyPr>
          <a:lstStyle/>
          <a:p>
            <a:pPr algn="l"/>
            <a:r>
              <a:rPr sz="1200" b="0" i="0">
                <a:solidFill>
                  <a:srgbClr val="333333"/>
                </a:solidFill>
              </a:rPr>
              <a:t>const key = process.env.RESEND_API_KEY
// Code just says "look this up"
// Actual value stored in Vercel settings
// Never in code, never on GitHub</a:t>
            </a:r>
          </a:p>
        </p:txBody>
      </p:sp>
      <p:sp>
        <p:nvSpPr>
          <p:cNvPr id="12" name="TextBox 11"/>
          <p:cNvSpPr txBox="1"/>
          <p:nvPr/>
        </p:nvSpPr>
        <p:spPr>
          <a:xfrm>
            <a:off x="502920" y="3931920"/>
            <a:ext cx="11155680" cy="365760"/>
          </a:xfrm>
          <a:prstGeom prst="rect">
            <a:avLst/>
          </a:prstGeom>
          <a:noFill/>
        </p:spPr>
        <p:txBody>
          <a:bodyPr wrap="square">
            <a:spAutoFit/>
          </a:bodyPr>
          <a:lstStyle/>
          <a:p>
            <a:pPr algn="l"/>
            <a:r>
              <a:rPr sz="1400" b="1" i="0">
                <a:solidFill>
                  <a:srgbClr val="1A1A2E"/>
                </a:solidFill>
              </a:rPr>
              <a:t>Our environment variables stored in Vercel:</a:t>
            </a:r>
          </a:p>
        </p:txBody>
      </p:sp>
      <p:sp>
        <p:nvSpPr>
          <p:cNvPr id="13" name="Rectangle 12"/>
          <p:cNvSpPr/>
          <p:nvPr/>
        </p:nvSpPr>
        <p:spPr>
          <a:xfrm>
            <a:off x="502920" y="4343400"/>
            <a:ext cx="11155680" cy="39319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407408"/>
            <a:ext cx="10789920" cy="320040"/>
          </a:xfrm>
          <a:prstGeom prst="rect">
            <a:avLst/>
          </a:prstGeom>
          <a:noFill/>
        </p:spPr>
        <p:txBody>
          <a:bodyPr wrap="square">
            <a:spAutoFit/>
          </a:bodyPr>
          <a:lstStyle/>
          <a:p>
            <a:pPr algn="l"/>
            <a:r>
              <a:rPr sz="1200" b="0" i="0">
                <a:solidFill>
                  <a:srgbClr val="0F3D5C"/>
                </a:solidFill>
              </a:rPr>
              <a:t>NEXT_PUBLIC_SUPABASE_URL       — address of our Supabase database</a:t>
            </a:r>
          </a:p>
        </p:txBody>
      </p:sp>
      <p:sp>
        <p:nvSpPr>
          <p:cNvPr id="15" name="Rectangle 14"/>
          <p:cNvSpPr/>
          <p:nvPr/>
        </p:nvSpPr>
        <p:spPr>
          <a:xfrm>
            <a:off x="502920" y="4764024"/>
            <a:ext cx="11155680" cy="39319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828032"/>
            <a:ext cx="10789920" cy="320040"/>
          </a:xfrm>
          <a:prstGeom prst="rect">
            <a:avLst/>
          </a:prstGeom>
          <a:noFill/>
        </p:spPr>
        <p:txBody>
          <a:bodyPr wrap="square">
            <a:spAutoFit/>
          </a:bodyPr>
          <a:lstStyle/>
          <a:p>
            <a:pPr algn="l"/>
            <a:r>
              <a:rPr sz="1200" b="0" i="0">
                <a:solidFill>
                  <a:srgbClr val="333333"/>
                </a:solidFill>
              </a:rPr>
              <a:t>NEXT_PUBLIC_SUPABASE_ANON_KEY  — public key for Supabase</a:t>
            </a:r>
          </a:p>
        </p:txBody>
      </p:sp>
      <p:sp>
        <p:nvSpPr>
          <p:cNvPr id="17" name="Rectangle 16"/>
          <p:cNvSpPr/>
          <p:nvPr/>
        </p:nvSpPr>
        <p:spPr>
          <a:xfrm>
            <a:off x="502920" y="5184648"/>
            <a:ext cx="11155680" cy="39319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248656"/>
            <a:ext cx="10789920" cy="320040"/>
          </a:xfrm>
          <a:prstGeom prst="rect">
            <a:avLst/>
          </a:prstGeom>
          <a:noFill/>
        </p:spPr>
        <p:txBody>
          <a:bodyPr wrap="square">
            <a:spAutoFit/>
          </a:bodyPr>
          <a:lstStyle/>
          <a:p>
            <a:pPr algn="l"/>
            <a:r>
              <a:rPr sz="1200" b="0" i="0">
                <a:solidFill>
                  <a:srgbClr val="0F3D5C"/>
                </a:solidFill>
              </a:rPr>
              <a:t>RESEND_API_KEY                 — secret key for Resend (server only, never in browser)</a:t>
            </a:r>
          </a:p>
        </p:txBody>
      </p:sp>
      <p:sp>
        <p:nvSpPr>
          <p:cNvPr id="19" name="Rectangle 18"/>
          <p:cNvSpPr/>
          <p:nvPr/>
        </p:nvSpPr>
        <p:spPr>
          <a:xfrm>
            <a:off x="502920" y="5605272"/>
            <a:ext cx="11155680" cy="39319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669280"/>
            <a:ext cx="10789920" cy="320040"/>
          </a:xfrm>
          <a:prstGeom prst="rect">
            <a:avLst/>
          </a:prstGeom>
          <a:noFill/>
        </p:spPr>
        <p:txBody>
          <a:bodyPr wrap="square">
            <a:spAutoFit/>
          </a:bodyPr>
          <a:lstStyle/>
          <a:p>
            <a:pPr algn="l"/>
            <a:r>
              <a:rPr sz="1200" b="0" i="0">
                <a:solidFill>
                  <a:srgbClr val="333333"/>
                </a:solidFill>
              </a:rPr>
              <a:t>NEXT_PUBLIC_GA_ID              — Google Analytics ID</a:t>
            </a:r>
          </a:p>
        </p:txBody>
      </p:sp>
      <p:sp>
        <p:nvSpPr>
          <p:cNvPr id="21" name="Rectangle 20"/>
          <p:cNvSpPr/>
          <p:nvPr/>
        </p:nvSpPr>
        <p:spPr>
          <a:xfrm>
            <a:off x="502920" y="6025896"/>
            <a:ext cx="11155680" cy="39319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6089904"/>
            <a:ext cx="10789920" cy="320040"/>
          </a:xfrm>
          <a:prstGeom prst="rect">
            <a:avLst/>
          </a:prstGeom>
          <a:noFill/>
        </p:spPr>
        <p:txBody>
          <a:bodyPr wrap="square">
            <a:spAutoFit/>
          </a:bodyPr>
          <a:lstStyle/>
          <a:p>
            <a:pPr algn="l"/>
            <a:r>
              <a:rPr sz="1200" b="0" i="0">
                <a:solidFill>
                  <a:srgbClr val="0F3D5C"/>
                </a:solidFill>
              </a:rPr>
              <a:t>NEXT_PUBLIC_CLARITY_ID         — Microsoft Clarity ID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Email Setup</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How Resend sends notifications from hello@theconnek.com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Resend — What It Does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48640"/>
          </a:xfrm>
          <a:prstGeom prst="rect">
            <a:avLst/>
          </a:prstGeom>
          <a:noFill/>
        </p:spPr>
        <p:txBody>
          <a:bodyPr wrap="square">
            <a:spAutoFit/>
          </a:bodyPr>
          <a:lstStyle/>
          <a:p>
            <a:pPr algn="l"/>
            <a:r>
              <a:rPr sz="1700" b="0" i="0">
                <a:solidFill>
                  <a:srgbClr val="333333"/>
                </a:solidFill>
              </a:rPr>
              <a:t>Every time someone joins the waitlist, you receive an email notification automatically. It arrives from hello@theconnek.com within seconds.</a:t>
            </a:r>
          </a:p>
        </p:txBody>
      </p:sp>
      <p:sp>
        <p:nvSpPr>
          <p:cNvPr id="6" name="Rectangle 5"/>
          <p:cNvSpPr/>
          <p:nvPr/>
        </p:nvSpPr>
        <p:spPr>
          <a:xfrm>
            <a:off x="502920" y="1920240"/>
            <a:ext cx="11155680" cy="13716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10789920" cy="347472"/>
          </a:xfrm>
          <a:prstGeom prst="rect">
            <a:avLst/>
          </a:prstGeom>
          <a:noFill/>
        </p:spPr>
        <p:txBody>
          <a:bodyPr wrap="square">
            <a:spAutoFit/>
          </a:bodyPr>
          <a:lstStyle/>
          <a:p>
            <a:pPr algn="l"/>
            <a:r>
              <a:rPr sz="1300" b="1" i="0">
                <a:solidFill>
                  <a:srgbClr val="1B5E20"/>
                </a:solidFill>
              </a:rPr>
              <a:t>Sample notification email you receive:</a:t>
            </a:r>
          </a:p>
        </p:txBody>
      </p:sp>
      <p:sp>
        <p:nvSpPr>
          <p:cNvPr id="8" name="TextBox 7"/>
          <p:cNvSpPr txBox="1"/>
          <p:nvPr/>
        </p:nvSpPr>
        <p:spPr>
          <a:xfrm>
            <a:off x="640080" y="2395728"/>
            <a:ext cx="10789920" cy="804672"/>
          </a:xfrm>
          <a:prstGeom prst="rect">
            <a:avLst/>
          </a:prstGeom>
          <a:noFill/>
        </p:spPr>
        <p:txBody>
          <a:bodyPr wrap="square">
            <a:spAutoFit/>
          </a:bodyPr>
          <a:lstStyle/>
          <a:p>
            <a:pPr algn="l"/>
            <a:r>
              <a:rPr sz="1300" b="0" i="0">
                <a:solidFill>
                  <a:srgbClr val="333333"/>
                </a:solidFill>
              </a:rPr>
              <a:t>From: hello@theconnek.com
Subject: New Connek Signup — Priya Sharma
Body: Name: Priya Sharma | Email: priya@example.com | College: IIT Jodhpur | Role: Consulting | Type: Candidate</a:t>
            </a:r>
          </a:p>
        </p:txBody>
      </p:sp>
      <p:sp>
        <p:nvSpPr>
          <p:cNvPr id="9" name="TextBox 8"/>
          <p:cNvSpPr txBox="1"/>
          <p:nvPr/>
        </p:nvSpPr>
        <p:spPr>
          <a:xfrm>
            <a:off x="502920" y="3474720"/>
            <a:ext cx="11155680" cy="384048"/>
          </a:xfrm>
          <a:prstGeom prst="rect">
            <a:avLst/>
          </a:prstGeom>
          <a:noFill/>
        </p:spPr>
        <p:txBody>
          <a:bodyPr wrap="square">
            <a:spAutoFit/>
          </a:bodyPr>
          <a:lstStyle/>
          <a:p>
            <a:pPr algn="l"/>
            <a:r>
              <a:rPr sz="1600" b="1" i="0">
                <a:solidFill>
                  <a:srgbClr val="1A1A2E"/>
                </a:solidFill>
              </a:rPr>
              <a:t>Why not just use Gmail?</a:t>
            </a:r>
          </a:p>
        </p:txBody>
      </p:sp>
      <p:sp>
        <p:nvSpPr>
          <p:cNvPr id="10" name="Rectangle 9"/>
          <p:cNvSpPr/>
          <p:nvPr/>
        </p:nvSpPr>
        <p:spPr>
          <a:xfrm>
            <a:off x="502920" y="3931920"/>
            <a:ext cx="11155680"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995928"/>
            <a:ext cx="2286000" cy="347472"/>
          </a:xfrm>
          <a:prstGeom prst="rect">
            <a:avLst/>
          </a:prstGeom>
          <a:noFill/>
        </p:spPr>
        <p:txBody>
          <a:bodyPr wrap="square">
            <a:spAutoFit/>
          </a:bodyPr>
          <a:lstStyle/>
          <a:p>
            <a:pPr algn="l"/>
            <a:r>
              <a:rPr sz="1300" b="1" i="0">
                <a:solidFill>
                  <a:srgbClr val="0D47A1"/>
                </a:solidFill>
              </a:rPr>
              <a:t>Gmail limit</a:t>
            </a:r>
          </a:p>
        </p:txBody>
      </p:sp>
      <p:sp>
        <p:nvSpPr>
          <p:cNvPr id="12" name="TextBox 11"/>
          <p:cNvSpPr txBox="1"/>
          <p:nvPr/>
        </p:nvSpPr>
        <p:spPr>
          <a:xfrm>
            <a:off x="3017520" y="3995928"/>
            <a:ext cx="8503920" cy="347472"/>
          </a:xfrm>
          <a:prstGeom prst="rect">
            <a:avLst/>
          </a:prstGeom>
          <a:noFill/>
        </p:spPr>
        <p:txBody>
          <a:bodyPr wrap="square">
            <a:spAutoFit/>
          </a:bodyPr>
          <a:lstStyle/>
          <a:p>
            <a:pPr algn="l"/>
            <a:r>
              <a:rPr sz="1300" b="0" i="0">
                <a:solidFill>
                  <a:srgbClr val="333333"/>
                </a:solidFill>
              </a:rPr>
              <a:t>~500 emails/day max. Resend handles unlimited volume.</a:t>
            </a:r>
          </a:p>
        </p:txBody>
      </p:sp>
      <p:sp>
        <p:nvSpPr>
          <p:cNvPr id="13" name="Rectangle 12"/>
          <p:cNvSpPr/>
          <p:nvPr/>
        </p:nvSpPr>
        <p:spPr>
          <a:xfrm>
            <a:off x="502920" y="4407408"/>
            <a:ext cx="11155680" cy="43891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471416"/>
            <a:ext cx="2286000" cy="347472"/>
          </a:xfrm>
          <a:prstGeom prst="rect">
            <a:avLst/>
          </a:prstGeom>
          <a:noFill/>
        </p:spPr>
        <p:txBody>
          <a:bodyPr wrap="square">
            <a:spAutoFit/>
          </a:bodyPr>
          <a:lstStyle/>
          <a:p>
            <a:pPr algn="l"/>
            <a:r>
              <a:rPr sz="1300" b="1" i="0">
                <a:solidFill>
                  <a:srgbClr val="333333"/>
                </a:solidFill>
              </a:rPr>
              <a:t>Spam problem</a:t>
            </a:r>
          </a:p>
        </p:txBody>
      </p:sp>
      <p:sp>
        <p:nvSpPr>
          <p:cNvPr id="15" name="TextBox 14"/>
          <p:cNvSpPr txBox="1"/>
          <p:nvPr/>
        </p:nvSpPr>
        <p:spPr>
          <a:xfrm>
            <a:off x="3017520" y="4471416"/>
            <a:ext cx="8503920" cy="347472"/>
          </a:xfrm>
          <a:prstGeom prst="rect">
            <a:avLst/>
          </a:prstGeom>
          <a:noFill/>
        </p:spPr>
        <p:txBody>
          <a:bodyPr wrap="square">
            <a:spAutoFit/>
          </a:bodyPr>
          <a:lstStyle/>
          <a:p>
            <a:pPr algn="l"/>
            <a:r>
              <a:rPr sz="1300" b="0" i="0">
                <a:solidFill>
                  <a:srgbClr val="333333"/>
                </a:solidFill>
              </a:rPr>
              <a:t>Programmatic Gmail often lands in spam. Resend has high deliverability.</a:t>
            </a:r>
          </a:p>
        </p:txBody>
      </p:sp>
      <p:sp>
        <p:nvSpPr>
          <p:cNvPr id="16" name="Rectangle 15"/>
          <p:cNvSpPr/>
          <p:nvPr/>
        </p:nvSpPr>
        <p:spPr>
          <a:xfrm>
            <a:off x="502920" y="4882896"/>
            <a:ext cx="11155680"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946904"/>
            <a:ext cx="2286000" cy="347472"/>
          </a:xfrm>
          <a:prstGeom prst="rect">
            <a:avLst/>
          </a:prstGeom>
          <a:noFill/>
        </p:spPr>
        <p:txBody>
          <a:bodyPr wrap="square">
            <a:spAutoFit/>
          </a:bodyPr>
          <a:lstStyle/>
          <a:p>
            <a:pPr algn="l"/>
            <a:r>
              <a:rPr sz="1300" b="1" i="0">
                <a:solidFill>
                  <a:srgbClr val="0D47A1"/>
                </a:solidFill>
              </a:rPr>
              <a:t>Domain branding</a:t>
            </a:r>
          </a:p>
        </p:txBody>
      </p:sp>
      <p:sp>
        <p:nvSpPr>
          <p:cNvPr id="18" name="TextBox 17"/>
          <p:cNvSpPr txBox="1"/>
          <p:nvPr/>
        </p:nvSpPr>
        <p:spPr>
          <a:xfrm>
            <a:off x="3017520" y="4946904"/>
            <a:ext cx="8503920" cy="347472"/>
          </a:xfrm>
          <a:prstGeom prst="rect">
            <a:avLst/>
          </a:prstGeom>
          <a:noFill/>
        </p:spPr>
        <p:txBody>
          <a:bodyPr wrap="square">
            <a:spAutoFit/>
          </a:bodyPr>
          <a:lstStyle/>
          <a:p>
            <a:pPr algn="l"/>
            <a:r>
              <a:rPr sz="1300" b="0" i="0">
                <a:solidFill>
                  <a:srgbClr val="333333"/>
                </a:solidFill>
              </a:rPr>
              <a:t>Gmail sends from your@gmail.com. Resend sends from hello@theconnek.com.</a:t>
            </a:r>
          </a:p>
        </p:txBody>
      </p:sp>
      <p:sp>
        <p:nvSpPr>
          <p:cNvPr id="19" name="Rectangle 18"/>
          <p:cNvSpPr/>
          <p:nvPr/>
        </p:nvSpPr>
        <p:spPr>
          <a:xfrm>
            <a:off x="502920" y="5358384"/>
            <a:ext cx="11155680" cy="43891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22392"/>
            <a:ext cx="2286000" cy="347472"/>
          </a:xfrm>
          <a:prstGeom prst="rect">
            <a:avLst/>
          </a:prstGeom>
          <a:noFill/>
        </p:spPr>
        <p:txBody>
          <a:bodyPr wrap="square">
            <a:spAutoFit/>
          </a:bodyPr>
          <a:lstStyle/>
          <a:p>
            <a:pPr algn="l"/>
            <a:r>
              <a:rPr sz="1300" b="1" i="0">
                <a:solidFill>
                  <a:srgbClr val="333333"/>
                </a:solidFill>
              </a:rPr>
              <a:t>Simple API</a:t>
            </a:r>
          </a:p>
        </p:txBody>
      </p:sp>
      <p:sp>
        <p:nvSpPr>
          <p:cNvPr id="21" name="TextBox 20"/>
          <p:cNvSpPr txBox="1"/>
          <p:nvPr/>
        </p:nvSpPr>
        <p:spPr>
          <a:xfrm>
            <a:off x="3017520" y="5422392"/>
            <a:ext cx="8503920" cy="347472"/>
          </a:xfrm>
          <a:prstGeom prst="rect">
            <a:avLst/>
          </a:prstGeom>
          <a:noFill/>
        </p:spPr>
        <p:txBody>
          <a:bodyPr wrap="square">
            <a:spAutoFit/>
          </a:bodyPr>
          <a:lstStyle/>
          <a:p>
            <a:pPr algn="l"/>
            <a:r>
              <a:rPr sz="1300" b="0" i="0">
                <a:solidFill>
                  <a:srgbClr val="333333"/>
                </a:solidFill>
              </a:rPr>
              <a:t>One function call: To, From, Subject, HTML body. Done.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Email Setup — Step by Step</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98448"/>
            <a:ext cx="1097280" cy="80467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08176"/>
            <a:ext cx="1097280" cy="603504"/>
          </a:xfrm>
          <a:prstGeom prst="rect">
            <a:avLst/>
          </a:prstGeom>
          <a:noFill/>
        </p:spPr>
        <p:txBody>
          <a:bodyPr wrap="square">
            <a:spAutoFit/>
          </a:bodyPr>
          <a:lstStyle/>
          <a:p>
            <a:pPr algn="ctr"/>
            <a:r>
              <a:rPr sz="1300" b="1" i="0">
                <a:solidFill>
                  <a:srgbClr val="FFFFFF"/>
                </a:solidFill>
              </a:rPr>
              <a:t>Step 1</a:t>
            </a:r>
          </a:p>
        </p:txBody>
      </p:sp>
      <p:sp>
        <p:nvSpPr>
          <p:cNvPr id="7" name="Rectangle 6"/>
          <p:cNvSpPr/>
          <p:nvPr/>
        </p:nvSpPr>
        <p:spPr>
          <a:xfrm>
            <a:off x="1554480" y="1298448"/>
            <a:ext cx="10058400" cy="8046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1344168"/>
            <a:ext cx="9784080" cy="320040"/>
          </a:xfrm>
          <a:prstGeom prst="rect">
            <a:avLst/>
          </a:prstGeom>
          <a:noFill/>
        </p:spPr>
        <p:txBody>
          <a:bodyPr wrap="square">
            <a:spAutoFit/>
          </a:bodyPr>
          <a:lstStyle/>
          <a:p>
            <a:pPr algn="l"/>
            <a:r>
              <a:rPr sz="1400" b="1" i="0">
                <a:solidFill>
                  <a:srgbClr val="0D47A1"/>
                </a:solidFill>
              </a:rPr>
              <a:t>Create a Resend account</a:t>
            </a:r>
          </a:p>
        </p:txBody>
      </p:sp>
      <p:sp>
        <p:nvSpPr>
          <p:cNvPr id="9" name="TextBox 8"/>
          <p:cNvSpPr txBox="1"/>
          <p:nvPr/>
        </p:nvSpPr>
        <p:spPr>
          <a:xfrm>
            <a:off x="1691640" y="1700784"/>
            <a:ext cx="9784080" cy="347472"/>
          </a:xfrm>
          <a:prstGeom prst="rect">
            <a:avLst/>
          </a:prstGeom>
          <a:noFill/>
        </p:spPr>
        <p:txBody>
          <a:bodyPr wrap="square">
            <a:spAutoFit/>
          </a:bodyPr>
          <a:lstStyle/>
          <a:p>
            <a:pPr algn="l"/>
            <a:r>
              <a:rPr sz="1200" b="0" i="0">
                <a:solidFill>
                  <a:srgbClr val="333333"/>
                </a:solidFill>
              </a:rPr>
              <a:t>Go to resend.com, sign up for a free account.</a:t>
            </a:r>
          </a:p>
        </p:txBody>
      </p:sp>
      <p:sp>
        <p:nvSpPr>
          <p:cNvPr id="10" name="Rectangle 9"/>
          <p:cNvSpPr/>
          <p:nvPr/>
        </p:nvSpPr>
        <p:spPr>
          <a:xfrm>
            <a:off x="365760" y="2212848"/>
            <a:ext cx="1097280" cy="80467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322576"/>
            <a:ext cx="1097280" cy="603504"/>
          </a:xfrm>
          <a:prstGeom prst="rect">
            <a:avLst/>
          </a:prstGeom>
          <a:noFill/>
        </p:spPr>
        <p:txBody>
          <a:bodyPr wrap="square">
            <a:spAutoFit/>
          </a:bodyPr>
          <a:lstStyle/>
          <a:p>
            <a:pPr algn="ctr"/>
            <a:r>
              <a:rPr sz="1300" b="1" i="0">
                <a:solidFill>
                  <a:srgbClr val="FFFFFF"/>
                </a:solidFill>
              </a:rPr>
              <a:t>Step 2</a:t>
            </a:r>
          </a:p>
        </p:txBody>
      </p:sp>
      <p:sp>
        <p:nvSpPr>
          <p:cNvPr id="12" name="Rectangle 11"/>
          <p:cNvSpPr/>
          <p:nvPr/>
        </p:nvSpPr>
        <p:spPr>
          <a:xfrm>
            <a:off x="1554480" y="2212848"/>
            <a:ext cx="1005840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2258568"/>
            <a:ext cx="9784080" cy="320040"/>
          </a:xfrm>
          <a:prstGeom prst="rect">
            <a:avLst/>
          </a:prstGeom>
          <a:noFill/>
        </p:spPr>
        <p:txBody>
          <a:bodyPr wrap="square">
            <a:spAutoFit/>
          </a:bodyPr>
          <a:lstStyle/>
          <a:p>
            <a:pPr algn="l"/>
            <a:r>
              <a:rPr sz="1400" b="1" i="0">
                <a:solidFill>
                  <a:srgbClr val="1A1A2E"/>
                </a:solidFill>
              </a:rPr>
              <a:t>Add &amp; verify your domain</a:t>
            </a:r>
          </a:p>
        </p:txBody>
      </p:sp>
      <p:sp>
        <p:nvSpPr>
          <p:cNvPr id="14" name="TextBox 13"/>
          <p:cNvSpPr txBox="1"/>
          <p:nvPr/>
        </p:nvSpPr>
        <p:spPr>
          <a:xfrm>
            <a:off x="1691640" y="2615184"/>
            <a:ext cx="9784080" cy="347472"/>
          </a:xfrm>
          <a:prstGeom prst="rect">
            <a:avLst/>
          </a:prstGeom>
          <a:noFill/>
        </p:spPr>
        <p:txBody>
          <a:bodyPr wrap="square">
            <a:spAutoFit/>
          </a:bodyPr>
          <a:lstStyle/>
          <a:p>
            <a:pPr algn="l"/>
            <a:r>
              <a:rPr sz="1200" b="0" i="0">
                <a:solidFill>
                  <a:srgbClr val="333333"/>
                </a:solidFill>
              </a:rPr>
              <a:t>In Resend dashboard, add theconnek.com. Resend gives you DKIM + SPF records to paste into your domain's DNS settings.</a:t>
            </a:r>
          </a:p>
        </p:txBody>
      </p:sp>
      <p:sp>
        <p:nvSpPr>
          <p:cNvPr id="15" name="Rectangle 14"/>
          <p:cNvSpPr/>
          <p:nvPr/>
        </p:nvSpPr>
        <p:spPr>
          <a:xfrm>
            <a:off x="365760" y="3127248"/>
            <a:ext cx="1097280" cy="80467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236976"/>
            <a:ext cx="1097280" cy="603504"/>
          </a:xfrm>
          <a:prstGeom prst="rect">
            <a:avLst/>
          </a:prstGeom>
          <a:noFill/>
        </p:spPr>
        <p:txBody>
          <a:bodyPr wrap="square">
            <a:spAutoFit/>
          </a:bodyPr>
          <a:lstStyle/>
          <a:p>
            <a:pPr algn="ctr"/>
            <a:r>
              <a:rPr sz="1300" b="1" i="0">
                <a:solidFill>
                  <a:srgbClr val="FFFFFF"/>
                </a:solidFill>
              </a:rPr>
              <a:t>Step 3</a:t>
            </a:r>
          </a:p>
        </p:txBody>
      </p:sp>
      <p:sp>
        <p:nvSpPr>
          <p:cNvPr id="17" name="Rectangle 16"/>
          <p:cNvSpPr/>
          <p:nvPr/>
        </p:nvSpPr>
        <p:spPr>
          <a:xfrm>
            <a:off x="1554480" y="3127248"/>
            <a:ext cx="10058400" cy="8046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91640" y="3172968"/>
            <a:ext cx="9784080" cy="320040"/>
          </a:xfrm>
          <a:prstGeom prst="rect">
            <a:avLst/>
          </a:prstGeom>
          <a:noFill/>
        </p:spPr>
        <p:txBody>
          <a:bodyPr wrap="square">
            <a:spAutoFit/>
          </a:bodyPr>
          <a:lstStyle/>
          <a:p>
            <a:pPr algn="l"/>
            <a:r>
              <a:rPr sz="1400" b="1" i="0">
                <a:solidFill>
                  <a:srgbClr val="0D47A1"/>
                </a:solidFill>
              </a:rPr>
              <a:t>Get your API key</a:t>
            </a:r>
          </a:p>
        </p:txBody>
      </p:sp>
      <p:sp>
        <p:nvSpPr>
          <p:cNvPr id="19" name="TextBox 18"/>
          <p:cNvSpPr txBox="1"/>
          <p:nvPr/>
        </p:nvSpPr>
        <p:spPr>
          <a:xfrm>
            <a:off x="1691640" y="3529584"/>
            <a:ext cx="9784080" cy="347472"/>
          </a:xfrm>
          <a:prstGeom prst="rect">
            <a:avLst/>
          </a:prstGeom>
          <a:noFill/>
        </p:spPr>
        <p:txBody>
          <a:bodyPr wrap="square">
            <a:spAutoFit/>
          </a:bodyPr>
          <a:lstStyle/>
          <a:p>
            <a:pPr algn="l"/>
            <a:r>
              <a:rPr sz="1200" b="0" i="0">
                <a:solidFill>
                  <a:srgbClr val="333333"/>
                </a:solidFill>
              </a:rPr>
              <a:t>In Resend dashboard, generate an API key. Paste it into Vercel as environment variable: RESEND_API_KEY.</a:t>
            </a:r>
          </a:p>
        </p:txBody>
      </p:sp>
      <p:sp>
        <p:nvSpPr>
          <p:cNvPr id="20" name="Rectangle 19"/>
          <p:cNvSpPr/>
          <p:nvPr/>
        </p:nvSpPr>
        <p:spPr>
          <a:xfrm>
            <a:off x="365760" y="4041648"/>
            <a:ext cx="1097280" cy="80467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151376"/>
            <a:ext cx="1097280" cy="603504"/>
          </a:xfrm>
          <a:prstGeom prst="rect">
            <a:avLst/>
          </a:prstGeom>
          <a:noFill/>
        </p:spPr>
        <p:txBody>
          <a:bodyPr wrap="square">
            <a:spAutoFit/>
          </a:bodyPr>
          <a:lstStyle/>
          <a:p>
            <a:pPr algn="ctr"/>
            <a:r>
              <a:rPr sz="1300" b="1" i="0">
                <a:solidFill>
                  <a:srgbClr val="FFFFFF"/>
                </a:solidFill>
              </a:rPr>
              <a:t>Step 4</a:t>
            </a:r>
          </a:p>
        </p:txBody>
      </p:sp>
      <p:sp>
        <p:nvSpPr>
          <p:cNvPr id="22" name="Rectangle 21"/>
          <p:cNvSpPr/>
          <p:nvPr/>
        </p:nvSpPr>
        <p:spPr>
          <a:xfrm>
            <a:off x="1554480" y="4041648"/>
            <a:ext cx="1005840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91640" y="4087368"/>
            <a:ext cx="9784080" cy="320040"/>
          </a:xfrm>
          <a:prstGeom prst="rect">
            <a:avLst/>
          </a:prstGeom>
          <a:noFill/>
        </p:spPr>
        <p:txBody>
          <a:bodyPr wrap="square">
            <a:spAutoFit/>
          </a:bodyPr>
          <a:lstStyle/>
          <a:p>
            <a:pPr algn="l"/>
            <a:r>
              <a:rPr sz="1400" b="1" i="0">
                <a:solidFill>
                  <a:srgbClr val="1A1A2E"/>
                </a:solidFill>
              </a:rPr>
              <a:t>Write the code</a:t>
            </a:r>
          </a:p>
        </p:txBody>
      </p:sp>
      <p:sp>
        <p:nvSpPr>
          <p:cNvPr id="24" name="TextBox 23"/>
          <p:cNvSpPr txBox="1"/>
          <p:nvPr/>
        </p:nvSpPr>
        <p:spPr>
          <a:xfrm>
            <a:off x="1691640" y="4443984"/>
            <a:ext cx="9784080" cy="347472"/>
          </a:xfrm>
          <a:prstGeom prst="rect">
            <a:avLst/>
          </a:prstGeom>
          <a:noFill/>
        </p:spPr>
        <p:txBody>
          <a:bodyPr wrap="square">
            <a:spAutoFit/>
          </a:bodyPr>
          <a:lstStyle/>
          <a:p>
            <a:pPr algn="l"/>
            <a:r>
              <a:rPr sz="1200" b="0" i="0">
                <a:solidFill>
                  <a:srgbClr val="333333"/>
                </a:solidFill>
              </a:rPr>
              <a:t>In app/api/waitlist/route.ts, after saving to Supabase, call Resend's API with: To, From (hello@theconnek.com), Subject, HTML body.</a:t>
            </a:r>
          </a:p>
        </p:txBody>
      </p:sp>
      <p:sp>
        <p:nvSpPr>
          <p:cNvPr id="25" name="Rectangle 24"/>
          <p:cNvSpPr/>
          <p:nvPr/>
        </p:nvSpPr>
        <p:spPr>
          <a:xfrm>
            <a:off x="365760" y="4956048"/>
            <a:ext cx="1097280" cy="80467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5065776"/>
            <a:ext cx="1097280" cy="603504"/>
          </a:xfrm>
          <a:prstGeom prst="rect">
            <a:avLst/>
          </a:prstGeom>
          <a:noFill/>
        </p:spPr>
        <p:txBody>
          <a:bodyPr wrap="square">
            <a:spAutoFit/>
          </a:bodyPr>
          <a:lstStyle/>
          <a:p>
            <a:pPr algn="ctr"/>
            <a:r>
              <a:rPr sz="1300" b="1" i="0">
                <a:solidFill>
                  <a:srgbClr val="FFFFFF"/>
                </a:solidFill>
              </a:rPr>
              <a:t>Step 5</a:t>
            </a:r>
          </a:p>
        </p:txBody>
      </p:sp>
      <p:sp>
        <p:nvSpPr>
          <p:cNvPr id="27" name="Rectangle 26"/>
          <p:cNvSpPr/>
          <p:nvPr/>
        </p:nvSpPr>
        <p:spPr>
          <a:xfrm>
            <a:off x="1554480" y="4956048"/>
            <a:ext cx="10058400" cy="8046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91640" y="5001768"/>
            <a:ext cx="9784080" cy="320040"/>
          </a:xfrm>
          <a:prstGeom prst="rect">
            <a:avLst/>
          </a:prstGeom>
          <a:noFill/>
        </p:spPr>
        <p:txBody>
          <a:bodyPr wrap="square">
            <a:spAutoFit/>
          </a:bodyPr>
          <a:lstStyle/>
          <a:p>
            <a:pPr algn="l"/>
            <a:r>
              <a:rPr sz="1400" b="1" i="0">
                <a:solidFill>
                  <a:srgbClr val="0D47A1"/>
                </a:solidFill>
              </a:rPr>
              <a:t>Test it</a:t>
            </a:r>
          </a:p>
        </p:txBody>
      </p:sp>
      <p:sp>
        <p:nvSpPr>
          <p:cNvPr id="29" name="TextBox 28"/>
          <p:cNvSpPr txBox="1"/>
          <p:nvPr/>
        </p:nvSpPr>
        <p:spPr>
          <a:xfrm>
            <a:off x="1691640" y="5358384"/>
            <a:ext cx="9784080" cy="347472"/>
          </a:xfrm>
          <a:prstGeom prst="rect">
            <a:avLst/>
          </a:prstGeom>
          <a:noFill/>
        </p:spPr>
        <p:txBody>
          <a:bodyPr wrap="square">
            <a:spAutoFit/>
          </a:bodyPr>
          <a:lstStyle/>
          <a:p>
            <a:pPr algn="l"/>
            <a:r>
              <a:rPr sz="1200" b="0" i="0">
                <a:solidFill>
                  <a:srgbClr val="333333"/>
                </a:solidFill>
              </a:rPr>
              <a:t>Submit the form yourself. Email should arrive in seconds. Check spam on first send.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DKIM and SPF — Why Your Emails Land in the Inbox</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48640"/>
          </a:xfrm>
          <a:prstGeom prst="rect">
            <a:avLst/>
          </a:prstGeom>
          <a:noFill/>
        </p:spPr>
        <p:txBody>
          <a:bodyPr wrap="square">
            <a:spAutoFit/>
          </a:bodyPr>
          <a:lstStyle/>
          <a:p>
            <a:pPr algn="l"/>
            <a:r>
              <a:rPr sz="1600" b="0" i="0">
                <a:solidFill>
                  <a:srgbClr val="333333"/>
                </a:solidFill>
              </a:rPr>
              <a:t>When a new domain starts sending emails, Gmail and Outlook are suspicious — it might be spam. DKIM and SPF records prove you're legitimate.</a:t>
            </a:r>
          </a:p>
        </p:txBody>
      </p:sp>
      <p:sp>
        <p:nvSpPr>
          <p:cNvPr id="6" name="Rectangle 5"/>
          <p:cNvSpPr/>
          <p:nvPr/>
        </p:nvSpPr>
        <p:spPr>
          <a:xfrm>
            <a:off x="502920" y="1920240"/>
            <a:ext cx="5212080" cy="20116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4937760" cy="411480"/>
          </a:xfrm>
          <a:prstGeom prst="rect">
            <a:avLst/>
          </a:prstGeom>
          <a:noFill/>
        </p:spPr>
        <p:txBody>
          <a:bodyPr wrap="square">
            <a:spAutoFit/>
          </a:bodyPr>
          <a:lstStyle/>
          <a:p>
            <a:pPr algn="l"/>
            <a:r>
              <a:rPr sz="1800" b="1" i="0">
                <a:solidFill>
                  <a:srgbClr val="0D47A1"/>
                </a:solidFill>
              </a:rPr>
              <a:t>SPF Record</a:t>
            </a:r>
          </a:p>
        </p:txBody>
      </p:sp>
      <p:sp>
        <p:nvSpPr>
          <p:cNvPr id="8" name="TextBox 7"/>
          <p:cNvSpPr txBox="1"/>
          <p:nvPr/>
        </p:nvSpPr>
        <p:spPr>
          <a:xfrm>
            <a:off x="640080" y="2468880"/>
            <a:ext cx="4937760" cy="1325880"/>
          </a:xfrm>
          <a:prstGeom prst="rect">
            <a:avLst/>
          </a:prstGeom>
          <a:noFill/>
        </p:spPr>
        <p:txBody>
          <a:bodyPr wrap="square">
            <a:spAutoFit/>
          </a:bodyPr>
          <a:lstStyle/>
          <a:p>
            <a:pPr algn="l"/>
            <a:r>
              <a:rPr sz="1300" b="0" i="0">
                <a:solidFill>
                  <a:srgbClr val="333333"/>
                </a:solidFill>
              </a:rPr>
              <a:t>SPF = Sender Policy Framework
"Only these servers are allowed
to send email on behalf of theconnek.com"
Prevents anyone else impersonating your domain.</a:t>
            </a:r>
          </a:p>
        </p:txBody>
      </p:sp>
      <p:sp>
        <p:nvSpPr>
          <p:cNvPr id="9" name="Rectangle 8"/>
          <p:cNvSpPr/>
          <p:nvPr/>
        </p:nvSpPr>
        <p:spPr>
          <a:xfrm>
            <a:off x="6355080" y="1920240"/>
            <a:ext cx="5212080" cy="20116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011680"/>
            <a:ext cx="4937760" cy="411480"/>
          </a:xfrm>
          <a:prstGeom prst="rect">
            <a:avLst/>
          </a:prstGeom>
          <a:noFill/>
        </p:spPr>
        <p:txBody>
          <a:bodyPr wrap="square">
            <a:spAutoFit/>
          </a:bodyPr>
          <a:lstStyle/>
          <a:p>
            <a:pPr algn="l"/>
            <a:r>
              <a:rPr sz="1800" b="1" i="0">
                <a:solidFill>
                  <a:srgbClr val="1B5E20"/>
                </a:solidFill>
              </a:rPr>
              <a:t>DKIM Record</a:t>
            </a:r>
          </a:p>
        </p:txBody>
      </p:sp>
      <p:sp>
        <p:nvSpPr>
          <p:cNvPr id="11" name="TextBox 10"/>
          <p:cNvSpPr txBox="1"/>
          <p:nvPr/>
        </p:nvSpPr>
        <p:spPr>
          <a:xfrm>
            <a:off x="6492240" y="2468880"/>
            <a:ext cx="4937760" cy="1325880"/>
          </a:xfrm>
          <a:prstGeom prst="rect">
            <a:avLst/>
          </a:prstGeom>
          <a:noFill/>
        </p:spPr>
        <p:txBody>
          <a:bodyPr wrap="square">
            <a:spAutoFit/>
          </a:bodyPr>
          <a:lstStyle/>
          <a:p>
            <a:pPr algn="l"/>
            <a:r>
              <a:rPr sz="1300" b="0" i="0">
                <a:solidFill>
                  <a:srgbClr val="333333"/>
                </a:solidFill>
              </a:rPr>
              <a:t>DKIM = DomainKeys Identified Mail
Adds a digital signature to every email.
Recipient's server verifies:
"Yes, this email actually came from theconnek.com"</a:t>
            </a:r>
          </a:p>
        </p:txBody>
      </p:sp>
      <p:sp>
        <p:nvSpPr>
          <p:cNvPr id="12" name="TextBox 11"/>
          <p:cNvSpPr txBox="1"/>
          <p:nvPr/>
        </p:nvSpPr>
        <p:spPr>
          <a:xfrm>
            <a:off x="502920" y="4114800"/>
            <a:ext cx="11155680" cy="548640"/>
          </a:xfrm>
          <a:prstGeom prst="rect">
            <a:avLst/>
          </a:prstGeom>
          <a:noFill/>
        </p:spPr>
        <p:txBody>
          <a:bodyPr wrap="square">
            <a:spAutoFit/>
          </a:bodyPr>
          <a:lstStyle/>
          <a:p>
            <a:pPr algn="l"/>
            <a:r>
              <a:rPr sz="1500" b="0" i="0">
                <a:solidFill>
                  <a:srgbClr val="333333"/>
                </a:solidFill>
              </a:rPr>
              <a:t>How to add them: Copy records from Resend dashboard → paste into GoDaddy/Namecheap DNS settings. Resend verifies automatically within minutes.</a:t>
            </a:r>
          </a:p>
        </p:txBody>
      </p:sp>
      <p:sp>
        <p:nvSpPr>
          <p:cNvPr id="13" name="Rectangle 12"/>
          <p:cNvSpPr/>
          <p:nvPr/>
        </p:nvSpPr>
        <p:spPr>
          <a:xfrm>
            <a:off x="502920" y="4800600"/>
            <a:ext cx="11155680" cy="86868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892040"/>
            <a:ext cx="1554480" cy="758952"/>
          </a:xfrm>
          <a:prstGeom prst="rect">
            <a:avLst/>
          </a:prstGeom>
          <a:noFill/>
        </p:spPr>
        <p:txBody>
          <a:bodyPr wrap="square">
            <a:spAutoFit/>
          </a:bodyPr>
          <a:lstStyle/>
          <a:p>
            <a:pPr algn="l"/>
            <a:r>
              <a:rPr sz="1300" b="1" i="0">
                <a:solidFill>
                  <a:srgbClr val="926000"/>
                </a:solidFill>
              </a:rPr>
              <a:t>ANALOGY:</a:t>
            </a:r>
          </a:p>
        </p:txBody>
      </p:sp>
      <p:sp>
        <p:nvSpPr>
          <p:cNvPr id="15" name="TextBox 14"/>
          <p:cNvSpPr txBox="1"/>
          <p:nvPr/>
        </p:nvSpPr>
        <p:spPr>
          <a:xfrm>
            <a:off x="2057400" y="4892040"/>
            <a:ext cx="9436608" cy="758952"/>
          </a:xfrm>
          <a:prstGeom prst="rect">
            <a:avLst/>
          </a:prstGeom>
          <a:noFill/>
        </p:spPr>
        <p:txBody>
          <a:bodyPr wrap="square">
            <a:spAutoFit/>
          </a:bodyPr>
          <a:lstStyle/>
          <a:p>
            <a:pPr algn="l"/>
            <a:r>
              <a:rPr sz="1300" b="0" i="0">
                <a:solidFill>
                  <a:srgbClr val="333333"/>
                </a:solidFill>
              </a:rPr>
              <a:t>SPF = a list on your office door: 'Only these couriers are allowed to deliver on my behalf.' DKIM = a wax seal on the envelope that proves it came from your desk and wasn't tampered with.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Vercel &amp; Deployment</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How the site gets on the internet — and stays there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Vercel — The Problem It Solves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02920"/>
          </a:xfrm>
          <a:prstGeom prst="rect">
            <a:avLst/>
          </a:prstGeom>
          <a:noFill/>
        </p:spPr>
        <p:txBody>
          <a:bodyPr wrap="square">
            <a:spAutoFit/>
          </a:bodyPr>
          <a:lstStyle/>
          <a:p>
            <a:pPr algn="l"/>
            <a:r>
              <a:rPr sz="1600" b="0" i="0">
                <a:solidFill>
                  <a:srgbClr val="333333"/>
                </a:solidFill>
              </a:rPr>
              <a:t>You've built a site on your laptop. It works. But only you can see it. To put it on the internet the traditional way:</a:t>
            </a:r>
          </a:p>
        </p:txBody>
      </p:sp>
      <p:sp>
        <p:nvSpPr>
          <p:cNvPr id="6" name="Rectangle 5"/>
          <p:cNvSpPr/>
          <p:nvPr/>
        </p:nvSpPr>
        <p:spPr>
          <a:xfrm>
            <a:off x="502920" y="1828800"/>
            <a:ext cx="11155680" cy="402336"/>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892808"/>
            <a:ext cx="10789920" cy="320040"/>
          </a:xfrm>
          <a:prstGeom prst="rect">
            <a:avLst/>
          </a:prstGeom>
          <a:noFill/>
        </p:spPr>
        <p:txBody>
          <a:bodyPr wrap="square">
            <a:spAutoFit/>
          </a:bodyPr>
          <a:lstStyle/>
          <a:p>
            <a:pPr algn="l"/>
            <a:r>
              <a:rPr sz="1300" b="0" i="0">
                <a:solidFill>
                  <a:srgbClr val="4A147A"/>
                </a:solidFill>
              </a:rPr>
              <a:t>✗  Buy or rent a server (a computer running 24/7)</a:t>
            </a:r>
          </a:p>
        </p:txBody>
      </p:sp>
      <p:sp>
        <p:nvSpPr>
          <p:cNvPr id="8" name="Rectangle 7"/>
          <p:cNvSpPr/>
          <p:nvPr/>
        </p:nvSpPr>
        <p:spPr>
          <a:xfrm>
            <a:off x="502920" y="2258568"/>
            <a:ext cx="11155680" cy="40233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322576"/>
            <a:ext cx="10789920" cy="320040"/>
          </a:xfrm>
          <a:prstGeom prst="rect">
            <a:avLst/>
          </a:prstGeom>
          <a:noFill/>
        </p:spPr>
        <p:txBody>
          <a:bodyPr wrap="square">
            <a:spAutoFit/>
          </a:bodyPr>
          <a:lstStyle/>
          <a:p>
            <a:pPr algn="l"/>
            <a:r>
              <a:rPr sz="1300" b="0" i="0">
                <a:solidFill>
                  <a:srgbClr val="333333"/>
                </a:solidFill>
              </a:rPr>
              <a:t>✗  Rent space in a data centre</a:t>
            </a:r>
          </a:p>
        </p:txBody>
      </p:sp>
      <p:sp>
        <p:nvSpPr>
          <p:cNvPr id="10" name="Rectangle 9"/>
          <p:cNvSpPr/>
          <p:nvPr/>
        </p:nvSpPr>
        <p:spPr>
          <a:xfrm>
            <a:off x="502920" y="2688336"/>
            <a:ext cx="11155680" cy="402336"/>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752344"/>
            <a:ext cx="10789920" cy="320040"/>
          </a:xfrm>
          <a:prstGeom prst="rect">
            <a:avLst/>
          </a:prstGeom>
          <a:noFill/>
        </p:spPr>
        <p:txBody>
          <a:bodyPr wrap="square">
            <a:spAutoFit/>
          </a:bodyPr>
          <a:lstStyle/>
          <a:p>
            <a:pPr algn="l"/>
            <a:r>
              <a:rPr sz="1300" b="0" i="0">
                <a:solidFill>
                  <a:srgbClr val="4A147A"/>
                </a:solidFill>
              </a:rPr>
              <a:t>✗  Install Node.js on it</a:t>
            </a:r>
          </a:p>
        </p:txBody>
      </p:sp>
      <p:sp>
        <p:nvSpPr>
          <p:cNvPr id="12" name="Rectangle 11"/>
          <p:cNvSpPr/>
          <p:nvPr/>
        </p:nvSpPr>
        <p:spPr>
          <a:xfrm>
            <a:off x="502920" y="3118104"/>
            <a:ext cx="11155680" cy="40233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182112"/>
            <a:ext cx="10789920" cy="320040"/>
          </a:xfrm>
          <a:prstGeom prst="rect">
            <a:avLst/>
          </a:prstGeom>
          <a:noFill/>
        </p:spPr>
        <p:txBody>
          <a:bodyPr wrap="square">
            <a:spAutoFit/>
          </a:bodyPr>
          <a:lstStyle/>
          <a:p>
            <a:pPr algn="l"/>
            <a:r>
              <a:rPr sz="1300" b="0" i="0">
                <a:solidFill>
                  <a:srgbClr val="333333"/>
                </a:solidFill>
              </a:rPr>
              <a:t>✗  Configure the network so the internet can reach it</a:t>
            </a:r>
          </a:p>
        </p:txBody>
      </p:sp>
      <p:sp>
        <p:nvSpPr>
          <p:cNvPr id="14" name="Rectangle 13"/>
          <p:cNvSpPr/>
          <p:nvPr/>
        </p:nvSpPr>
        <p:spPr>
          <a:xfrm>
            <a:off x="502920" y="3547872"/>
            <a:ext cx="11155680" cy="402336"/>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611880"/>
            <a:ext cx="10789920" cy="320040"/>
          </a:xfrm>
          <a:prstGeom prst="rect">
            <a:avLst/>
          </a:prstGeom>
          <a:noFill/>
        </p:spPr>
        <p:txBody>
          <a:bodyPr wrap="square">
            <a:spAutoFit/>
          </a:bodyPr>
          <a:lstStyle/>
          <a:p>
            <a:pPr algn="l"/>
            <a:r>
              <a:rPr sz="1300" b="0" i="0">
                <a:solidFill>
                  <a:srgbClr val="4A147A"/>
                </a:solidFill>
              </a:rPr>
              <a:t>✗  Set up SSL/HTTPS certificates</a:t>
            </a:r>
          </a:p>
        </p:txBody>
      </p:sp>
      <p:sp>
        <p:nvSpPr>
          <p:cNvPr id="16" name="Rectangle 15"/>
          <p:cNvSpPr/>
          <p:nvPr/>
        </p:nvSpPr>
        <p:spPr>
          <a:xfrm>
            <a:off x="502920" y="3977640"/>
            <a:ext cx="11155680" cy="40233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041648"/>
            <a:ext cx="10789920" cy="320040"/>
          </a:xfrm>
          <a:prstGeom prst="rect">
            <a:avLst/>
          </a:prstGeom>
          <a:noFill/>
        </p:spPr>
        <p:txBody>
          <a:bodyPr wrap="square">
            <a:spAutoFit/>
          </a:bodyPr>
          <a:lstStyle/>
          <a:p>
            <a:pPr algn="l"/>
            <a:r>
              <a:rPr sz="1300" b="0" i="0">
                <a:solidFill>
                  <a:srgbClr val="333333"/>
                </a:solidFill>
              </a:rPr>
              <a:t>✗  Point your domain to that server's IP address</a:t>
            </a:r>
          </a:p>
        </p:txBody>
      </p:sp>
      <p:sp>
        <p:nvSpPr>
          <p:cNvPr id="18" name="Rectangle 17"/>
          <p:cNvSpPr/>
          <p:nvPr/>
        </p:nvSpPr>
        <p:spPr>
          <a:xfrm>
            <a:off x="502920" y="4407408"/>
            <a:ext cx="11155680" cy="402336"/>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71416"/>
            <a:ext cx="10789920" cy="320040"/>
          </a:xfrm>
          <a:prstGeom prst="rect">
            <a:avLst/>
          </a:prstGeom>
          <a:noFill/>
        </p:spPr>
        <p:txBody>
          <a:bodyPr wrap="square">
            <a:spAutoFit/>
          </a:bodyPr>
          <a:lstStyle/>
          <a:p>
            <a:pPr algn="l"/>
            <a:r>
              <a:rPr sz="1300" b="0" i="0">
                <a:solidFill>
                  <a:srgbClr val="4A147A"/>
                </a:solidFill>
              </a:rPr>
              <a:t>✗  Monitor it — restart when it crashes</a:t>
            </a:r>
          </a:p>
        </p:txBody>
      </p:sp>
      <p:sp>
        <p:nvSpPr>
          <p:cNvPr id="20" name="Rectangle 19"/>
          <p:cNvSpPr/>
          <p:nvPr/>
        </p:nvSpPr>
        <p:spPr>
          <a:xfrm>
            <a:off x="502920" y="4837176"/>
            <a:ext cx="11155680" cy="402336"/>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901184"/>
            <a:ext cx="10789920" cy="320040"/>
          </a:xfrm>
          <a:prstGeom prst="rect">
            <a:avLst/>
          </a:prstGeom>
          <a:noFill/>
        </p:spPr>
        <p:txBody>
          <a:bodyPr wrap="square">
            <a:spAutoFit/>
          </a:bodyPr>
          <a:lstStyle/>
          <a:p>
            <a:pPr algn="l"/>
            <a:r>
              <a:rPr sz="1300" b="0" i="0">
                <a:solidFill>
                  <a:srgbClr val="333333"/>
                </a:solidFill>
              </a:rPr>
              <a:t>✗  Update manually every time you change code</a:t>
            </a:r>
          </a:p>
        </p:txBody>
      </p:sp>
      <p:sp>
        <p:nvSpPr>
          <p:cNvPr id="22" name="Rectangle 21"/>
          <p:cNvSpPr/>
          <p:nvPr/>
        </p:nvSpPr>
        <p:spPr>
          <a:xfrm>
            <a:off x="502920" y="5349240"/>
            <a:ext cx="11155680" cy="50292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394960"/>
            <a:ext cx="10972800" cy="411480"/>
          </a:xfrm>
          <a:prstGeom prst="rect">
            <a:avLst/>
          </a:prstGeom>
          <a:noFill/>
        </p:spPr>
        <p:txBody>
          <a:bodyPr wrap="square">
            <a:spAutoFit/>
          </a:bodyPr>
          <a:lstStyle/>
          <a:p>
            <a:pPr algn="ctr"/>
            <a:r>
              <a:rPr sz="1600" b="1" i="0">
                <a:solidFill>
                  <a:srgbClr val="FFFFFF"/>
                </a:solidFill>
              </a:rPr>
              <a:t>Vercel replaces ALL of the above. You just push code to GitHub. Done.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How Deployment Works — Step by Step</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98448"/>
            <a:ext cx="347472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44752"/>
            <a:ext cx="3246120" cy="548640"/>
          </a:xfrm>
          <a:prstGeom prst="rect">
            <a:avLst/>
          </a:prstGeom>
          <a:noFill/>
        </p:spPr>
        <p:txBody>
          <a:bodyPr wrap="square">
            <a:spAutoFit/>
          </a:bodyPr>
          <a:lstStyle/>
          <a:p>
            <a:pPr algn="ctr"/>
            <a:r>
              <a:rPr sz="1400" b="1" i="0">
                <a:solidFill>
                  <a:srgbClr val="E8601C"/>
                </a:solidFill>
              </a:rPr>
              <a:t>git push</a:t>
            </a:r>
          </a:p>
        </p:txBody>
      </p:sp>
      <p:sp>
        <p:nvSpPr>
          <p:cNvPr id="7" name="Rectangle 6"/>
          <p:cNvSpPr/>
          <p:nvPr/>
        </p:nvSpPr>
        <p:spPr>
          <a:xfrm>
            <a:off x="3977639" y="1298448"/>
            <a:ext cx="50292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77639" y="1463040"/>
            <a:ext cx="502920" cy="457200"/>
          </a:xfrm>
          <a:prstGeom prst="rect">
            <a:avLst/>
          </a:prstGeom>
          <a:noFill/>
        </p:spPr>
        <p:txBody>
          <a:bodyPr wrap="square">
            <a:spAutoFit/>
          </a:bodyPr>
          <a:lstStyle/>
          <a:p>
            <a:pPr algn="ctr"/>
            <a:r>
              <a:rPr sz="2000" b="1" i="0">
                <a:solidFill>
                  <a:srgbClr val="E8601C"/>
                </a:solidFill>
              </a:rPr>
              <a:t>→</a:t>
            </a:r>
          </a:p>
        </p:txBody>
      </p:sp>
      <p:sp>
        <p:nvSpPr>
          <p:cNvPr id="9" name="Rectangle 8"/>
          <p:cNvSpPr/>
          <p:nvPr/>
        </p:nvSpPr>
        <p:spPr>
          <a:xfrm>
            <a:off x="4572000" y="1298448"/>
            <a:ext cx="7086600" cy="8046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1444752"/>
            <a:ext cx="6812280" cy="548640"/>
          </a:xfrm>
          <a:prstGeom prst="rect">
            <a:avLst/>
          </a:prstGeom>
          <a:noFill/>
        </p:spPr>
        <p:txBody>
          <a:bodyPr wrap="square">
            <a:spAutoFit/>
          </a:bodyPr>
          <a:lstStyle/>
          <a:p>
            <a:pPr algn="l"/>
            <a:r>
              <a:rPr sz="1400" b="0" i="0">
                <a:solidFill>
                  <a:srgbClr val="0F3D5C"/>
                </a:solidFill>
              </a:rPr>
              <a:t>Your code goes from laptop → GitHub</a:t>
            </a:r>
          </a:p>
        </p:txBody>
      </p:sp>
      <p:sp>
        <p:nvSpPr>
          <p:cNvPr id="11" name="Rectangle 10"/>
          <p:cNvSpPr/>
          <p:nvPr/>
        </p:nvSpPr>
        <p:spPr>
          <a:xfrm>
            <a:off x="365760" y="2212848"/>
            <a:ext cx="347472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359152"/>
            <a:ext cx="3246120" cy="548640"/>
          </a:xfrm>
          <a:prstGeom prst="rect">
            <a:avLst/>
          </a:prstGeom>
          <a:noFill/>
        </p:spPr>
        <p:txBody>
          <a:bodyPr wrap="square">
            <a:spAutoFit/>
          </a:bodyPr>
          <a:lstStyle/>
          <a:p>
            <a:pPr algn="ctr"/>
            <a:r>
              <a:rPr sz="1400" b="1" i="0">
                <a:solidFill>
                  <a:srgbClr val="E8601C"/>
                </a:solidFill>
              </a:rPr>
              <a:t>GitHub notifies Vercel</a:t>
            </a:r>
          </a:p>
        </p:txBody>
      </p:sp>
      <p:sp>
        <p:nvSpPr>
          <p:cNvPr id="13" name="Rectangle 12"/>
          <p:cNvSpPr/>
          <p:nvPr/>
        </p:nvSpPr>
        <p:spPr>
          <a:xfrm>
            <a:off x="3977639" y="2212848"/>
            <a:ext cx="50292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77639" y="2377440"/>
            <a:ext cx="502920" cy="457200"/>
          </a:xfrm>
          <a:prstGeom prst="rect">
            <a:avLst/>
          </a:prstGeom>
          <a:noFill/>
        </p:spPr>
        <p:txBody>
          <a:bodyPr wrap="square">
            <a:spAutoFit/>
          </a:bodyPr>
          <a:lstStyle/>
          <a:p>
            <a:pPr algn="ctr"/>
            <a:r>
              <a:rPr sz="2000" b="1" i="0">
                <a:solidFill>
                  <a:srgbClr val="E8601C"/>
                </a:solidFill>
              </a:rPr>
              <a:t>→</a:t>
            </a:r>
          </a:p>
        </p:txBody>
      </p:sp>
      <p:sp>
        <p:nvSpPr>
          <p:cNvPr id="15" name="Rectangle 14"/>
          <p:cNvSpPr/>
          <p:nvPr/>
        </p:nvSpPr>
        <p:spPr>
          <a:xfrm>
            <a:off x="4572000" y="2212848"/>
            <a:ext cx="708660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2359152"/>
            <a:ext cx="6812280" cy="548640"/>
          </a:xfrm>
          <a:prstGeom prst="rect">
            <a:avLst/>
          </a:prstGeom>
          <a:noFill/>
        </p:spPr>
        <p:txBody>
          <a:bodyPr wrap="square">
            <a:spAutoFit/>
          </a:bodyPr>
          <a:lstStyle/>
          <a:p>
            <a:pPr algn="l"/>
            <a:r>
              <a:rPr sz="1400" b="0" i="0">
                <a:solidFill>
                  <a:srgbClr val="333333"/>
                </a:solidFill>
              </a:rPr>
              <a:t>'New code just arrived'</a:t>
            </a:r>
          </a:p>
        </p:txBody>
      </p:sp>
      <p:sp>
        <p:nvSpPr>
          <p:cNvPr id="17" name="Rectangle 16"/>
          <p:cNvSpPr/>
          <p:nvPr/>
        </p:nvSpPr>
        <p:spPr>
          <a:xfrm>
            <a:off x="365760" y="3127248"/>
            <a:ext cx="347472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273552"/>
            <a:ext cx="3246120" cy="548640"/>
          </a:xfrm>
          <a:prstGeom prst="rect">
            <a:avLst/>
          </a:prstGeom>
          <a:noFill/>
        </p:spPr>
        <p:txBody>
          <a:bodyPr wrap="square">
            <a:spAutoFit/>
          </a:bodyPr>
          <a:lstStyle/>
          <a:p>
            <a:pPr algn="ctr"/>
            <a:r>
              <a:rPr sz="1400" b="1" i="0">
                <a:solidFill>
                  <a:srgbClr val="E8601C"/>
                </a:solidFill>
              </a:rPr>
              <a:t>Vercel builds</a:t>
            </a:r>
          </a:p>
        </p:txBody>
      </p:sp>
      <p:sp>
        <p:nvSpPr>
          <p:cNvPr id="19" name="Rectangle 18"/>
          <p:cNvSpPr/>
          <p:nvPr/>
        </p:nvSpPr>
        <p:spPr>
          <a:xfrm>
            <a:off x="3977639" y="3127248"/>
            <a:ext cx="50292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77639" y="3291840"/>
            <a:ext cx="502920" cy="457200"/>
          </a:xfrm>
          <a:prstGeom prst="rect">
            <a:avLst/>
          </a:prstGeom>
          <a:noFill/>
        </p:spPr>
        <p:txBody>
          <a:bodyPr wrap="square">
            <a:spAutoFit/>
          </a:bodyPr>
          <a:lstStyle/>
          <a:p>
            <a:pPr algn="ctr"/>
            <a:r>
              <a:rPr sz="2000" b="1" i="0">
                <a:solidFill>
                  <a:srgbClr val="E8601C"/>
                </a:solidFill>
              </a:rPr>
              <a:t>→</a:t>
            </a:r>
          </a:p>
        </p:txBody>
      </p:sp>
      <p:sp>
        <p:nvSpPr>
          <p:cNvPr id="21" name="Rectangle 20"/>
          <p:cNvSpPr/>
          <p:nvPr/>
        </p:nvSpPr>
        <p:spPr>
          <a:xfrm>
            <a:off x="4572000" y="3127248"/>
            <a:ext cx="7086600" cy="8046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9160" y="3273552"/>
            <a:ext cx="6812280" cy="548640"/>
          </a:xfrm>
          <a:prstGeom prst="rect">
            <a:avLst/>
          </a:prstGeom>
          <a:noFill/>
        </p:spPr>
        <p:txBody>
          <a:bodyPr wrap="square">
            <a:spAutoFit/>
          </a:bodyPr>
          <a:lstStyle/>
          <a:p>
            <a:pPr algn="l"/>
            <a:r>
              <a:rPr sz="1400" b="0" i="0">
                <a:solidFill>
                  <a:srgbClr val="0F3D5C"/>
                </a:solidFill>
              </a:rPr>
              <a:t>Converts TypeScript → JavaScript, bundles files, optimises images (~60 seconds)</a:t>
            </a:r>
          </a:p>
        </p:txBody>
      </p:sp>
      <p:sp>
        <p:nvSpPr>
          <p:cNvPr id="23" name="Rectangle 22"/>
          <p:cNvSpPr/>
          <p:nvPr/>
        </p:nvSpPr>
        <p:spPr>
          <a:xfrm>
            <a:off x="365760" y="4041648"/>
            <a:ext cx="347472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187952"/>
            <a:ext cx="3246120" cy="548640"/>
          </a:xfrm>
          <a:prstGeom prst="rect">
            <a:avLst/>
          </a:prstGeom>
          <a:noFill/>
        </p:spPr>
        <p:txBody>
          <a:bodyPr wrap="square">
            <a:spAutoFit/>
          </a:bodyPr>
          <a:lstStyle/>
          <a:p>
            <a:pPr algn="ctr"/>
            <a:r>
              <a:rPr sz="1400" b="1" i="0">
                <a:solidFill>
                  <a:srgbClr val="E8601C"/>
                </a:solidFill>
              </a:rPr>
              <a:t>Vercel deploys globally</a:t>
            </a:r>
          </a:p>
        </p:txBody>
      </p:sp>
      <p:sp>
        <p:nvSpPr>
          <p:cNvPr id="25" name="Rectangle 24"/>
          <p:cNvSpPr/>
          <p:nvPr/>
        </p:nvSpPr>
        <p:spPr>
          <a:xfrm>
            <a:off x="3977639" y="4041648"/>
            <a:ext cx="50292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77639" y="4206240"/>
            <a:ext cx="502920" cy="457200"/>
          </a:xfrm>
          <a:prstGeom prst="rect">
            <a:avLst/>
          </a:prstGeom>
          <a:noFill/>
        </p:spPr>
        <p:txBody>
          <a:bodyPr wrap="square">
            <a:spAutoFit/>
          </a:bodyPr>
          <a:lstStyle/>
          <a:p>
            <a:pPr algn="ctr"/>
            <a:r>
              <a:rPr sz="2000" b="1" i="0">
                <a:solidFill>
                  <a:srgbClr val="E8601C"/>
                </a:solidFill>
              </a:rPr>
              <a:t>→</a:t>
            </a:r>
          </a:p>
        </p:txBody>
      </p:sp>
      <p:sp>
        <p:nvSpPr>
          <p:cNvPr id="27" name="Rectangle 26"/>
          <p:cNvSpPr/>
          <p:nvPr/>
        </p:nvSpPr>
        <p:spPr>
          <a:xfrm>
            <a:off x="4572000" y="4041648"/>
            <a:ext cx="708660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60" y="4187952"/>
            <a:ext cx="6812280" cy="548640"/>
          </a:xfrm>
          <a:prstGeom prst="rect">
            <a:avLst/>
          </a:prstGeom>
          <a:noFill/>
        </p:spPr>
        <p:txBody>
          <a:bodyPr wrap="square">
            <a:spAutoFit/>
          </a:bodyPr>
          <a:lstStyle/>
          <a:p>
            <a:pPr algn="l"/>
            <a:r>
              <a:rPr sz="1400" b="0" i="0">
                <a:solidFill>
                  <a:srgbClr val="333333"/>
                </a:solidFill>
              </a:rPr>
              <a:t>Copies to servers in Mumbai, Singapore, London, New York, São Paulo</a:t>
            </a:r>
          </a:p>
        </p:txBody>
      </p:sp>
      <p:sp>
        <p:nvSpPr>
          <p:cNvPr id="29" name="Rectangle 28"/>
          <p:cNvSpPr/>
          <p:nvPr/>
        </p:nvSpPr>
        <p:spPr>
          <a:xfrm>
            <a:off x="365760" y="4956048"/>
            <a:ext cx="3474720" cy="8046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102352"/>
            <a:ext cx="3246120" cy="548640"/>
          </a:xfrm>
          <a:prstGeom prst="rect">
            <a:avLst/>
          </a:prstGeom>
          <a:noFill/>
        </p:spPr>
        <p:txBody>
          <a:bodyPr wrap="square">
            <a:spAutoFit/>
          </a:bodyPr>
          <a:lstStyle/>
          <a:p>
            <a:pPr algn="ctr"/>
            <a:r>
              <a:rPr sz="1400" b="1" i="0">
                <a:solidFill>
                  <a:srgbClr val="E8601C"/>
                </a:solidFill>
              </a:rPr>
              <a:t>Domain updated</a:t>
            </a:r>
          </a:p>
        </p:txBody>
      </p:sp>
      <p:sp>
        <p:nvSpPr>
          <p:cNvPr id="31" name="Rectangle 30"/>
          <p:cNvSpPr/>
          <p:nvPr/>
        </p:nvSpPr>
        <p:spPr>
          <a:xfrm>
            <a:off x="3977639" y="4956048"/>
            <a:ext cx="502920" cy="80467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77639" y="5120640"/>
            <a:ext cx="502920" cy="457200"/>
          </a:xfrm>
          <a:prstGeom prst="rect">
            <a:avLst/>
          </a:prstGeom>
          <a:noFill/>
        </p:spPr>
        <p:txBody>
          <a:bodyPr wrap="square">
            <a:spAutoFit/>
          </a:bodyPr>
          <a:lstStyle/>
          <a:p>
            <a:pPr algn="ctr"/>
            <a:r>
              <a:rPr sz="2000" b="1" i="0">
                <a:solidFill>
                  <a:srgbClr val="E8601C"/>
                </a:solidFill>
              </a:rPr>
              <a:t>→</a:t>
            </a:r>
          </a:p>
        </p:txBody>
      </p:sp>
      <p:sp>
        <p:nvSpPr>
          <p:cNvPr id="33" name="Rectangle 32"/>
          <p:cNvSpPr/>
          <p:nvPr/>
        </p:nvSpPr>
        <p:spPr>
          <a:xfrm>
            <a:off x="4572000" y="4956048"/>
            <a:ext cx="7086600" cy="8046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09160" y="5102352"/>
            <a:ext cx="6812280" cy="548640"/>
          </a:xfrm>
          <a:prstGeom prst="rect">
            <a:avLst/>
          </a:prstGeom>
          <a:noFill/>
        </p:spPr>
        <p:txBody>
          <a:bodyPr wrap="square">
            <a:spAutoFit/>
          </a:bodyPr>
          <a:lstStyle/>
          <a:p>
            <a:pPr algn="l"/>
            <a:r>
              <a:rPr sz="1400" b="0" i="0">
                <a:solidFill>
                  <a:srgbClr val="0F3D5C"/>
                </a:solidFill>
              </a:rPr>
              <a:t>theconnek.com instantly points to the new version</a:t>
            </a:r>
          </a:p>
        </p:txBody>
      </p:sp>
      <p:sp>
        <p:nvSpPr>
          <p:cNvPr id="35" name="TextBox 34"/>
          <p:cNvSpPr txBox="1"/>
          <p:nvPr/>
        </p:nvSpPr>
        <p:spPr>
          <a:xfrm>
            <a:off x="502920" y="5989320"/>
            <a:ext cx="11155680" cy="411480"/>
          </a:xfrm>
          <a:prstGeom prst="rect">
            <a:avLst/>
          </a:prstGeom>
          <a:noFill/>
        </p:spPr>
        <p:txBody>
          <a:bodyPr wrap="square">
            <a:spAutoFit/>
          </a:bodyPr>
          <a:lstStyle/>
          <a:p>
            <a:pPr algn="l"/>
            <a:r>
              <a:rPr sz="1500" b="1" i="0">
                <a:solidFill>
                  <a:srgbClr val="E8601C"/>
                </a:solidFill>
              </a:rPr>
              <a:t>Total time from git push to live on the internet:  under 2 minutes.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CDN, Custom Domains, and Rollbacks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98448"/>
            <a:ext cx="3566160" cy="18288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89888"/>
            <a:ext cx="3383280" cy="384048"/>
          </a:xfrm>
          <a:prstGeom prst="rect">
            <a:avLst/>
          </a:prstGeom>
          <a:noFill/>
        </p:spPr>
        <p:txBody>
          <a:bodyPr wrap="square">
            <a:spAutoFit/>
          </a:bodyPr>
          <a:lstStyle/>
          <a:p>
            <a:pPr algn="l"/>
            <a:r>
              <a:rPr sz="1800" b="1" i="0">
                <a:solidFill>
                  <a:srgbClr val="0D47A1"/>
                </a:solidFill>
              </a:rPr>
              <a:t>CDN</a:t>
            </a:r>
          </a:p>
        </p:txBody>
      </p:sp>
      <p:sp>
        <p:nvSpPr>
          <p:cNvPr id="7" name="TextBox 6"/>
          <p:cNvSpPr txBox="1"/>
          <p:nvPr/>
        </p:nvSpPr>
        <p:spPr>
          <a:xfrm>
            <a:off x="502920" y="1801368"/>
            <a:ext cx="3383280" cy="1188720"/>
          </a:xfrm>
          <a:prstGeom prst="rect">
            <a:avLst/>
          </a:prstGeom>
          <a:noFill/>
        </p:spPr>
        <p:txBody>
          <a:bodyPr wrap="square">
            <a:spAutoFit/>
          </a:bodyPr>
          <a:lstStyle/>
          <a:p>
            <a:pPr algn="l"/>
            <a:r>
              <a:rPr sz="1200" b="0" i="0">
                <a:solidFill>
                  <a:srgbClr val="333333"/>
                </a:solidFill>
              </a:rPr>
              <a:t>Content Delivery Network.
Copies of your site cached on servers worldwide.
Mumbai visitor → served from Mumbai.
London visitor → served from London.
Much faster for everyone.</a:t>
            </a:r>
          </a:p>
        </p:txBody>
      </p:sp>
      <p:sp>
        <p:nvSpPr>
          <p:cNvPr id="8" name="Rectangle 7"/>
          <p:cNvSpPr/>
          <p:nvPr/>
        </p:nvSpPr>
        <p:spPr>
          <a:xfrm>
            <a:off x="4297680" y="1298448"/>
            <a:ext cx="356616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389888"/>
            <a:ext cx="3383280" cy="384048"/>
          </a:xfrm>
          <a:prstGeom prst="rect">
            <a:avLst/>
          </a:prstGeom>
          <a:noFill/>
        </p:spPr>
        <p:txBody>
          <a:bodyPr wrap="square">
            <a:spAutoFit/>
          </a:bodyPr>
          <a:lstStyle/>
          <a:p>
            <a:pPr algn="l"/>
            <a:r>
              <a:rPr sz="1600" b="1" i="0">
                <a:solidFill>
                  <a:srgbClr val="1B5E20"/>
                </a:solidFill>
              </a:rPr>
              <a:t>Custom Domains</a:t>
            </a:r>
          </a:p>
        </p:txBody>
      </p:sp>
      <p:sp>
        <p:nvSpPr>
          <p:cNvPr id="10" name="TextBox 9"/>
          <p:cNvSpPr txBox="1"/>
          <p:nvPr/>
        </p:nvSpPr>
        <p:spPr>
          <a:xfrm>
            <a:off x="4434840" y="1801368"/>
            <a:ext cx="3383280" cy="1188720"/>
          </a:xfrm>
          <a:prstGeom prst="rect">
            <a:avLst/>
          </a:prstGeom>
          <a:noFill/>
        </p:spPr>
        <p:txBody>
          <a:bodyPr wrap="square">
            <a:spAutoFit/>
          </a:bodyPr>
          <a:lstStyle/>
          <a:p>
            <a:pPr algn="l"/>
            <a:r>
              <a:rPr sz="1200" b="0" i="0">
                <a:solidFill>
                  <a:srgbClr val="333333"/>
                </a:solidFill>
              </a:rPr>
              <a:t>1. Buy domain (GoDaddy, etc.)
2. Add A/CNAME record in DNS
   pointing to Vercel
3. Add domain in Vercel dashboard
4. Vercel issues SSL cert (free)
We did: theconnek.com + theconnek.in</a:t>
            </a:r>
          </a:p>
        </p:txBody>
      </p:sp>
      <p:sp>
        <p:nvSpPr>
          <p:cNvPr id="11" name="Rectangle 10"/>
          <p:cNvSpPr/>
          <p:nvPr/>
        </p:nvSpPr>
        <p:spPr>
          <a:xfrm>
            <a:off x="8183879" y="1298448"/>
            <a:ext cx="3566160" cy="182880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389888"/>
            <a:ext cx="3383280" cy="384048"/>
          </a:xfrm>
          <a:prstGeom prst="rect">
            <a:avLst/>
          </a:prstGeom>
          <a:noFill/>
        </p:spPr>
        <p:txBody>
          <a:bodyPr wrap="square">
            <a:spAutoFit/>
          </a:bodyPr>
          <a:lstStyle/>
          <a:p>
            <a:pPr algn="l"/>
            <a:r>
              <a:rPr sz="1800" b="1" i="0">
                <a:solidFill>
                  <a:srgbClr val="4A147A"/>
                </a:solidFill>
              </a:rPr>
              <a:t>Rollbacks</a:t>
            </a:r>
          </a:p>
        </p:txBody>
      </p:sp>
      <p:sp>
        <p:nvSpPr>
          <p:cNvPr id="13" name="TextBox 12"/>
          <p:cNvSpPr txBox="1"/>
          <p:nvPr/>
        </p:nvSpPr>
        <p:spPr>
          <a:xfrm>
            <a:off x="8321040" y="1801368"/>
            <a:ext cx="3383280" cy="1188720"/>
          </a:xfrm>
          <a:prstGeom prst="rect">
            <a:avLst/>
          </a:prstGeom>
          <a:noFill/>
        </p:spPr>
        <p:txBody>
          <a:bodyPr wrap="square">
            <a:spAutoFit/>
          </a:bodyPr>
          <a:lstStyle/>
          <a:p>
            <a:pPr algn="l"/>
            <a:r>
              <a:rPr sz="1200" b="0" i="0">
                <a:solidFill>
                  <a:srgbClr val="333333"/>
                </a:solidFill>
              </a:rPr>
              <a:t>Every deployment is saved.
If you push a broken update:
Vercel dashboard → click
'Promote' on any old version.
Live instantly. No code change.</a:t>
            </a:r>
          </a:p>
        </p:txBody>
      </p:sp>
      <p:sp>
        <p:nvSpPr>
          <p:cNvPr id="14" name="Rectangle 13"/>
          <p:cNvSpPr/>
          <p:nvPr/>
        </p:nvSpPr>
        <p:spPr>
          <a:xfrm>
            <a:off x="365760" y="3337560"/>
            <a:ext cx="11430000" cy="146304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429000"/>
            <a:ext cx="11155680" cy="384048"/>
          </a:xfrm>
          <a:prstGeom prst="rect">
            <a:avLst/>
          </a:prstGeom>
          <a:noFill/>
        </p:spPr>
        <p:txBody>
          <a:bodyPr wrap="square">
            <a:spAutoFit/>
          </a:bodyPr>
          <a:lstStyle/>
          <a:p>
            <a:pPr algn="l"/>
            <a:r>
              <a:rPr sz="1500" b="1" i="0">
                <a:solidFill>
                  <a:srgbClr val="926000"/>
                </a:solidFill>
              </a:rPr>
              <a:t>Preview Deployments</a:t>
            </a:r>
          </a:p>
        </p:txBody>
      </p:sp>
      <p:sp>
        <p:nvSpPr>
          <p:cNvPr id="16" name="TextBox 15"/>
          <p:cNvSpPr txBox="1"/>
          <p:nvPr/>
        </p:nvSpPr>
        <p:spPr>
          <a:xfrm>
            <a:off x="502920" y="3840480"/>
            <a:ext cx="11155680" cy="804672"/>
          </a:xfrm>
          <a:prstGeom prst="rect">
            <a:avLst/>
          </a:prstGeom>
          <a:noFill/>
        </p:spPr>
        <p:txBody>
          <a:bodyPr wrap="square">
            <a:spAutoFit/>
          </a:bodyPr>
          <a:lstStyle/>
          <a:p>
            <a:pPr algn="l"/>
            <a:r>
              <a:rPr sz="1300" b="0" i="0">
                <a:solidFill>
                  <a:srgbClr val="333333"/>
                </a:solidFill>
              </a:rPr>
              <a:t>Push to any branch (not just main) → Vercel creates a separate live preview URL. Example: new-homepage-theconnek.vercel.app. Share to review changes before they go live. No one else sees it. Safe testing.</a:t>
            </a:r>
          </a:p>
        </p:txBody>
      </p:sp>
      <p:sp>
        <p:nvSpPr>
          <p:cNvPr id="17" name="Rectangle 16"/>
          <p:cNvSpPr/>
          <p:nvPr/>
        </p:nvSpPr>
        <p:spPr>
          <a:xfrm>
            <a:off x="365760" y="4983480"/>
            <a:ext cx="11430000" cy="96012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5074920"/>
            <a:ext cx="1554480" cy="850392"/>
          </a:xfrm>
          <a:prstGeom prst="rect">
            <a:avLst/>
          </a:prstGeom>
          <a:noFill/>
        </p:spPr>
        <p:txBody>
          <a:bodyPr wrap="square">
            <a:spAutoFit/>
          </a:bodyPr>
          <a:lstStyle/>
          <a:p>
            <a:pPr algn="l"/>
            <a:r>
              <a:rPr sz="1300" b="1" i="0">
                <a:solidFill>
                  <a:srgbClr val="4A147A"/>
                </a:solidFill>
              </a:rPr>
              <a:t>INTERVIEW:</a:t>
            </a:r>
          </a:p>
        </p:txBody>
      </p:sp>
      <p:sp>
        <p:nvSpPr>
          <p:cNvPr id="19" name="TextBox 18"/>
          <p:cNvSpPr txBox="1"/>
          <p:nvPr/>
        </p:nvSpPr>
        <p:spPr>
          <a:xfrm>
            <a:off x="1920240" y="5074920"/>
            <a:ext cx="9710928" cy="850392"/>
          </a:xfrm>
          <a:prstGeom prst="rect">
            <a:avLst/>
          </a:prstGeom>
          <a:noFill/>
        </p:spPr>
        <p:txBody>
          <a:bodyPr wrap="square">
            <a:spAutoFit/>
          </a:bodyPr>
          <a:lstStyle/>
          <a:p>
            <a:pPr algn="l"/>
            <a:r>
              <a:rPr sz="1300" b="0" i="0">
                <a:solidFill>
                  <a:srgbClr val="333333"/>
                </a:solidFill>
              </a:rPr>
              <a:t>Vercel is a cloud deployment platform built by the Next.js team. Every git push to main triggers an automatic build and deployment to their global edge network. API routes become serverless functions that scale automatically. Custom domains, HTTPS, CDN, rollbacks — zero server management.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Instagram &amp; Social Media</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How social drives traffic to theconnek.com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How Instagram Connects to the Site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02920"/>
          </a:xfrm>
          <a:prstGeom prst="rect">
            <a:avLst/>
          </a:prstGeom>
          <a:noFill/>
        </p:spPr>
        <p:txBody>
          <a:bodyPr wrap="square">
            <a:spAutoFit/>
          </a:bodyPr>
          <a:lstStyle/>
          <a:p>
            <a:pPr algn="l"/>
            <a:r>
              <a:rPr sz="1600" b="0" i="0">
                <a:solidFill>
                  <a:srgbClr val="333333"/>
                </a:solidFill>
              </a:rPr>
              <a:t>Instagram is the top of the funnel — how people discover Connek. Someone sees a post, taps the link, lands on theconnek.com, signs up.</a:t>
            </a:r>
          </a:p>
        </p:txBody>
      </p:sp>
      <p:sp>
        <p:nvSpPr>
          <p:cNvPr id="6" name="Rectangle 5"/>
          <p:cNvSpPr/>
          <p:nvPr/>
        </p:nvSpPr>
        <p:spPr>
          <a:xfrm>
            <a:off x="2423160" y="1920240"/>
            <a:ext cx="7315200" cy="749808"/>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23160" y="2084832"/>
            <a:ext cx="7315200" cy="457200"/>
          </a:xfrm>
          <a:prstGeom prst="rect">
            <a:avLst/>
          </a:prstGeom>
          <a:noFill/>
        </p:spPr>
        <p:txBody>
          <a:bodyPr wrap="square">
            <a:spAutoFit/>
          </a:bodyPr>
          <a:lstStyle/>
          <a:p>
            <a:pPr algn="ctr"/>
            <a:r>
              <a:rPr sz="1500" b="1" i="0">
                <a:solidFill>
                  <a:srgbClr val="4A147A"/>
                </a:solidFill>
              </a:rPr>
              <a:t>Instagram Post / Story</a:t>
            </a:r>
          </a:p>
        </p:txBody>
      </p:sp>
      <p:sp>
        <p:nvSpPr>
          <p:cNvPr id="8" name="TextBox 7"/>
          <p:cNvSpPr txBox="1"/>
          <p:nvPr/>
        </p:nvSpPr>
        <p:spPr>
          <a:xfrm>
            <a:off x="5897880" y="2679192"/>
            <a:ext cx="365760" cy="182880"/>
          </a:xfrm>
          <a:prstGeom prst="rect">
            <a:avLst/>
          </a:prstGeom>
          <a:noFill/>
        </p:spPr>
        <p:txBody>
          <a:bodyPr wrap="square">
            <a:spAutoFit/>
          </a:bodyPr>
          <a:lstStyle/>
          <a:p>
            <a:pPr algn="ctr"/>
            <a:r>
              <a:rPr sz="1400" b="1" i="0">
                <a:solidFill>
                  <a:srgbClr val="666666"/>
                </a:solidFill>
              </a:rPr>
              <a:t>↓</a:t>
            </a:r>
          </a:p>
        </p:txBody>
      </p:sp>
      <p:sp>
        <p:nvSpPr>
          <p:cNvPr id="9" name="Rectangle 8"/>
          <p:cNvSpPr/>
          <p:nvPr/>
        </p:nvSpPr>
        <p:spPr>
          <a:xfrm>
            <a:off x="2880360" y="2880360"/>
            <a:ext cx="6400800" cy="74980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3044952"/>
            <a:ext cx="6400800" cy="457200"/>
          </a:xfrm>
          <a:prstGeom prst="rect">
            <a:avLst/>
          </a:prstGeom>
          <a:noFill/>
        </p:spPr>
        <p:txBody>
          <a:bodyPr wrap="square">
            <a:spAutoFit/>
          </a:bodyPr>
          <a:lstStyle/>
          <a:p>
            <a:pPr algn="ctr"/>
            <a:r>
              <a:rPr sz="1500" b="1" i="0">
                <a:solidFill>
                  <a:srgbClr val="0D47A1"/>
                </a:solidFill>
              </a:rPr>
              <a:t>Link in Bio / Story Link Sticker</a:t>
            </a:r>
          </a:p>
        </p:txBody>
      </p:sp>
      <p:sp>
        <p:nvSpPr>
          <p:cNvPr id="11" name="TextBox 10"/>
          <p:cNvSpPr txBox="1"/>
          <p:nvPr/>
        </p:nvSpPr>
        <p:spPr>
          <a:xfrm>
            <a:off x="5897880" y="3639312"/>
            <a:ext cx="365760" cy="182880"/>
          </a:xfrm>
          <a:prstGeom prst="rect">
            <a:avLst/>
          </a:prstGeom>
          <a:noFill/>
        </p:spPr>
        <p:txBody>
          <a:bodyPr wrap="square">
            <a:spAutoFit/>
          </a:bodyPr>
          <a:lstStyle/>
          <a:p>
            <a:pPr algn="ctr"/>
            <a:r>
              <a:rPr sz="1400" b="1" i="0">
                <a:solidFill>
                  <a:srgbClr val="666666"/>
                </a:solidFill>
              </a:rPr>
              <a:t>↓</a:t>
            </a:r>
          </a:p>
        </p:txBody>
      </p:sp>
      <p:sp>
        <p:nvSpPr>
          <p:cNvPr id="12" name="Rectangle 11"/>
          <p:cNvSpPr/>
          <p:nvPr/>
        </p:nvSpPr>
        <p:spPr>
          <a:xfrm>
            <a:off x="3337560" y="3840480"/>
            <a:ext cx="5486400" cy="749808"/>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4005072"/>
            <a:ext cx="5486400" cy="457200"/>
          </a:xfrm>
          <a:prstGeom prst="rect">
            <a:avLst/>
          </a:prstGeom>
          <a:noFill/>
        </p:spPr>
        <p:txBody>
          <a:bodyPr wrap="square">
            <a:spAutoFit/>
          </a:bodyPr>
          <a:lstStyle/>
          <a:p>
            <a:pPr algn="ctr"/>
            <a:r>
              <a:rPr sz="1500" b="1" i="0">
                <a:solidFill>
                  <a:srgbClr val="1B5E20"/>
                </a:solidFill>
              </a:rPr>
              <a:t>theconnek.com</a:t>
            </a:r>
          </a:p>
        </p:txBody>
      </p:sp>
      <p:sp>
        <p:nvSpPr>
          <p:cNvPr id="14" name="TextBox 13"/>
          <p:cNvSpPr txBox="1"/>
          <p:nvPr/>
        </p:nvSpPr>
        <p:spPr>
          <a:xfrm>
            <a:off x="5897880" y="4599432"/>
            <a:ext cx="365760" cy="182880"/>
          </a:xfrm>
          <a:prstGeom prst="rect">
            <a:avLst/>
          </a:prstGeom>
          <a:noFill/>
        </p:spPr>
        <p:txBody>
          <a:bodyPr wrap="square">
            <a:spAutoFit/>
          </a:bodyPr>
          <a:lstStyle/>
          <a:p>
            <a:pPr algn="ctr"/>
            <a:r>
              <a:rPr sz="1400" b="1" i="0">
                <a:solidFill>
                  <a:srgbClr val="666666"/>
                </a:solidFill>
              </a:rPr>
              <a:t>↓</a:t>
            </a:r>
          </a:p>
        </p:txBody>
      </p:sp>
      <p:sp>
        <p:nvSpPr>
          <p:cNvPr id="15" name="Rectangle 14"/>
          <p:cNvSpPr/>
          <p:nvPr/>
        </p:nvSpPr>
        <p:spPr>
          <a:xfrm>
            <a:off x="3794760" y="4800600"/>
            <a:ext cx="4572000" cy="749808"/>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94760" y="4965192"/>
            <a:ext cx="4572000" cy="457200"/>
          </a:xfrm>
          <a:prstGeom prst="rect">
            <a:avLst/>
          </a:prstGeom>
          <a:noFill/>
        </p:spPr>
        <p:txBody>
          <a:bodyPr wrap="square">
            <a:spAutoFit/>
          </a:bodyPr>
          <a:lstStyle/>
          <a:p>
            <a:pPr algn="ctr"/>
            <a:r>
              <a:rPr sz="1500" b="1" i="0">
                <a:solidFill>
                  <a:srgbClr val="FFFFFF"/>
                </a:solidFill>
              </a:rPr>
              <a:t>Waitlist Signup</a:t>
            </a:r>
          </a:p>
        </p:txBody>
      </p:sp>
      <p:sp>
        <p:nvSpPr>
          <p:cNvPr id="17" name="TextBox 16"/>
          <p:cNvSpPr txBox="1"/>
          <p:nvPr/>
        </p:nvSpPr>
        <p:spPr>
          <a:xfrm>
            <a:off x="502920" y="5669280"/>
            <a:ext cx="11155680" cy="411480"/>
          </a:xfrm>
          <a:prstGeom prst="rect">
            <a:avLst/>
          </a:prstGeom>
          <a:noFill/>
        </p:spPr>
        <p:txBody>
          <a:bodyPr wrap="square">
            <a:spAutoFit/>
          </a:bodyPr>
          <a:lstStyle/>
          <a:p>
            <a:pPr algn="l"/>
            <a:r>
              <a:rPr sz="1400" b="1" i="0">
                <a:solidFill>
                  <a:srgbClr val="E8601C"/>
                </a:solidFill>
              </a:rPr>
              <a:t>Instagram does NOT allow clickable links in captions — only the bio link and story link stickers.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UTM Parameters — Know Exactly Which Post Drove Signups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02920"/>
          </a:xfrm>
          <a:prstGeom prst="rect">
            <a:avLst/>
          </a:prstGeom>
          <a:noFill/>
        </p:spPr>
        <p:txBody>
          <a:bodyPr wrap="square">
            <a:spAutoFit/>
          </a:bodyPr>
          <a:lstStyle/>
          <a:p>
            <a:pPr algn="l"/>
            <a:r>
              <a:rPr sz="1600" b="0" i="0">
                <a:solidFill>
                  <a:srgbClr val="333333"/>
                </a:solidFill>
              </a:rPr>
              <a:t>A UTM parameter is a tag you add to the end of a URL. Google Analytics reads it and knows exactly which post or campaign the visitor came from.</a:t>
            </a:r>
          </a:p>
        </p:txBody>
      </p:sp>
      <p:sp>
        <p:nvSpPr>
          <p:cNvPr id="6" name="Rectangle 5"/>
          <p:cNvSpPr/>
          <p:nvPr/>
        </p:nvSpPr>
        <p:spPr>
          <a:xfrm>
            <a:off x="502920" y="1874519"/>
            <a:ext cx="1115568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11680"/>
            <a:ext cx="10789920" cy="457200"/>
          </a:xfrm>
          <a:prstGeom prst="rect">
            <a:avLst/>
          </a:prstGeom>
          <a:noFill/>
        </p:spPr>
        <p:txBody>
          <a:bodyPr wrap="square">
            <a:spAutoFit/>
          </a:bodyPr>
          <a:lstStyle/>
          <a:p>
            <a:pPr algn="ctr"/>
            <a:r>
              <a:rPr sz="1600" b="1" i="0">
                <a:solidFill>
                  <a:srgbClr val="E8601C"/>
                </a:solidFill>
              </a:rPr>
              <a:t>theconnek.com?utm_source=instagram&amp;utm_medium=bio&amp;utm_campaign=launch</a:t>
            </a:r>
          </a:p>
        </p:txBody>
      </p:sp>
      <p:sp>
        <p:nvSpPr>
          <p:cNvPr id="8" name="TextBox 7"/>
          <p:cNvSpPr txBox="1"/>
          <p:nvPr/>
        </p:nvSpPr>
        <p:spPr>
          <a:xfrm>
            <a:off x="685800" y="2450592"/>
            <a:ext cx="10789920" cy="274320"/>
          </a:xfrm>
          <a:prstGeom prst="rect">
            <a:avLst/>
          </a:prstGeom>
          <a:noFill/>
        </p:spPr>
        <p:txBody>
          <a:bodyPr wrap="square">
            <a:spAutoFit/>
          </a:bodyPr>
          <a:lstStyle/>
          <a:p>
            <a:pPr algn="ctr"/>
            <a:r>
              <a:rPr sz="1200" b="0" i="0">
                <a:solidFill>
                  <a:srgbClr val="AABBFF"/>
                </a:solidFill>
              </a:rPr>
              <a:t>GA4 reads: source=instagram  |  medium=bio  |  campaign=launch</a:t>
            </a:r>
          </a:p>
        </p:txBody>
      </p:sp>
      <p:sp>
        <p:nvSpPr>
          <p:cNvPr id="9" name="Rectangle 8"/>
          <p:cNvSpPr/>
          <p:nvPr/>
        </p:nvSpPr>
        <p:spPr>
          <a:xfrm>
            <a:off x="502920" y="2971800"/>
            <a:ext cx="11155680" cy="5943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063240"/>
            <a:ext cx="2560320" cy="411480"/>
          </a:xfrm>
          <a:prstGeom prst="rect">
            <a:avLst/>
          </a:prstGeom>
          <a:noFill/>
        </p:spPr>
        <p:txBody>
          <a:bodyPr wrap="square">
            <a:spAutoFit/>
          </a:bodyPr>
          <a:lstStyle/>
          <a:p>
            <a:pPr algn="l"/>
            <a:r>
              <a:rPr sz="1400" b="1" i="0">
                <a:solidFill>
                  <a:srgbClr val="0D47A1"/>
                </a:solidFill>
              </a:rPr>
              <a:t>utm_source</a:t>
            </a:r>
          </a:p>
        </p:txBody>
      </p:sp>
      <p:sp>
        <p:nvSpPr>
          <p:cNvPr id="11" name="TextBox 10"/>
          <p:cNvSpPr txBox="1"/>
          <p:nvPr/>
        </p:nvSpPr>
        <p:spPr>
          <a:xfrm>
            <a:off x="3291840" y="3063240"/>
            <a:ext cx="4114800" cy="411480"/>
          </a:xfrm>
          <a:prstGeom prst="rect">
            <a:avLst/>
          </a:prstGeom>
          <a:noFill/>
        </p:spPr>
        <p:txBody>
          <a:bodyPr wrap="square">
            <a:spAutoFit/>
          </a:bodyPr>
          <a:lstStyle/>
          <a:p>
            <a:pPr algn="l"/>
            <a:r>
              <a:rPr sz="1300" b="0" i="0">
                <a:solidFill>
                  <a:srgbClr val="333333"/>
                </a:solidFill>
              </a:rPr>
              <a:t>Where the traffic came from</a:t>
            </a:r>
          </a:p>
        </p:txBody>
      </p:sp>
      <p:sp>
        <p:nvSpPr>
          <p:cNvPr id="12" name="TextBox 11"/>
          <p:cNvSpPr txBox="1"/>
          <p:nvPr/>
        </p:nvSpPr>
        <p:spPr>
          <a:xfrm>
            <a:off x="7498079" y="3063240"/>
            <a:ext cx="3931920" cy="411480"/>
          </a:xfrm>
          <a:prstGeom prst="rect">
            <a:avLst/>
          </a:prstGeom>
          <a:noFill/>
        </p:spPr>
        <p:txBody>
          <a:bodyPr wrap="square">
            <a:spAutoFit/>
          </a:bodyPr>
          <a:lstStyle/>
          <a:p>
            <a:pPr algn="l"/>
            <a:r>
              <a:rPr sz="1300" b="0" i="1">
                <a:solidFill>
                  <a:srgbClr val="666666"/>
                </a:solidFill>
              </a:rPr>
              <a:t>e.g. instagram, linkedin, whatsapp</a:t>
            </a:r>
          </a:p>
        </p:txBody>
      </p:sp>
      <p:sp>
        <p:nvSpPr>
          <p:cNvPr id="13" name="Rectangle 12"/>
          <p:cNvSpPr/>
          <p:nvPr/>
        </p:nvSpPr>
        <p:spPr>
          <a:xfrm>
            <a:off x="502920" y="3630168"/>
            <a:ext cx="11155680" cy="59436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721608"/>
            <a:ext cx="2560320" cy="411480"/>
          </a:xfrm>
          <a:prstGeom prst="rect">
            <a:avLst/>
          </a:prstGeom>
          <a:noFill/>
        </p:spPr>
        <p:txBody>
          <a:bodyPr wrap="square">
            <a:spAutoFit/>
          </a:bodyPr>
          <a:lstStyle/>
          <a:p>
            <a:pPr algn="l"/>
            <a:r>
              <a:rPr sz="1400" b="1" i="0">
                <a:solidFill>
                  <a:srgbClr val="1A1A2E"/>
                </a:solidFill>
              </a:rPr>
              <a:t>utm_medium</a:t>
            </a:r>
          </a:p>
        </p:txBody>
      </p:sp>
      <p:sp>
        <p:nvSpPr>
          <p:cNvPr id="15" name="TextBox 14"/>
          <p:cNvSpPr txBox="1"/>
          <p:nvPr/>
        </p:nvSpPr>
        <p:spPr>
          <a:xfrm>
            <a:off x="3291840" y="3721608"/>
            <a:ext cx="4114800" cy="411480"/>
          </a:xfrm>
          <a:prstGeom prst="rect">
            <a:avLst/>
          </a:prstGeom>
          <a:noFill/>
        </p:spPr>
        <p:txBody>
          <a:bodyPr wrap="square">
            <a:spAutoFit/>
          </a:bodyPr>
          <a:lstStyle/>
          <a:p>
            <a:pPr algn="l"/>
            <a:r>
              <a:rPr sz="1300" b="0" i="0">
                <a:solidFill>
                  <a:srgbClr val="333333"/>
                </a:solidFill>
              </a:rPr>
              <a:t>How it reached them</a:t>
            </a:r>
          </a:p>
        </p:txBody>
      </p:sp>
      <p:sp>
        <p:nvSpPr>
          <p:cNvPr id="16" name="TextBox 15"/>
          <p:cNvSpPr txBox="1"/>
          <p:nvPr/>
        </p:nvSpPr>
        <p:spPr>
          <a:xfrm>
            <a:off x="7498079" y="3721608"/>
            <a:ext cx="3931920" cy="411480"/>
          </a:xfrm>
          <a:prstGeom prst="rect">
            <a:avLst/>
          </a:prstGeom>
          <a:noFill/>
        </p:spPr>
        <p:txBody>
          <a:bodyPr wrap="square">
            <a:spAutoFit/>
          </a:bodyPr>
          <a:lstStyle/>
          <a:p>
            <a:pPr algn="l"/>
            <a:r>
              <a:rPr sz="1300" b="0" i="1">
                <a:solidFill>
                  <a:srgbClr val="666666"/>
                </a:solidFill>
              </a:rPr>
              <a:t>e.g. bio, story, post, dm</a:t>
            </a:r>
          </a:p>
        </p:txBody>
      </p:sp>
      <p:sp>
        <p:nvSpPr>
          <p:cNvPr id="17" name="Rectangle 16"/>
          <p:cNvSpPr/>
          <p:nvPr/>
        </p:nvSpPr>
        <p:spPr>
          <a:xfrm>
            <a:off x="502920" y="4288536"/>
            <a:ext cx="11155680" cy="5943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379976"/>
            <a:ext cx="2560320" cy="411480"/>
          </a:xfrm>
          <a:prstGeom prst="rect">
            <a:avLst/>
          </a:prstGeom>
          <a:noFill/>
        </p:spPr>
        <p:txBody>
          <a:bodyPr wrap="square">
            <a:spAutoFit/>
          </a:bodyPr>
          <a:lstStyle/>
          <a:p>
            <a:pPr algn="l"/>
            <a:r>
              <a:rPr sz="1400" b="1" i="0">
                <a:solidFill>
                  <a:srgbClr val="0D47A1"/>
                </a:solidFill>
              </a:rPr>
              <a:t>utm_campaign</a:t>
            </a:r>
          </a:p>
        </p:txBody>
      </p:sp>
      <p:sp>
        <p:nvSpPr>
          <p:cNvPr id="19" name="TextBox 18"/>
          <p:cNvSpPr txBox="1"/>
          <p:nvPr/>
        </p:nvSpPr>
        <p:spPr>
          <a:xfrm>
            <a:off x="3291840" y="4379976"/>
            <a:ext cx="4114800" cy="411480"/>
          </a:xfrm>
          <a:prstGeom prst="rect">
            <a:avLst/>
          </a:prstGeom>
          <a:noFill/>
        </p:spPr>
        <p:txBody>
          <a:bodyPr wrap="square">
            <a:spAutoFit/>
          </a:bodyPr>
          <a:lstStyle/>
          <a:p>
            <a:pPr algn="l"/>
            <a:r>
              <a:rPr sz="1300" b="0" i="0">
                <a:solidFill>
                  <a:srgbClr val="333333"/>
                </a:solidFill>
              </a:rPr>
              <a:t>Which campaign or theme</a:t>
            </a:r>
          </a:p>
        </p:txBody>
      </p:sp>
      <p:sp>
        <p:nvSpPr>
          <p:cNvPr id="20" name="TextBox 19"/>
          <p:cNvSpPr txBox="1"/>
          <p:nvPr/>
        </p:nvSpPr>
        <p:spPr>
          <a:xfrm>
            <a:off x="7498079" y="4379976"/>
            <a:ext cx="3931920" cy="411480"/>
          </a:xfrm>
          <a:prstGeom prst="rect">
            <a:avLst/>
          </a:prstGeom>
          <a:noFill/>
        </p:spPr>
        <p:txBody>
          <a:bodyPr wrap="square">
            <a:spAutoFit/>
          </a:bodyPr>
          <a:lstStyle/>
          <a:p>
            <a:pPr algn="l"/>
            <a:r>
              <a:rPr sz="1300" b="0" i="1">
                <a:solidFill>
                  <a:srgbClr val="666666"/>
                </a:solidFill>
              </a:rPr>
              <a:t>e.g. launch, mentors, waitlist</a:t>
            </a:r>
          </a:p>
        </p:txBody>
      </p:sp>
      <p:sp>
        <p:nvSpPr>
          <p:cNvPr id="21" name="TextBox 20"/>
          <p:cNvSpPr txBox="1"/>
          <p:nvPr/>
        </p:nvSpPr>
        <p:spPr>
          <a:xfrm>
            <a:off x="502920" y="5029200"/>
            <a:ext cx="11155680" cy="411480"/>
          </a:xfrm>
          <a:prstGeom prst="rect">
            <a:avLst/>
          </a:prstGeom>
          <a:noFill/>
        </p:spPr>
        <p:txBody>
          <a:bodyPr wrap="square">
            <a:spAutoFit/>
          </a:bodyPr>
          <a:lstStyle/>
          <a:p>
            <a:pPr algn="l"/>
            <a:r>
              <a:rPr sz="1500" b="1" i="0">
                <a:solidFill>
                  <a:srgbClr val="E8601C"/>
                </a:solidFill>
              </a:rPr>
              <a:t>Use a different UTM for each post → see which post drove the most actual signups.</a:t>
            </a:r>
          </a:p>
        </p:txBody>
      </p:sp>
      <p:sp>
        <p:nvSpPr>
          <p:cNvPr id="22" name="TextBox 21"/>
          <p:cNvSpPr txBox="1"/>
          <p:nvPr/>
        </p:nvSpPr>
        <p:spPr>
          <a:xfrm>
            <a:off x="502920" y="5486400"/>
            <a:ext cx="11155680" cy="384048"/>
          </a:xfrm>
          <a:prstGeom prst="rect">
            <a:avLst/>
          </a:prstGeom>
          <a:noFill/>
        </p:spPr>
        <p:txBody>
          <a:bodyPr wrap="square">
            <a:spAutoFit/>
          </a:bodyPr>
          <a:lstStyle/>
          <a:p>
            <a:pPr algn="l"/>
            <a:r>
              <a:rPr sz="1400" b="0" i="0">
                <a:solidFill>
                  <a:srgbClr val="333333"/>
                </a:solidFill>
              </a:rPr>
              <a:t>Free tool: Google Campaign URL Builder (search 'Google UTM builder')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OG Image — The Preview Card When You Share a Link</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48640"/>
          </a:xfrm>
          <a:prstGeom prst="rect">
            <a:avLst/>
          </a:prstGeom>
          <a:noFill/>
        </p:spPr>
        <p:txBody>
          <a:bodyPr wrap="square">
            <a:spAutoFit/>
          </a:bodyPr>
          <a:lstStyle/>
          <a:p>
            <a:pPr algn="l"/>
            <a:r>
              <a:rPr sz="1600" b="0" i="0">
                <a:solidFill>
                  <a:srgbClr val="333333"/>
                </a:solidFill>
              </a:rPr>
              <a:t>When you share theconnek.com on WhatsApp, Instagram DM, or LinkedIn, a preview card appears with an image, title, and description. That's the OG Image.</a:t>
            </a:r>
          </a:p>
        </p:txBody>
      </p:sp>
      <p:sp>
        <p:nvSpPr>
          <p:cNvPr id="6" name="Rectangle 5"/>
          <p:cNvSpPr/>
          <p:nvPr/>
        </p:nvSpPr>
        <p:spPr>
          <a:xfrm>
            <a:off x="502920" y="1920240"/>
            <a:ext cx="5212080" cy="228600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4937760" cy="384048"/>
          </a:xfrm>
          <a:prstGeom prst="rect">
            <a:avLst/>
          </a:prstGeom>
          <a:noFill/>
        </p:spPr>
        <p:txBody>
          <a:bodyPr wrap="square">
            <a:spAutoFit/>
          </a:bodyPr>
          <a:lstStyle/>
          <a:p>
            <a:pPr algn="l"/>
            <a:r>
              <a:rPr sz="1500" b="1" i="0">
                <a:solidFill>
                  <a:srgbClr val="4A147A"/>
                </a:solidFill>
              </a:rPr>
              <a:t>Without OG Image</a:t>
            </a:r>
          </a:p>
        </p:txBody>
      </p:sp>
      <p:sp>
        <p:nvSpPr>
          <p:cNvPr id="8" name="TextBox 7"/>
          <p:cNvSpPr txBox="1"/>
          <p:nvPr/>
        </p:nvSpPr>
        <p:spPr>
          <a:xfrm>
            <a:off x="640080" y="2468880"/>
            <a:ext cx="4937760" cy="1554480"/>
          </a:xfrm>
          <a:prstGeom prst="rect">
            <a:avLst/>
          </a:prstGeom>
          <a:noFill/>
        </p:spPr>
        <p:txBody>
          <a:bodyPr wrap="square">
            <a:spAutoFit/>
          </a:bodyPr>
          <a:lstStyle/>
          <a:p>
            <a:pPr algn="l"/>
            <a:r>
              <a:rPr sz="1300" b="0" i="0">
                <a:solidFill>
                  <a:srgbClr val="333333"/>
                </a:solidFill>
              </a:rPr>
              <a:t>theconnek.com
https://theconnek.com
(just a plain URL, no image)
Almost no one clicks it.</a:t>
            </a:r>
          </a:p>
        </p:txBody>
      </p:sp>
      <p:sp>
        <p:nvSpPr>
          <p:cNvPr id="9" name="Rectangle 8"/>
          <p:cNvSpPr/>
          <p:nvPr/>
        </p:nvSpPr>
        <p:spPr>
          <a:xfrm>
            <a:off x="6355080" y="1920240"/>
            <a:ext cx="521208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011680"/>
            <a:ext cx="4937760" cy="384048"/>
          </a:xfrm>
          <a:prstGeom prst="rect">
            <a:avLst/>
          </a:prstGeom>
          <a:noFill/>
        </p:spPr>
        <p:txBody>
          <a:bodyPr wrap="square">
            <a:spAutoFit/>
          </a:bodyPr>
          <a:lstStyle/>
          <a:p>
            <a:pPr algn="l"/>
            <a:r>
              <a:rPr sz="1500" b="1" i="0">
                <a:solidFill>
                  <a:srgbClr val="1B5E20"/>
                </a:solidFill>
              </a:rPr>
              <a:t>With OG Image  ✓</a:t>
            </a:r>
          </a:p>
        </p:txBody>
      </p:sp>
      <p:sp>
        <p:nvSpPr>
          <p:cNvPr id="11" name="TextBox 10"/>
          <p:cNvSpPr txBox="1"/>
          <p:nvPr/>
        </p:nvSpPr>
        <p:spPr>
          <a:xfrm>
            <a:off x="6492240" y="2468880"/>
            <a:ext cx="4937760" cy="1554480"/>
          </a:xfrm>
          <a:prstGeom prst="rect">
            <a:avLst/>
          </a:prstGeom>
          <a:noFill/>
        </p:spPr>
        <p:txBody>
          <a:bodyPr wrap="square">
            <a:spAutoFit/>
          </a:bodyPr>
          <a:lstStyle/>
          <a:p>
            <a:pPr algn="l"/>
            <a:r>
              <a:rPr sz="1300" b="0" i="0">
                <a:solidFill>
                  <a:srgbClr val="333333"/>
                </a:solidFill>
              </a:rPr>
              <a:t>[ Connek logo + tagline image ]
Connek — Real conversations.
That's it.
theconnek.com
Much higher click-through rate.</a:t>
            </a:r>
          </a:p>
        </p:txBody>
      </p:sp>
      <p:sp>
        <p:nvSpPr>
          <p:cNvPr id="12" name="TextBox 11"/>
          <p:cNvSpPr txBox="1"/>
          <p:nvPr/>
        </p:nvSpPr>
        <p:spPr>
          <a:xfrm>
            <a:off x="502920" y="4389120"/>
            <a:ext cx="11155680" cy="548640"/>
          </a:xfrm>
          <a:prstGeom prst="rect">
            <a:avLst/>
          </a:prstGeom>
          <a:noFill/>
        </p:spPr>
        <p:txBody>
          <a:bodyPr wrap="square">
            <a:spAutoFit/>
          </a:bodyPr>
          <a:lstStyle/>
          <a:p>
            <a:pPr algn="l"/>
            <a:r>
              <a:rPr sz="1500" b="0" i="0">
                <a:solidFill>
                  <a:srgbClr val="333333"/>
                </a:solidFill>
              </a:rPr>
              <a:t>In Next.js: create app/opengraph-image.tsx → it auto-generates a PNG using React components. That image shows up every time someone shares the link.</a:t>
            </a:r>
          </a:p>
        </p:txBody>
      </p:sp>
      <p:sp>
        <p:nvSpPr>
          <p:cNvPr id="13" name="Rectangle 12"/>
          <p:cNvSpPr/>
          <p:nvPr/>
        </p:nvSpPr>
        <p:spPr>
          <a:xfrm>
            <a:off x="502920" y="5074920"/>
            <a:ext cx="11155680" cy="82296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5166360"/>
            <a:ext cx="1554480" cy="713232"/>
          </a:xfrm>
          <a:prstGeom prst="rect">
            <a:avLst/>
          </a:prstGeom>
          <a:noFill/>
        </p:spPr>
        <p:txBody>
          <a:bodyPr wrap="square">
            <a:spAutoFit/>
          </a:bodyPr>
          <a:lstStyle/>
          <a:p>
            <a:pPr algn="l"/>
            <a:r>
              <a:rPr sz="1300" b="1" i="0">
                <a:solidFill>
                  <a:srgbClr val="4A147A"/>
                </a:solidFill>
              </a:rPr>
              <a:t>INTERVIEW:</a:t>
            </a:r>
          </a:p>
        </p:txBody>
      </p:sp>
      <p:sp>
        <p:nvSpPr>
          <p:cNvPr id="15" name="TextBox 14"/>
          <p:cNvSpPr txBox="1"/>
          <p:nvPr/>
        </p:nvSpPr>
        <p:spPr>
          <a:xfrm>
            <a:off x="2057400" y="5166360"/>
            <a:ext cx="9436608" cy="713232"/>
          </a:xfrm>
          <a:prstGeom prst="rect">
            <a:avLst/>
          </a:prstGeom>
          <a:noFill/>
        </p:spPr>
        <p:txBody>
          <a:bodyPr wrap="square">
            <a:spAutoFit/>
          </a:bodyPr>
          <a:lstStyle/>
          <a:p>
            <a:pPr algn="l"/>
            <a:r>
              <a:rPr sz="1300" b="0" i="0">
                <a:solidFill>
                  <a:srgbClr val="333333"/>
                </a:solidFill>
              </a:rPr>
              <a:t>I implemented OG images using Next.js's built-in next/og library. The image is generated server-side as a React component — includes our logo and tagline, renders as a proper share card on WhatsApp and LinkedIn.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Git &amp; GitHub</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Version control and code storage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Git &amp; GitHub — Never Lose Your Code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02920"/>
          </a:xfrm>
          <a:prstGeom prst="rect">
            <a:avLst/>
          </a:prstGeom>
          <a:noFill/>
        </p:spPr>
        <p:txBody>
          <a:bodyPr wrap="square">
            <a:spAutoFit/>
          </a:bodyPr>
          <a:lstStyle/>
          <a:p>
            <a:pPr algn="l"/>
            <a:r>
              <a:rPr sz="1600" b="0" i="0">
                <a:solidFill>
                  <a:srgbClr val="333333"/>
                </a:solidFill>
              </a:rPr>
              <a:t>Git tracks every change you make to your code. GitHub stores it in the cloud. Together: full history, backup, and deploy trigger.</a:t>
            </a:r>
          </a:p>
        </p:txBody>
      </p:sp>
      <p:sp>
        <p:nvSpPr>
          <p:cNvPr id="6" name="Rectangle 5"/>
          <p:cNvSpPr/>
          <p:nvPr/>
        </p:nvSpPr>
        <p:spPr>
          <a:xfrm>
            <a:off x="502920" y="1874519"/>
            <a:ext cx="11155680" cy="82296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65959"/>
            <a:ext cx="1554480" cy="713232"/>
          </a:xfrm>
          <a:prstGeom prst="rect">
            <a:avLst/>
          </a:prstGeom>
          <a:noFill/>
        </p:spPr>
        <p:txBody>
          <a:bodyPr wrap="square">
            <a:spAutoFit/>
          </a:bodyPr>
          <a:lstStyle/>
          <a:p>
            <a:pPr algn="l"/>
            <a:r>
              <a:rPr sz="1300" b="1" i="0">
                <a:solidFill>
                  <a:srgbClr val="926000"/>
                </a:solidFill>
              </a:rPr>
              <a:t>ANALOGY:</a:t>
            </a:r>
          </a:p>
        </p:txBody>
      </p:sp>
      <p:sp>
        <p:nvSpPr>
          <p:cNvPr id="8" name="TextBox 7"/>
          <p:cNvSpPr txBox="1"/>
          <p:nvPr/>
        </p:nvSpPr>
        <p:spPr>
          <a:xfrm>
            <a:off x="2057400" y="1965959"/>
            <a:ext cx="9436608" cy="713232"/>
          </a:xfrm>
          <a:prstGeom prst="rect">
            <a:avLst/>
          </a:prstGeom>
          <a:noFill/>
        </p:spPr>
        <p:txBody>
          <a:bodyPr wrap="square">
            <a:spAutoFit/>
          </a:bodyPr>
          <a:lstStyle/>
          <a:p>
            <a:pPr algn="l"/>
            <a:r>
              <a:rPr sz="1300" b="0" i="0">
                <a:solidFill>
                  <a:srgbClr val="333333"/>
                </a:solidFill>
              </a:rPr>
              <a:t>Git = Track Changes in Word, but for your entire codebase. GitHub = Google Drive for code — stores it in the cloud, keeps the full history.</a:t>
            </a:r>
          </a:p>
        </p:txBody>
      </p:sp>
      <p:sp>
        <p:nvSpPr>
          <p:cNvPr id="9" name="TextBox 8"/>
          <p:cNvSpPr txBox="1"/>
          <p:nvPr/>
        </p:nvSpPr>
        <p:spPr>
          <a:xfrm>
            <a:off x="502920" y="2834640"/>
            <a:ext cx="11155680" cy="384048"/>
          </a:xfrm>
          <a:prstGeom prst="rect">
            <a:avLst/>
          </a:prstGeom>
          <a:noFill/>
        </p:spPr>
        <p:txBody>
          <a:bodyPr wrap="square">
            <a:spAutoFit/>
          </a:bodyPr>
          <a:lstStyle/>
          <a:p>
            <a:pPr algn="l"/>
            <a:r>
              <a:rPr sz="1500" b="1" i="0">
                <a:solidFill>
                  <a:srgbClr val="1A1A2E"/>
                </a:solidFill>
              </a:rPr>
              <a:t>The 4 commands you need:</a:t>
            </a:r>
          </a:p>
        </p:txBody>
      </p:sp>
      <p:sp>
        <p:nvSpPr>
          <p:cNvPr id="10" name="Rectangle 9"/>
          <p:cNvSpPr/>
          <p:nvPr/>
        </p:nvSpPr>
        <p:spPr>
          <a:xfrm>
            <a:off x="502920" y="3291840"/>
            <a:ext cx="111556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383280"/>
            <a:ext cx="3017520" cy="411480"/>
          </a:xfrm>
          <a:prstGeom prst="rect">
            <a:avLst/>
          </a:prstGeom>
          <a:noFill/>
        </p:spPr>
        <p:txBody>
          <a:bodyPr wrap="square">
            <a:spAutoFit/>
          </a:bodyPr>
          <a:lstStyle/>
          <a:p>
            <a:pPr algn="l"/>
            <a:r>
              <a:rPr sz="1400" b="1" i="0">
                <a:solidFill>
                  <a:srgbClr val="E8601C"/>
                </a:solidFill>
              </a:rPr>
              <a:t>git add &lt;file&gt;</a:t>
            </a:r>
          </a:p>
        </p:txBody>
      </p:sp>
      <p:sp>
        <p:nvSpPr>
          <p:cNvPr id="12" name="TextBox 11"/>
          <p:cNvSpPr txBox="1"/>
          <p:nvPr/>
        </p:nvSpPr>
        <p:spPr>
          <a:xfrm>
            <a:off x="3749039" y="3383280"/>
            <a:ext cx="7680960" cy="411480"/>
          </a:xfrm>
          <a:prstGeom prst="rect">
            <a:avLst/>
          </a:prstGeom>
          <a:noFill/>
        </p:spPr>
        <p:txBody>
          <a:bodyPr wrap="square">
            <a:spAutoFit/>
          </a:bodyPr>
          <a:lstStyle/>
          <a:p>
            <a:pPr algn="l"/>
            <a:r>
              <a:rPr sz="1300" b="0" i="0">
                <a:solidFill>
                  <a:srgbClr val="FFFFFF"/>
                </a:solidFill>
              </a:rPr>
              <a:t>Stage the files you want to save (select what goes into the snapshot)</a:t>
            </a:r>
          </a:p>
        </p:txBody>
      </p:sp>
      <p:sp>
        <p:nvSpPr>
          <p:cNvPr id="13" name="Rectangle 12"/>
          <p:cNvSpPr/>
          <p:nvPr/>
        </p:nvSpPr>
        <p:spPr>
          <a:xfrm>
            <a:off x="502920" y="3950208"/>
            <a:ext cx="11155680" cy="594360"/>
          </a:xfrm>
          <a:prstGeom prst="rect">
            <a:avLst/>
          </a:prstGeom>
          <a:solidFill>
            <a:srgbClr val="22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041648"/>
            <a:ext cx="3017520" cy="411480"/>
          </a:xfrm>
          <a:prstGeom prst="rect">
            <a:avLst/>
          </a:prstGeom>
          <a:noFill/>
        </p:spPr>
        <p:txBody>
          <a:bodyPr wrap="square">
            <a:spAutoFit/>
          </a:bodyPr>
          <a:lstStyle/>
          <a:p>
            <a:pPr algn="l"/>
            <a:r>
              <a:rPr sz="1400" b="1" i="0">
                <a:solidFill>
                  <a:srgbClr val="E8601C"/>
                </a:solidFill>
              </a:rPr>
              <a:t>git commit</a:t>
            </a:r>
          </a:p>
        </p:txBody>
      </p:sp>
      <p:sp>
        <p:nvSpPr>
          <p:cNvPr id="15" name="TextBox 14"/>
          <p:cNvSpPr txBox="1"/>
          <p:nvPr/>
        </p:nvSpPr>
        <p:spPr>
          <a:xfrm>
            <a:off x="3749039" y="4041648"/>
            <a:ext cx="7680960" cy="411480"/>
          </a:xfrm>
          <a:prstGeom prst="rect">
            <a:avLst/>
          </a:prstGeom>
          <a:noFill/>
        </p:spPr>
        <p:txBody>
          <a:bodyPr wrap="square">
            <a:spAutoFit/>
          </a:bodyPr>
          <a:lstStyle/>
          <a:p>
            <a:pPr algn="l"/>
            <a:r>
              <a:rPr sz="1300" b="0" i="0">
                <a:solidFill>
                  <a:srgbClr val="FFFFFF"/>
                </a:solidFill>
              </a:rPr>
              <a:t>Save a snapshot of staged changes with a message describing what changed</a:t>
            </a:r>
          </a:p>
        </p:txBody>
      </p:sp>
      <p:sp>
        <p:nvSpPr>
          <p:cNvPr id="16" name="Rectangle 15"/>
          <p:cNvSpPr/>
          <p:nvPr/>
        </p:nvSpPr>
        <p:spPr>
          <a:xfrm>
            <a:off x="502920" y="4608576"/>
            <a:ext cx="111556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700016"/>
            <a:ext cx="3017520" cy="411480"/>
          </a:xfrm>
          <a:prstGeom prst="rect">
            <a:avLst/>
          </a:prstGeom>
          <a:noFill/>
        </p:spPr>
        <p:txBody>
          <a:bodyPr wrap="square">
            <a:spAutoFit/>
          </a:bodyPr>
          <a:lstStyle/>
          <a:p>
            <a:pPr algn="l"/>
            <a:r>
              <a:rPr sz="1400" b="1" i="0">
                <a:solidFill>
                  <a:srgbClr val="E8601C"/>
                </a:solidFill>
              </a:rPr>
              <a:t>git push</a:t>
            </a:r>
          </a:p>
        </p:txBody>
      </p:sp>
      <p:sp>
        <p:nvSpPr>
          <p:cNvPr id="18" name="TextBox 17"/>
          <p:cNvSpPr txBox="1"/>
          <p:nvPr/>
        </p:nvSpPr>
        <p:spPr>
          <a:xfrm>
            <a:off x="3749039" y="4700016"/>
            <a:ext cx="7680960" cy="411480"/>
          </a:xfrm>
          <a:prstGeom prst="rect">
            <a:avLst/>
          </a:prstGeom>
          <a:noFill/>
        </p:spPr>
        <p:txBody>
          <a:bodyPr wrap="square">
            <a:spAutoFit/>
          </a:bodyPr>
          <a:lstStyle/>
          <a:p>
            <a:pPr algn="l"/>
            <a:r>
              <a:rPr sz="1300" b="0" i="0">
                <a:solidFill>
                  <a:srgbClr val="FFFFFF"/>
                </a:solidFill>
              </a:rPr>
              <a:t>Upload your commits from your laptop to GitHub</a:t>
            </a:r>
          </a:p>
        </p:txBody>
      </p:sp>
      <p:sp>
        <p:nvSpPr>
          <p:cNvPr id="19" name="Rectangle 18"/>
          <p:cNvSpPr/>
          <p:nvPr/>
        </p:nvSpPr>
        <p:spPr>
          <a:xfrm>
            <a:off x="502920" y="5266944"/>
            <a:ext cx="11155680" cy="594360"/>
          </a:xfrm>
          <a:prstGeom prst="rect">
            <a:avLst/>
          </a:prstGeom>
          <a:solidFill>
            <a:srgbClr val="22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358384"/>
            <a:ext cx="3017520" cy="411480"/>
          </a:xfrm>
          <a:prstGeom prst="rect">
            <a:avLst/>
          </a:prstGeom>
          <a:noFill/>
        </p:spPr>
        <p:txBody>
          <a:bodyPr wrap="square">
            <a:spAutoFit/>
          </a:bodyPr>
          <a:lstStyle/>
          <a:p>
            <a:pPr algn="l"/>
            <a:r>
              <a:rPr sz="1400" b="1" i="0">
                <a:solidFill>
                  <a:srgbClr val="E8601C"/>
                </a:solidFill>
              </a:rPr>
              <a:t>git pull</a:t>
            </a:r>
          </a:p>
        </p:txBody>
      </p:sp>
      <p:sp>
        <p:nvSpPr>
          <p:cNvPr id="21" name="TextBox 20"/>
          <p:cNvSpPr txBox="1"/>
          <p:nvPr/>
        </p:nvSpPr>
        <p:spPr>
          <a:xfrm>
            <a:off x="3749039" y="5358384"/>
            <a:ext cx="7680960" cy="411480"/>
          </a:xfrm>
          <a:prstGeom prst="rect">
            <a:avLst/>
          </a:prstGeom>
          <a:noFill/>
        </p:spPr>
        <p:txBody>
          <a:bodyPr wrap="square">
            <a:spAutoFit/>
          </a:bodyPr>
          <a:lstStyle/>
          <a:p>
            <a:pPr algn="l"/>
            <a:r>
              <a:rPr sz="1300" b="0" i="0">
                <a:solidFill>
                  <a:srgbClr val="FFFFFF"/>
                </a:solidFill>
              </a:rPr>
              <a:t>Download the latest code from GitHub to your laptop</a:t>
            </a:r>
          </a:p>
        </p:txBody>
      </p:sp>
      <p:sp>
        <p:nvSpPr>
          <p:cNvPr id="22" name="Rectangle 21"/>
          <p:cNvSpPr/>
          <p:nvPr/>
        </p:nvSpPr>
        <p:spPr>
          <a:xfrm>
            <a:off x="502920" y="5989320"/>
            <a:ext cx="11155680" cy="685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6080760"/>
            <a:ext cx="1554480" cy="576072"/>
          </a:xfrm>
          <a:prstGeom prst="rect">
            <a:avLst/>
          </a:prstGeom>
          <a:noFill/>
        </p:spPr>
        <p:txBody>
          <a:bodyPr wrap="square">
            <a:spAutoFit/>
          </a:bodyPr>
          <a:lstStyle/>
          <a:p>
            <a:pPr algn="l"/>
            <a:r>
              <a:rPr sz="1300" b="1" i="0">
                <a:solidFill>
                  <a:srgbClr val="1B5E20"/>
                </a:solidFill>
              </a:rPr>
              <a:t>IN CONNEK:</a:t>
            </a:r>
          </a:p>
        </p:txBody>
      </p:sp>
      <p:sp>
        <p:nvSpPr>
          <p:cNvPr id="24" name="TextBox 23"/>
          <p:cNvSpPr txBox="1"/>
          <p:nvPr/>
        </p:nvSpPr>
        <p:spPr>
          <a:xfrm>
            <a:off x="2057400" y="6080760"/>
            <a:ext cx="9436608" cy="576072"/>
          </a:xfrm>
          <a:prstGeom prst="rect">
            <a:avLst/>
          </a:prstGeom>
          <a:noFill/>
        </p:spPr>
        <p:txBody>
          <a:bodyPr wrap="square">
            <a:spAutoFit/>
          </a:bodyPr>
          <a:lstStyle/>
          <a:p>
            <a:pPr algn="l"/>
            <a:r>
              <a:rPr sz="1300" b="0" i="0">
                <a:solidFill>
                  <a:srgbClr val="333333"/>
                </a:solidFill>
              </a:rPr>
              <a:t>GitHub → Vercel connection: every git push to main triggers an automatic build and deployment. You never manually upload files to Vercel — pushing code is all it takes.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SEO</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Getting found on Google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SEO — Search Engine Optimisation</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48640"/>
          </a:xfrm>
          <a:prstGeom prst="rect">
            <a:avLst/>
          </a:prstGeom>
          <a:noFill/>
        </p:spPr>
        <p:txBody>
          <a:bodyPr wrap="square">
            <a:spAutoFit/>
          </a:bodyPr>
          <a:lstStyle/>
          <a:p>
            <a:pPr algn="l"/>
            <a:r>
              <a:rPr sz="1600" b="0" i="0">
                <a:solidFill>
                  <a:srgbClr val="333333"/>
                </a:solidFill>
              </a:rPr>
              <a:t>SEO is everything you do to appear higher in Google search results. When someone searches 'career networking India', you want theconnek.com on page one.</a:t>
            </a:r>
          </a:p>
        </p:txBody>
      </p:sp>
      <p:sp>
        <p:nvSpPr>
          <p:cNvPr id="6" name="Rectangle 5"/>
          <p:cNvSpPr/>
          <p:nvPr/>
        </p:nvSpPr>
        <p:spPr>
          <a:xfrm>
            <a:off x="365760" y="1920240"/>
            <a:ext cx="5577840" cy="9144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984248"/>
            <a:ext cx="5394960" cy="347472"/>
          </a:xfrm>
          <a:prstGeom prst="rect">
            <a:avLst/>
          </a:prstGeom>
          <a:noFill/>
        </p:spPr>
        <p:txBody>
          <a:bodyPr wrap="square">
            <a:spAutoFit/>
          </a:bodyPr>
          <a:lstStyle/>
          <a:p>
            <a:pPr algn="l"/>
            <a:r>
              <a:rPr sz="1400" b="1" i="0">
                <a:solidFill>
                  <a:srgbClr val="0D47A1"/>
                </a:solidFill>
              </a:rPr>
              <a:t>Page Title &amp; Meta Description</a:t>
            </a:r>
          </a:p>
        </p:txBody>
      </p:sp>
      <p:sp>
        <p:nvSpPr>
          <p:cNvPr id="8" name="TextBox 7"/>
          <p:cNvSpPr txBox="1"/>
          <p:nvPr/>
        </p:nvSpPr>
        <p:spPr>
          <a:xfrm>
            <a:off x="475488" y="2377440"/>
            <a:ext cx="5394960" cy="347472"/>
          </a:xfrm>
          <a:prstGeom prst="rect">
            <a:avLst/>
          </a:prstGeom>
          <a:noFill/>
        </p:spPr>
        <p:txBody>
          <a:bodyPr wrap="square">
            <a:spAutoFit/>
          </a:bodyPr>
          <a:lstStyle/>
          <a:p>
            <a:pPr algn="l"/>
            <a:r>
              <a:rPr sz="1200" b="0" i="0">
                <a:solidFill>
                  <a:srgbClr val="333333"/>
                </a:solidFill>
              </a:rPr>
              <a:t>What shows in the Google listing</a:t>
            </a:r>
          </a:p>
        </p:txBody>
      </p:sp>
      <p:sp>
        <p:nvSpPr>
          <p:cNvPr id="9" name="Rectangle 8"/>
          <p:cNvSpPr/>
          <p:nvPr/>
        </p:nvSpPr>
        <p:spPr>
          <a:xfrm>
            <a:off x="6126480" y="1920240"/>
            <a:ext cx="5577840" cy="9144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36208" y="1984248"/>
            <a:ext cx="5394960" cy="347472"/>
          </a:xfrm>
          <a:prstGeom prst="rect">
            <a:avLst/>
          </a:prstGeom>
          <a:noFill/>
        </p:spPr>
        <p:txBody>
          <a:bodyPr wrap="square">
            <a:spAutoFit/>
          </a:bodyPr>
          <a:lstStyle/>
          <a:p>
            <a:pPr algn="l"/>
            <a:r>
              <a:rPr sz="1400" b="1" i="0">
                <a:solidFill>
                  <a:srgbClr val="1B5E20"/>
                </a:solidFill>
              </a:rPr>
              <a:t>Sitemap (/sitemap.xml)</a:t>
            </a:r>
          </a:p>
        </p:txBody>
      </p:sp>
      <p:sp>
        <p:nvSpPr>
          <p:cNvPr id="11" name="TextBox 10"/>
          <p:cNvSpPr txBox="1"/>
          <p:nvPr/>
        </p:nvSpPr>
        <p:spPr>
          <a:xfrm>
            <a:off x="6236208" y="2377440"/>
            <a:ext cx="5394960" cy="347472"/>
          </a:xfrm>
          <a:prstGeom prst="rect">
            <a:avLst/>
          </a:prstGeom>
          <a:noFill/>
        </p:spPr>
        <p:txBody>
          <a:bodyPr wrap="square">
            <a:spAutoFit/>
          </a:bodyPr>
          <a:lstStyle/>
          <a:p>
            <a:pPr algn="l"/>
            <a:r>
              <a:rPr sz="1200" b="0" i="0">
                <a:solidFill>
                  <a:srgbClr val="333333"/>
                </a:solidFill>
              </a:rPr>
              <a:t>Lists all your pages — hands Google your full page list directly</a:t>
            </a:r>
          </a:p>
        </p:txBody>
      </p:sp>
      <p:sp>
        <p:nvSpPr>
          <p:cNvPr id="12" name="Rectangle 11"/>
          <p:cNvSpPr/>
          <p:nvPr/>
        </p:nvSpPr>
        <p:spPr>
          <a:xfrm>
            <a:off x="365760" y="2926080"/>
            <a:ext cx="5577840" cy="9144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990088"/>
            <a:ext cx="5394960" cy="347472"/>
          </a:xfrm>
          <a:prstGeom prst="rect">
            <a:avLst/>
          </a:prstGeom>
          <a:noFill/>
        </p:spPr>
        <p:txBody>
          <a:bodyPr wrap="square">
            <a:spAutoFit/>
          </a:bodyPr>
          <a:lstStyle/>
          <a:p>
            <a:pPr algn="l"/>
            <a:r>
              <a:rPr sz="1400" b="1" i="0">
                <a:solidFill>
                  <a:srgbClr val="0D47A1"/>
                </a:solidFill>
              </a:rPr>
              <a:t>robots.txt</a:t>
            </a:r>
          </a:p>
        </p:txBody>
      </p:sp>
      <p:sp>
        <p:nvSpPr>
          <p:cNvPr id="14" name="TextBox 13"/>
          <p:cNvSpPr txBox="1"/>
          <p:nvPr/>
        </p:nvSpPr>
        <p:spPr>
          <a:xfrm>
            <a:off x="475488" y="3383280"/>
            <a:ext cx="5394960" cy="347472"/>
          </a:xfrm>
          <a:prstGeom prst="rect">
            <a:avLst/>
          </a:prstGeom>
          <a:noFill/>
        </p:spPr>
        <p:txBody>
          <a:bodyPr wrap="square">
            <a:spAutoFit/>
          </a:bodyPr>
          <a:lstStyle/>
          <a:p>
            <a:pPr algn="l"/>
            <a:r>
              <a:rPr sz="1200" b="0" i="0">
                <a:solidFill>
                  <a:srgbClr val="333333"/>
                </a:solidFill>
              </a:rPr>
              <a:t>Tells Google which pages to crawl and which to ignore</a:t>
            </a:r>
          </a:p>
        </p:txBody>
      </p:sp>
      <p:sp>
        <p:nvSpPr>
          <p:cNvPr id="15" name="Rectangle 14"/>
          <p:cNvSpPr/>
          <p:nvPr/>
        </p:nvSpPr>
        <p:spPr>
          <a:xfrm>
            <a:off x="6126480" y="2926080"/>
            <a:ext cx="5577840" cy="9144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2990088"/>
            <a:ext cx="5394960" cy="347472"/>
          </a:xfrm>
          <a:prstGeom prst="rect">
            <a:avLst/>
          </a:prstGeom>
          <a:noFill/>
        </p:spPr>
        <p:txBody>
          <a:bodyPr wrap="square">
            <a:spAutoFit/>
          </a:bodyPr>
          <a:lstStyle/>
          <a:p>
            <a:pPr algn="l"/>
            <a:r>
              <a:rPr sz="1400" b="1" i="0">
                <a:solidFill>
                  <a:srgbClr val="1B5E20"/>
                </a:solidFill>
              </a:rPr>
              <a:t>Page Speed</a:t>
            </a:r>
          </a:p>
        </p:txBody>
      </p:sp>
      <p:sp>
        <p:nvSpPr>
          <p:cNvPr id="17" name="TextBox 16"/>
          <p:cNvSpPr txBox="1"/>
          <p:nvPr/>
        </p:nvSpPr>
        <p:spPr>
          <a:xfrm>
            <a:off x="6236208" y="3383280"/>
            <a:ext cx="5394960" cy="347472"/>
          </a:xfrm>
          <a:prstGeom prst="rect">
            <a:avLst/>
          </a:prstGeom>
          <a:noFill/>
        </p:spPr>
        <p:txBody>
          <a:bodyPr wrap="square">
            <a:spAutoFit/>
          </a:bodyPr>
          <a:lstStyle/>
          <a:p>
            <a:pPr algn="l"/>
            <a:r>
              <a:rPr sz="1200" b="0" i="0">
                <a:solidFill>
                  <a:srgbClr val="333333"/>
                </a:solidFill>
              </a:rPr>
              <a:t>Faster sites rank higher. Vercel's CDN helps here.</a:t>
            </a:r>
          </a:p>
        </p:txBody>
      </p:sp>
      <p:sp>
        <p:nvSpPr>
          <p:cNvPr id="18" name="Rectangle 17"/>
          <p:cNvSpPr/>
          <p:nvPr/>
        </p:nvSpPr>
        <p:spPr>
          <a:xfrm>
            <a:off x="365760" y="3931920"/>
            <a:ext cx="5577840" cy="9144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3995928"/>
            <a:ext cx="5394960" cy="347472"/>
          </a:xfrm>
          <a:prstGeom prst="rect">
            <a:avLst/>
          </a:prstGeom>
          <a:noFill/>
        </p:spPr>
        <p:txBody>
          <a:bodyPr wrap="square">
            <a:spAutoFit/>
          </a:bodyPr>
          <a:lstStyle/>
          <a:p>
            <a:pPr algn="l"/>
            <a:r>
              <a:rPr sz="1400" b="1" i="0">
                <a:solidFill>
                  <a:srgbClr val="0D47A1"/>
                </a:solidFill>
              </a:rPr>
              <a:t>Mobile-Friendly</a:t>
            </a:r>
          </a:p>
        </p:txBody>
      </p:sp>
      <p:sp>
        <p:nvSpPr>
          <p:cNvPr id="20" name="TextBox 19"/>
          <p:cNvSpPr txBox="1"/>
          <p:nvPr/>
        </p:nvSpPr>
        <p:spPr>
          <a:xfrm>
            <a:off x="475488" y="4389120"/>
            <a:ext cx="5394960" cy="347472"/>
          </a:xfrm>
          <a:prstGeom prst="rect">
            <a:avLst/>
          </a:prstGeom>
          <a:noFill/>
        </p:spPr>
        <p:txBody>
          <a:bodyPr wrap="square">
            <a:spAutoFit/>
          </a:bodyPr>
          <a:lstStyle/>
          <a:p>
            <a:pPr algn="l"/>
            <a:r>
              <a:rPr sz="1200" b="0" i="0">
                <a:solidFill>
                  <a:srgbClr val="333333"/>
                </a:solidFill>
              </a:rPr>
              <a:t>Google penalises non-mobile sites. Our Tailwind layout is responsive.</a:t>
            </a:r>
          </a:p>
        </p:txBody>
      </p:sp>
      <p:sp>
        <p:nvSpPr>
          <p:cNvPr id="21" name="Rectangle 20"/>
          <p:cNvSpPr/>
          <p:nvPr/>
        </p:nvSpPr>
        <p:spPr>
          <a:xfrm>
            <a:off x="6126480" y="3931920"/>
            <a:ext cx="5577840" cy="9144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6208" y="3995928"/>
            <a:ext cx="5394960" cy="347472"/>
          </a:xfrm>
          <a:prstGeom prst="rect">
            <a:avLst/>
          </a:prstGeom>
          <a:noFill/>
        </p:spPr>
        <p:txBody>
          <a:bodyPr wrap="square">
            <a:spAutoFit/>
          </a:bodyPr>
          <a:lstStyle/>
          <a:p>
            <a:pPr algn="l"/>
            <a:r>
              <a:rPr sz="1400" b="1" i="0">
                <a:solidFill>
                  <a:srgbClr val="1B5E20"/>
                </a:solidFill>
              </a:rPr>
              <a:t>Content Relevance</a:t>
            </a:r>
          </a:p>
        </p:txBody>
      </p:sp>
      <p:sp>
        <p:nvSpPr>
          <p:cNvPr id="23" name="TextBox 22"/>
          <p:cNvSpPr txBox="1"/>
          <p:nvPr/>
        </p:nvSpPr>
        <p:spPr>
          <a:xfrm>
            <a:off x="6236208" y="4389120"/>
            <a:ext cx="5394960" cy="347472"/>
          </a:xfrm>
          <a:prstGeom prst="rect">
            <a:avLst/>
          </a:prstGeom>
          <a:noFill/>
        </p:spPr>
        <p:txBody>
          <a:bodyPr wrap="square">
            <a:spAutoFit/>
          </a:bodyPr>
          <a:lstStyle/>
          <a:p>
            <a:pPr algn="l"/>
            <a:r>
              <a:rPr sz="1200" b="0" i="0">
                <a:solidFill>
                  <a:srgbClr val="333333"/>
                </a:solidFill>
              </a:rPr>
              <a:t>Original, relevant content beats generic text every time</a:t>
            </a:r>
          </a:p>
        </p:txBody>
      </p:sp>
      <p:sp>
        <p:nvSpPr>
          <p:cNvPr id="24" name="Rectangle 23"/>
          <p:cNvSpPr/>
          <p:nvPr/>
        </p:nvSpPr>
        <p:spPr>
          <a:xfrm>
            <a:off x="365760" y="4983480"/>
            <a:ext cx="11430000" cy="804672"/>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5074920"/>
            <a:ext cx="1554480" cy="694944"/>
          </a:xfrm>
          <a:prstGeom prst="rect">
            <a:avLst/>
          </a:prstGeom>
          <a:noFill/>
        </p:spPr>
        <p:txBody>
          <a:bodyPr wrap="square">
            <a:spAutoFit/>
          </a:bodyPr>
          <a:lstStyle/>
          <a:p>
            <a:pPr algn="l"/>
            <a:r>
              <a:rPr sz="1300" b="1" i="0">
                <a:solidFill>
                  <a:srgbClr val="1B5E20"/>
                </a:solidFill>
              </a:rPr>
              <a:t>IN CONNEK:</a:t>
            </a:r>
          </a:p>
        </p:txBody>
      </p:sp>
      <p:sp>
        <p:nvSpPr>
          <p:cNvPr id="26" name="TextBox 25"/>
          <p:cNvSpPr txBox="1"/>
          <p:nvPr/>
        </p:nvSpPr>
        <p:spPr>
          <a:xfrm>
            <a:off x="1920240" y="5074920"/>
            <a:ext cx="9710928" cy="694944"/>
          </a:xfrm>
          <a:prstGeom prst="rect">
            <a:avLst/>
          </a:prstGeom>
          <a:noFill/>
        </p:spPr>
        <p:txBody>
          <a:bodyPr wrap="square">
            <a:spAutoFit/>
          </a:bodyPr>
          <a:lstStyle/>
          <a:p>
            <a:pPr algn="l"/>
            <a:r>
              <a:rPr sz="1300" b="0" i="0">
                <a:solidFill>
                  <a:srgbClr val="333333"/>
                </a:solidFill>
              </a:rPr>
              <a:t>We built: sitemap.ts (lists all pages), robots.ts (allows all crawling), OG image (better link previews), and proper page titles. All in Next.js.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Analytics</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Understanding who visits and what they do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GA4 vs Microsoft Clarity — Two Different Views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98448"/>
            <a:ext cx="5394960" cy="38404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89888"/>
            <a:ext cx="5212080" cy="411480"/>
          </a:xfrm>
          <a:prstGeom prst="rect">
            <a:avLst/>
          </a:prstGeom>
          <a:noFill/>
        </p:spPr>
        <p:txBody>
          <a:bodyPr wrap="square">
            <a:spAutoFit/>
          </a:bodyPr>
          <a:lstStyle/>
          <a:p>
            <a:pPr algn="l"/>
            <a:r>
              <a:rPr sz="1700" b="1" i="0">
                <a:solidFill>
                  <a:srgbClr val="0D47A1"/>
                </a:solidFill>
              </a:rPr>
              <a:t>Google Analytics 4 (GA4)</a:t>
            </a:r>
          </a:p>
        </p:txBody>
      </p:sp>
      <p:sp>
        <p:nvSpPr>
          <p:cNvPr id="7" name="TextBox 6"/>
          <p:cNvSpPr txBox="1"/>
          <p:nvPr/>
        </p:nvSpPr>
        <p:spPr>
          <a:xfrm>
            <a:off x="502920" y="1828800"/>
            <a:ext cx="5212080" cy="3108960"/>
          </a:xfrm>
          <a:prstGeom prst="rect">
            <a:avLst/>
          </a:prstGeom>
          <a:noFill/>
        </p:spPr>
        <p:txBody>
          <a:bodyPr wrap="square">
            <a:spAutoFit/>
          </a:bodyPr>
          <a:lstStyle/>
          <a:p>
            <a:pPr algn="l"/>
            <a:r>
              <a:rPr sz="1300" b="0" i="0">
                <a:solidFill>
                  <a:srgbClr val="333333"/>
                </a:solidFill>
              </a:rPr>
              <a:t>The NUMBERS view.
• How many people visited today
• Where they came from
  (Instagram, Google, direct)
• Which pages they visited
• How long they stayed
• What device / country
• Did they click Join?
  Did they submit the form?</a:t>
            </a:r>
          </a:p>
        </p:txBody>
      </p:sp>
      <p:sp>
        <p:nvSpPr>
          <p:cNvPr id="8" name="Rectangle 7"/>
          <p:cNvSpPr/>
          <p:nvPr/>
        </p:nvSpPr>
        <p:spPr>
          <a:xfrm>
            <a:off x="6217920" y="1298448"/>
            <a:ext cx="5394960" cy="38404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389888"/>
            <a:ext cx="5212080" cy="411480"/>
          </a:xfrm>
          <a:prstGeom prst="rect">
            <a:avLst/>
          </a:prstGeom>
          <a:noFill/>
        </p:spPr>
        <p:txBody>
          <a:bodyPr wrap="square">
            <a:spAutoFit/>
          </a:bodyPr>
          <a:lstStyle/>
          <a:p>
            <a:pPr algn="l"/>
            <a:r>
              <a:rPr sz="1700" b="1" i="0">
                <a:solidFill>
                  <a:srgbClr val="1B5E20"/>
                </a:solidFill>
              </a:rPr>
              <a:t>Microsoft Clarity</a:t>
            </a:r>
          </a:p>
        </p:txBody>
      </p:sp>
      <p:sp>
        <p:nvSpPr>
          <p:cNvPr id="10" name="TextBox 9"/>
          <p:cNvSpPr txBox="1"/>
          <p:nvPr/>
        </p:nvSpPr>
        <p:spPr>
          <a:xfrm>
            <a:off x="6355080" y="1828800"/>
            <a:ext cx="5212080" cy="3108960"/>
          </a:xfrm>
          <a:prstGeom prst="rect">
            <a:avLst/>
          </a:prstGeom>
          <a:noFill/>
        </p:spPr>
        <p:txBody>
          <a:bodyPr wrap="square">
            <a:spAutoFit/>
          </a:bodyPr>
          <a:lstStyle/>
          <a:p>
            <a:pPr algn="l"/>
            <a:r>
              <a:rPr sz="1300" b="0" i="0">
                <a:solidFill>
                  <a:srgbClr val="333333"/>
                </a:solidFill>
              </a:rPr>
              <a:t>The VISUAL view.
• Session recordings: watch a real
  user scroll and click on your site
• Heatmaps: colour overlay showing
  which areas get clicked most
• Scroll maps: how far users scroll
  before they leave
• Free, no install except a JS snippet</a:t>
            </a:r>
          </a:p>
        </p:txBody>
      </p:sp>
      <p:sp>
        <p:nvSpPr>
          <p:cNvPr id="11" name="Rectangle 10"/>
          <p:cNvSpPr/>
          <p:nvPr/>
        </p:nvSpPr>
        <p:spPr>
          <a:xfrm>
            <a:off x="365760" y="5303520"/>
            <a:ext cx="11430000" cy="86868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5394960"/>
            <a:ext cx="1554480" cy="758952"/>
          </a:xfrm>
          <a:prstGeom prst="rect">
            <a:avLst/>
          </a:prstGeom>
          <a:noFill/>
        </p:spPr>
        <p:txBody>
          <a:bodyPr wrap="square">
            <a:spAutoFit/>
          </a:bodyPr>
          <a:lstStyle/>
          <a:p>
            <a:pPr algn="l"/>
            <a:r>
              <a:rPr sz="1300" b="1" i="0">
                <a:solidFill>
                  <a:srgbClr val="926000"/>
                </a:solidFill>
              </a:rPr>
              <a:t>ANALOGY:</a:t>
            </a:r>
          </a:p>
        </p:txBody>
      </p:sp>
      <p:sp>
        <p:nvSpPr>
          <p:cNvPr id="13" name="TextBox 12"/>
          <p:cNvSpPr txBox="1"/>
          <p:nvPr/>
        </p:nvSpPr>
        <p:spPr>
          <a:xfrm>
            <a:off x="1920240" y="5394960"/>
            <a:ext cx="9710928" cy="758952"/>
          </a:xfrm>
          <a:prstGeom prst="rect">
            <a:avLst/>
          </a:prstGeom>
          <a:noFill/>
        </p:spPr>
        <p:txBody>
          <a:bodyPr wrap="square">
            <a:spAutoFit/>
          </a:bodyPr>
          <a:lstStyle/>
          <a:p>
            <a:pPr algn="l"/>
            <a:r>
              <a:rPr sz="1300" b="0" i="0">
                <a:solidFill>
                  <a:srgbClr val="333333"/>
                </a:solidFill>
              </a:rPr>
              <a:t>GA4 = the speedometer and fuel gauge (numbers). Clarity = the dashcam footage (watch what actually happened on each trip).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How to Turn Analytics On</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94360"/>
          </a:xfrm>
          <a:prstGeom prst="rect">
            <a:avLst/>
          </a:prstGeom>
          <a:noFill/>
        </p:spPr>
        <p:txBody>
          <a:bodyPr wrap="square">
            <a:spAutoFit/>
          </a:bodyPr>
          <a:lstStyle/>
          <a:p>
            <a:pPr algn="l"/>
            <a:r>
              <a:rPr sz="1600" b="0" i="0">
                <a:solidFill>
                  <a:srgbClr val="333333"/>
                </a:solidFill>
              </a:rPr>
              <a:t>We built an Analytics component that loads both GA4 and Clarity. They only activate when the environment variables are set — so test traffic on your laptop never pollutes your data.</a:t>
            </a:r>
          </a:p>
        </p:txBody>
      </p:sp>
      <p:sp>
        <p:nvSpPr>
          <p:cNvPr id="6" name="Rectangle 5"/>
          <p:cNvSpPr/>
          <p:nvPr/>
        </p:nvSpPr>
        <p:spPr>
          <a:xfrm>
            <a:off x="365760" y="1965960"/>
            <a:ext cx="5577840" cy="23774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057400"/>
            <a:ext cx="5303520" cy="411480"/>
          </a:xfrm>
          <a:prstGeom prst="rect">
            <a:avLst/>
          </a:prstGeom>
          <a:noFill/>
        </p:spPr>
        <p:txBody>
          <a:bodyPr wrap="square">
            <a:spAutoFit/>
          </a:bodyPr>
          <a:lstStyle/>
          <a:p>
            <a:pPr algn="l"/>
            <a:r>
              <a:rPr sz="1600" b="1" i="0">
                <a:solidFill>
                  <a:srgbClr val="0D47A1"/>
                </a:solidFill>
              </a:rPr>
              <a:t>GA4 Setup</a:t>
            </a:r>
          </a:p>
        </p:txBody>
      </p:sp>
      <p:sp>
        <p:nvSpPr>
          <p:cNvPr id="8" name="TextBox 7"/>
          <p:cNvSpPr txBox="1"/>
          <p:nvPr/>
        </p:nvSpPr>
        <p:spPr>
          <a:xfrm>
            <a:off x="502920" y="2514600"/>
            <a:ext cx="5303520" cy="1691640"/>
          </a:xfrm>
          <a:prstGeom prst="rect">
            <a:avLst/>
          </a:prstGeom>
          <a:noFill/>
        </p:spPr>
        <p:txBody>
          <a:bodyPr wrap="square">
            <a:spAutoFit/>
          </a:bodyPr>
          <a:lstStyle/>
          <a:p>
            <a:pPr algn="l"/>
            <a:r>
              <a:rPr sz="1300" b="0" i="0">
                <a:solidFill>
                  <a:srgbClr val="333333"/>
                </a:solidFill>
              </a:rPr>
              <a:t>1. Go to analytics.google.com
2. Create a property for theconnek.com
3. Copy the Measurement ID (looks like G-XXXXXXXX)
4. Paste it into Vercel: NEXT_PUBLIC_GA_ID</a:t>
            </a:r>
          </a:p>
        </p:txBody>
      </p:sp>
      <p:sp>
        <p:nvSpPr>
          <p:cNvPr id="9" name="Rectangle 8"/>
          <p:cNvSpPr/>
          <p:nvPr/>
        </p:nvSpPr>
        <p:spPr>
          <a:xfrm>
            <a:off x="6126480" y="1965960"/>
            <a:ext cx="5577840" cy="23774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2057400"/>
            <a:ext cx="5303520" cy="411480"/>
          </a:xfrm>
          <a:prstGeom prst="rect">
            <a:avLst/>
          </a:prstGeom>
          <a:noFill/>
        </p:spPr>
        <p:txBody>
          <a:bodyPr wrap="square">
            <a:spAutoFit/>
          </a:bodyPr>
          <a:lstStyle/>
          <a:p>
            <a:pPr algn="l"/>
            <a:r>
              <a:rPr sz="1600" b="1" i="0">
                <a:solidFill>
                  <a:srgbClr val="1B5E20"/>
                </a:solidFill>
              </a:rPr>
              <a:t>Clarity Setup</a:t>
            </a:r>
          </a:p>
        </p:txBody>
      </p:sp>
      <p:sp>
        <p:nvSpPr>
          <p:cNvPr id="11" name="TextBox 10"/>
          <p:cNvSpPr txBox="1"/>
          <p:nvPr/>
        </p:nvSpPr>
        <p:spPr>
          <a:xfrm>
            <a:off x="6263640" y="2514600"/>
            <a:ext cx="5303520" cy="1691640"/>
          </a:xfrm>
          <a:prstGeom prst="rect">
            <a:avLst/>
          </a:prstGeom>
          <a:noFill/>
        </p:spPr>
        <p:txBody>
          <a:bodyPr wrap="square">
            <a:spAutoFit/>
          </a:bodyPr>
          <a:lstStyle/>
          <a:p>
            <a:pPr algn="l"/>
            <a:r>
              <a:rPr sz="1300" b="0" i="0">
                <a:solidFill>
                  <a:srgbClr val="333333"/>
                </a:solidFill>
              </a:rPr>
              <a:t>1. Go to clarity.microsoft.com
2. Create a project for theconnek.com
3. Copy the Project ID
4. Paste it into Vercel: NEXT_PUBLIC_CLARITY_ID</a:t>
            </a:r>
          </a:p>
        </p:txBody>
      </p:sp>
      <p:sp>
        <p:nvSpPr>
          <p:cNvPr id="12" name="Rectangle 11"/>
          <p:cNvSpPr/>
          <p:nvPr/>
        </p:nvSpPr>
        <p:spPr>
          <a:xfrm>
            <a:off x="365760" y="4526280"/>
            <a:ext cx="11430000"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572000"/>
            <a:ext cx="11247120" cy="411480"/>
          </a:xfrm>
          <a:prstGeom prst="rect">
            <a:avLst/>
          </a:prstGeom>
          <a:noFill/>
        </p:spPr>
        <p:txBody>
          <a:bodyPr wrap="square">
            <a:spAutoFit/>
          </a:bodyPr>
          <a:lstStyle/>
          <a:p>
            <a:pPr algn="ctr"/>
            <a:r>
              <a:rPr sz="1500" b="1" i="0">
                <a:solidFill>
                  <a:srgbClr val="FFFFFF"/>
                </a:solidFill>
              </a:rPr>
              <a:t>To turn off: just remove the env vars from Vercel. No code changes needed.</a:t>
            </a:r>
          </a:p>
        </p:txBody>
      </p:sp>
      <p:sp>
        <p:nvSpPr>
          <p:cNvPr id="14" name="Rectangle 13"/>
          <p:cNvSpPr/>
          <p:nvPr/>
        </p:nvSpPr>
        <p:spPr>
          <a:xfrm>
            <a:off x="365760" y="5166360"/>
            <a:ext cx="11430000" cy="804672"/>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257800"/>
            <a:ext cx="1554480" cy="694944"/>
          </a:xfrm>
          <a:prstGeom prst="rect">
            <a:avLst/>
          </a:prstGeom>
          <a:noFill/>
        </p:spPr>
        <p:txBody>
          <a:bodyPr wrap="square">
            <a:spAutoFit/>
          </a:bodyPr>
          <a:lstStyle/>
          <a:p>
            <a:pPr algn="l"/>
            <a:r>
              <a:rPr sz="1300" b="1" i="0">
                <a:solidFill>
                  <a:srgbClr val="1B5E20"/>
                </a:solidFill>
              </a:rPr>
              <a:t>IN CONNEK:</a:t>
            </a:r>
          </a:p>
        </p:txBody>
      </p:sp>
      <p:sp>
        <p:nvSpPr>
          <p:cNvPr id="16" name="TextBox 15"/>
          <p:cNvSpPr txBox="1"/>
          <p:nvPr/>
        </p:nvSpPr>
        <p:spPr>
          <a:xfrm>
            <a:off x="1920240" y="5257800"/>
            <a:ext cx="9710928" cy="694944"/>
          </a:xfrm>
          <a:prstGeom prst="rect">
            <a:avLst/>
          </a:prstGeom>
          <a:noFill/>
        </p:spPr>
        <p:txBody>
          <a:bodyPr wrap="square">
            <a:spAutoFit/>
          </a:bodyPr>
          <a:lstStyle/>
          <a:p>
            <a:pPr algn="l"/>
            <a:r>
              <a:rPr sz="1300" b="0" i="0">
                <a:solidFill>
                  <a:srgbClr val="333333"/>
                </a:solidFill>
              </a:rPr>
              <a:t>Pending for Connek: get your GA4 Measurement ID and Clarity Project ID, then add them as env vars in Vercel dashboard → Settings → Environment Variables.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Legal Pages</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Privacy Policy and Terms of Service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Privacy Policy &amp; Terms of Service</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98448"/>
            <a:ext cx="5394960" cy="256032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89888"/>
            <a:ext cx="5212080" cy="411480"/>
          </a:xfrm>
          <a:prstGeom prst="rect">
            <a:avLst/>
          </a:prstGeom>
          <a:noFill/>
        </p:spPr>
        <p:txBody>
          <a:bodyPr wrap="square">
            <a:spAutoFit/>
          </a:bodyPr>
          <a:lstStyle/>
          <a:p>
            <a:pPr algn="l"/>
            <a:r>
              <a:rPr sz="1800" b="1" i="0">
                <a:solidFill>
                  <a:srgbClr val="0D47A1"/>
                </a:solidFill>
              </a:rPr>
              <a:t>Privacy Policy</a:t>
            </a:r>
          </a:p>
        </p:txBody>
      </p:sp>
      <p:sp>
        <p:nvSpPr>
          <p:cNvPr id="7" name="TextBox 6"/>
          <p:cNvSpPr txBox="1"/>
          <p:nvPr/>
        </p:nvSpPr>
        <p:spPr>
          <a:xfrm>
            <a:off x="502920" y="1828800"/>
            <a:ext cx="5212080" cy="1920240"/>
          </a:xfrm>
          <a:prstGeom prst="rect">
            <a:avLst/>
          </a:prstGeom>
          <a:noFill/>
        </p:spPr>
        <p:txBody>
          <a:bodyPr wrap="square">
            <a:spAutoFit/>
          </a:bodyPr>
          <a:lstStyle/>
          <a:p>
            <a:pPr algn="l"/>
            <a:r>
              <a:rPr sz="1300" b="0" i="0">
                <a:solidFill>
                  <a:srgbClr val="333333"/>
                </a:solidFill>
              </a:rPr>
              <a:t>Tells users:
• What data you collect (name, email)
• Why you collect it (waitlist)
• How you store it (Supabase/Postgres)
• Who you share it with (Resend only)
• How they can request deletion
India's DPDP Act (2023) requires this
for any platform collecting Indian user data.</a:t>
            </a:r>
          </a:p>
        </p:txBody>
      </p:sp>
      <p:sp>
        <p:nvSpPr>
          <p:cNvPr id="8" name="Rectangle 7"/>
          <p:cNvSpPr/>
          <p:nvPr/>
        </p:nvSpPr>
        <p:spPr>
          <a:xfrm>
            <a:off x="6217920" y="1298448"/>
            <a:ext cx="5394960" cy="25603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389888"/>
            <a:ext cx="5212080" cy="411480"/>
          </a:xfrm>
          <a:prstGeom prst="rect">
            <a:avLst/>
          </a:prstGeom>
          <a:noFill/>
        </p:spPr>
        <p:txBody>
          <a:bodyPr wrap="square">
            <a:spAutoFit/>
          </a:bodyPr>
          <a:lstStyle/>
          <a:p>
            <a:pPr algn="l"/>
            <a:r>
              <a:rPr sz="1800" b="1" i="0">
                <a:solidFill>
                  <a:srgbClr val="1B5E20"/>
                </a:solidFill>
              </a:rPr>
              <a:t>Terms of Service</a:t>
            </a:r>
          </a:p>
        </p:txBody>
      </p:sp>
      <p:sp>
        <p:nvSpPr>
          <p:cNvPr id="10" name="TextBox 9"/>
          <p:cNvSpPr txBox="1"/>
          <p:nvPr/>
        </p:nvSpPr>
        <p:spPr>
          <a:xfrm>
            <a:off x="6355080" y="1828800"/>
            <a:ext cx="5212080" cy="1920240"/>
          </a:xfrm>
          <a:prstGeom prst="rect">
            <a:avLst/>
          </a:prstGeom>
          <a:noFill/>
        </p:spPr>
        <p:txBody>
          <a:bodyPr wrap="square">
            <a:spAutoFit/>
          </a:bodyPr>
          <a:lstStyle/>
          <a:p>
            <a:pPr algn="l"/>
            <a:r>
              <a:rPr sz="1300" b="0" i="0">
                <a:solidFill>
                  <a:srgbClr val="333333"/>
                </a:solidFill>
              </a:rPr>
              <a:t>Defines:
• What users can and cannot do
• What you are responsible for
  (and not responsible for)
• How disputes are resolved
• Your right to remove content
  or terminate accounts
Without it: no documented agreement
if a user makes a claim.</a:t>
            </a:r>
          </a:p>
        </p:txBody>
      </p:sp>
      <p:sp>
        <p:nvSpPr>
          <p:cNvPr id="11" name="Rectangle 10"/>
          <p:cNvSpPr/>
          <p:nvPr/>
        </p:nvSpPr>
        <p:spPr>
          <a:xfrm>
            <a:off x="365760" y="4069080"/>
            <a:ext cx="11430000" cy="50292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114800"/>
            <a:ext cx="11247120" cy="411480"/>
          </a:xfrm>
          <a:prstGeom prst="rect">
            <a:avLst/>
          </a:prstGeom>
          <a:noFill/>
        </p:spPr>
        <p:txBody>
          <a:bodyPr wrap="square">
            <a:spAutoFit/>
          </a:bodyPr>
          <a:lstStyle/>
          <a:p>
            <a:pPr algn="l"/>
            <a:r>
              <a:rPr sz="1400" b="1" i="0">
                <a:solidFill>
                  <a:srgbClr val="926000"/>
                </a:solidFill>
              </a:rPr>
              <a:t>⚠  DPDP Act (India, 2023): any platform collecting Indian users' personal data MUST have a Privacy Policy.</a:t>
            </a:r>
          </a:p>
        </p:txBody>
      </p:sp>
      <p:sp>
        <p:nvSpPr>
          <p:cNvPr id="13" name="TextBox 12"/>
          <p:cNvSpPr txBox="1"/>
          <p:nvPr/>
        </p:nvSpPr>
        <p:spPr>
          <a:xfrm>
            <a:off x="365760" y="4709160"/>
            <a:ext cx="11430000" cy="411480"/>
          </a:xfrm>
          <a:prstGeom prst="rect">
            <a:avLst/>
          </a:prstGeom>
          <a:noFill/>
        </p:spPr>
        <p:txBody>
          <a:bodyPr wrap="square">
            <a:spAutoFit/>
          </a:bodyPr>
          <a:lstStyle/>
          <a:p>
            <a:pPr algn="l"/>
            <a:r>
              <a:rPr sz="1500" b="0" i="0">
                <a:solidFill>
                  <a:srgbClr val="333333"/>
                </a:solidFill>
              </a:rPr>
              <a:t>Investors and app stores will ask for both documents before taking you seriously.</a:t>
            </a:r>
          </a:p>
        </p:txBody>
      </p:sp>
      <p:sp>
        <p:nvSpPr>
          <p:cNvPr id="14" name="TextBox 13"/>
          <p:cNvSpPr txBox="1"/>
          <p:nvPr/>
        </p:nvSpPr>
        <p:spPr>
          <a:xfrm>
            <a:off x="365760" y="5166360"/>
            <a:ext cx="11430000" cy="411480"/>
          </a:xfrm>
          <a:prstGeom prst="rect">
            <a:avLst/>
          </a:prstGeom>
          <a:noFill/>
        </p:spPr>
        <p:txBody>
          <a:bodyPr wrap="square">
            <a:spAutoFit/>
          </a:bodyPr>
          <a:lstStyle/>
          <a:p>
            <a:pPr algn="l"/>
            <a:r>
              <a:rPr sz="1400" b="1" i="0">
                <a:solidFill>
                  <a:srgbClr val="1B5E20"/>
                </a:solidFill>
              </a:rPr>
              <a:t>Both pages are already built: theconnek.com/privacy  and  theconnek.com/terms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npm &amp; node_modules</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Installing libraries and managing dependencies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npm — How We Install Libraries</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502920"/>
          </a:xfrm>
          <a:prstGeom prst="rect">
            <a:avLst/>
          </a:prstGeom>
          <a:noFill/>
        </p:spPr>
        <p:txBody>
          <a:bodyPr wrap="square">
            <a:spAutoFit/>
          </a:bodyPr>
          <a:lstStyle/>
          <a:p>
            <a:pPr algn="l"/>
            <a:r>
              <a:rPr sz="1600" b="0" i="0">
                <a:solidFill>
                  <a:srgbClr val="333333"/>
                </a:solidFill>
              </a:rPr>
              <a:t>We don't write every piece of code from scratch. We use libraries — other people's code that we install and use.</a:t>
            </a:r>
          </a:p>
        </p:txBody>
      </p:sp>
      <p:sp>
        <p:nvSpPr>
          <p:cNvPr id="6" name="Rectangle 5"/>
          <p:cNvSpPr/>
          <p:nvPr/>
        </p:nvSpPr>
        <p:spPr>
          <a:xfrm>
            <a:off x="502920" y="1874519"/>
            <a:ext cx="11155680" cy="82296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65959"/>
            <a:ext cx="1554480" cy="713232"/>
          </a:xfrm>
          <a:prstGeom prst="rect">
            <a:avLst/>
          </a:prstGeom>
          <a:noFill/>
        </p:spPr>
        <p:txBody>
          <a:bodyPr wrap="square">
            <a:spAutoFit/>
          </a:bodyPr>
          <a:lstStyle/>
          <a:p>
            <a:pPr algn="l"/>
            <a:r>
              <a:rPr sz="1300" b="1" i="0">
                <a:solidFill>
                  <a:srgbClr val="926000"/>
                </a:solidFill>
              </a:rPr>
              <a:t>ANALOGY:</a:t>
            </a:r>
          </a:p>
        </p:txBody>
      </p:sp>
      <p:sp>
        <p:nvSpPr>
          <p:cNvPr id="8" name="TextBox 7"/>
          <p:cNvSpPr txBox="1"/>
          <p:nvPr/>
        </p:nvSpPr>
        <p:spPr>
          <a:xfrm>
            <a:off x="2057400" y="1965959"/>
            <a:ext cx="9436608" cy="713232"/>
          </a:xfrm>
          <a:prstGeom prst="rect">
            <a:avLst/>
          </a:prstGeom>
          <a:noFill/>
        </p:spPr>
        <p:txBody>
          <a:bodyPr wrap="square">
            <a:spAutoFit/>
          </a:bodyPr>
          <a:lstStyle/>
          <a:p>
            <a:pPr algn="l"/>
            <a:r>
              <a:rPr sz="1300" b="0" i="0">
                <a:solidFill>
                  <a:srgbClr val="333333"/>
                </a:solidFill>
              </a:rPr>
              <a:t>npm = Amazon for code. package.json = your shopping list. npm install = placing the order. node_modules = the delivered packages in your project folder.</a:t>
            </a:r>
          </a:p>
        </p:txBody>
      </p:sp>
      <p:sp>
        <p:nvSpPr>
          <p:cNvPr id="9" name="Rectangle 8"/>
          <p:cNvSpPr/>
          <p:nvPr/>
        </p:nvSpPr>
        <p:spPr>
          <a:xfrm>
            <a:off x="365760" y="2880360"/>
            <a:ext cx="5577840" cy="8686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953512"/>
            <a:ext cx="5394960" cy="347472"/>
          </a:xfrm>
          <a:prstGeom prst="rect">
            <a:avLst/>
          </a:prstGeom>
          <a:noFill/>
        </p:spPr>
        <p:txBody>
          <a:bodyPr wrap="square">
            <a:spAutoFit/>
          </a:bodyPr>
          <a:lstStyle/>
          <a:p>
            <a:pPr algn="l"/>
            <a:r>
              <a:rPr sz="1500" b="1" i="0">
                <a:solidFill>
                  <a:srgbClr val="0D47A1"/>
                </a:solidFill>
              </a:rPr>
              <a:t>npm</a:t>
            </a:r>
          </a:p>
        </p:txBody>
      </p:sp>
      <p:sp>
        <p:nvSpPr>
          <p:cNvPr id="11" name="TextBox 10"/>
          <p:cNvSpPr txBox="1"/>
          <p:nvPr/>
        </p:nvSpPr>
        <p:spPr>
          <a:xfrm>
            <a:off x="502920" y="3355848"/>
            <a:ext cx="5394960" cy="292608"/>
          </a:xfrm>
          <a:prstGeom prst="rect">
            <a:avLst/>
          </a:prstGeom>
          <a:noFill/>
        </p:spPr>
        <p:txBody>
          <a:bodyPr wrap="square">
            <a:spAutoFit/>
          </a:bodyPr>
          <a:lstStyle/>
          <a:p>
            <a:pPr algn="l"/>
            <a:r>
              <a:rPr sz="1200" b="0" i="0">
                <a:solidFill>
                  <a:srgbClr val="333333"/>
                </a:solidFill>
              </a:rPr>
              <a:t>The tool that downloads libraries from the internet.</a:t>
            </a:r>
          </a:p>
        </p:txBody>
      </p:sp>
      <p:sp>
        <p:nvSpPr>
          <p:cNvPr id="12" name="Rectangle 11"/>
          <p:cNvSpPr/>
          <p:nvPr/>
        </p:nvSpPr>
        <p:spPr>
          <a:xfrm>
            <a:off x="6126480" y="2880360"/>
            <a:ext cx="5577840" cy="8686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2953512"/>
            <a:ext cx="5394960" cy="347472"/>
          </a:xfrm>
          <a:prstGeom prst="rect">
            <a:avLst/>
          </a:prstGeom>
          <a:noFill/>
        </p:spPr>
        <p:txBody>
          <a:bodyPr wrap="square">
            <a:spAutoFit/>
          </a:bodyPr>
          <a:lstStyle/>
          <a:p>
            <a:pPr algn="l"/>
            <a:r>
              <a:rPr sz="1500" b="1" i="0">
                <a:solidFill>
                  <a:srgbClr val="1B5E20"/>
                </a:solidFill>
              </a:rPr>
              <a:t>package.json</a:t>
            </a:r>
          </a:p>
        </p:txBody>
      </p:sp>
      <p:sp>
        <p:nvSpPr>
          <p:cNvPr id="14" name="TextBox 13"/>
          <p:cNvSpPr txBox="1"/>
          <p:nvPr/>
        </p:nvSpPr>
        <p:spPr>
          <a:xfrm>
            <a:off x="6263640" y="3355848"/>
            <a:ext cx="5394960" cy="292608"/>
          </a:xfrm>
          <a:prstGeom prst="rect">
            <a:avLst/>
          </a:prstGeom>
          <a:noFill/>
        </p:spPr>
        <p:txBody>
          <a:bodyPr wrap="square">
            <a:spAutoFit/>
          </a:bodyPr>
          <a:lstStyle/>
          <a:p>
            <a:pPr algn="l"/>
            <a:r>
              <a:rPr sz="1200" b="0" i="0">
                <a:solidFill>
                  <a:srgbClr val="333333"/>
                </a:solidFill>
              </a:rPr>
              <a:t>Lists every library the project needs (the shopping list).</a:t>
            </a:r>
          </a:p>
        </p:txBody>
      </p:sp>
      <p:sp>
        <p:nvSpPr>
          <p:cNvPr id="15" name="Rectangle 14"/>
          <p:cNvSpPr/>
          <p:nvPr/>
        </p:nvSpPr>
        <p:spPr>
          <a:xfrm>
            <a:off x="365760" y="3886200"/>
            <a:ext cx="5577840" cy="868680"/>
          </a:xfrm>
          <a:prstGeom prst="rect">
            <a:avLst/>
          </a:prstGeom>
          <a:solidFill>
            <a:srgbClr val="F0E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959352"/>
            <a:ext cx="5394960" cy="347472"/>
          </a:xfrm>
          <a:prstGeom prst="rect">
            <a:avLst/>
          </a:prstGeom>
          <a:noFill/>
        </p:spPr>
        <p:txBody>
          <a:bodyPr wrap="square">
            <a:spAutoFit/>
          </a:bodyPr>
          <a:lstStyle/>
          <a:p>
            <a:pPr algn="l"/>
            <a:r>
              <a:rPr sz="1500" b="1" i="0">
                <a:solidFill>
                  <a:srgbClr val="4A147A"/>
                </a:solidFill>
              </a:rPr>
              <a:t>npm install</a:t>
            </a:r>
          </a:p>
        </p:txBody>
      </p:sp>
      <p:sp>
        <p:nvSpPr>
          <p:cNvPr id="17" name="TextBox 16"/>
          <p:cNvSpPr txBox="1"/>
          <p:nvPr/>
        </p:nvSpPr>
        <p:spPr>
          <a:xfrm>
            <a:off x="502920" y="4361688"/>
            <a:ext cx="5394960" cy="292608"/>
          </a:xfrm>
          <a:prstGeom prst="rect">
            <a:avLst/>
          </a:prstGeom>
          <a:noFill/>
        </p:spPr>
        <p:txBody>
          <a:bodyPr wrap="square">
            <a:spAutoFit/>
          </a:bodyPr>
          <a:lstStyle/>
          <a:p>
            <a:pPr algn="l"/>
            <a:r>
              <a:rPr sz="1200" b="0" i="0">
                <a:solidFill>
                  <a:srgbClr val="333333"/>
                </a:solidFill>
              </a:rPr>
              <a:t>Reads package.json and downloads everything in the list.</a:t>
            </a:r>
          </a:p>
        </p:txBody>
      </p:sp>
      <p:sp>
        <p:nvSpPr>
          <p:cNvPr id="18" name="Rectangle 17"/>
          <p:cNvSpPr/>
          <p:nvPr/>
        </p:nvSpPr>
        <p:spPr>
          <a:xfrm>
            <a:off x="6126480" y="3886200"/>
            <a:ext cx="5577840" cy="868680"/>
          </a:xfrm>
          <a:prstGeom prst="rect">
            <a:avLst/>
          </a:prstGeom>
          <a:solidFill>
            <a:srgbClr val="FF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3959352"/>
            <a:ext cx="5394960" cy="347472"/>
          </a:xfrm>
          <a:prstGeom prst="rect">
            <a:avLst/>
          </a:prstGeom>
          <a:noFill/>
        </p:spPr>
        <p:txBody>
          <a:bodyPr wrap="square">
            <a:spAutoFit/>
          </a:bodyPr>
          <a:lstStyle/>
          <a:p>
            <a:pPr algn="l"/>
            <a:r>
              <a:rPr sz="1500" b="1" i="0">
                <a:solidFill>
                  <a:srgbClr val="926000"/>
                </a:solidFill>
              </a:rPr>
              <a:t>node_modules</a:t>
            </a:r>
          </a:p>
        </p:txBody>
      </p:sp>
      <p:sp>
        <p:nvSpPr>
          <p:cNvPr id="20" name="TextBox 19"/>
          <p:cNvSpPr txBox="1"/>
          <p:nvPr/>
        </p:nvSpPr>
        <p:spPr>
          <a:xfrm>
            <a:off x="6263640" y="4361688"/>
            <a:ext cx="5394960" cy="292608"/>
          </a:xfrm>
          <a:prstGeom prst="rect">
            <a:avLst/>
          </a:prstGeom>
          <a:noFill/>
        </p:spPr>
        <p:txBody>
          <a:bodyPr wrap="square">
            <a:spAutoFit/>
          </a:bodyPr>
          <a:lstStyle/>
          <a:p>
            <a:pPr algn="l"/>
            <a:r>
              <a:rPr sz="1200" b="0" i="0">
                <a:solidFill>
                  <a:srgbClr val="333333"/>
                </a:solidFill>
              </a:rPr>
              <a:t>The folder where libraries land. Never pushed to GitHub.</a:t>
            </a:r>
          </a:p>
        </p:txBody>
      </p:sp>
      <p:sp>
        <p:nvSpPr>
          <p:cNvPr id="21" name="TextBox 20"/>
          <p:cNvSpPr txBox="1"/>
          <p:nvPr/>
        </p:nvSpPr>
        <p:spPr>
          <a:xfrm>
            <a:off x="365760" y="5029200"/>
            <a:ext cx="11430000" cy="457200"/>
          </a:xfrm>
          <a:prstGeom prst="rect">
            <a:avLst/>
          </a:prstGeom>
          <a:noFill/>
        </p:spPr>
        <p:txBody>
          <a:bodyPr wrap="square">
            <a:spAutoFit/>
          </a:bodyPr>
          <a:lstStyle/>
          <a:p>
            <a:pPr algn="l"/>
            <a:r>
              <a:rPr sz="1400" b="1" i="0">
                <a:solidFill>
                  <a:srgbClr val="1A1A2E"/>
                </a:solidFill>
              </a:rPr>
              <a:t>When you clone the project on a new computer: run npm install first → recreates node_modules from package.json.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Interview Cheat Sheet</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Ready answers for every question about Connek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Q1</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What did you build?</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A full-stack waitlist platform. React frontend, serverless API backend, PostgreSQL database, transactional email via Resend, GA4 + Clarity analytics, SEO, and legal pages. Deployed on Vercel.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Q2</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What is the tech stack?</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Next.js 14 (App Router, TypeScript), Tailwind CSS, Framer Motion, Supabase (PostgreSQL), Resend, Vercel. GitHub for version control.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Q3</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Why Next.js?</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React for the frontend + API routes (backend) + SSR + deployment in one framework. No separate Express server needed — the API routes are serverless functions Vercel manages.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Q4</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How does the waitlist work end-to-end?</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User fills form → browser POSTs JSON to /api/waitlist → serverless function validates, inserts row into Supabase, calls Resend to notify me → returns success → browser goes to /thank-you.</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Q5</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How did you set up the email?</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Used Resend. Added DKIM + SPF records in DNS to verify theconnek.com. Stored API key as a Vercel env var. On each signup, the serverless function calls Resend to send a notification from hello@theconnek.com.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Q6</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Why keep API keys on the server?</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If Supabase or Resend keys were in client-side code, anyone could open DevTools and steal them. The /api/waitlist route runs on the server — the browser only gets the JSON response, never the keys.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Q7</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How does Instagram drive traffic?</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Bio link and story link stickers point to theconnek.com. We use UTM parameters so GA4 can attribute visits to specific posts. OG image makes shared links show a preview card.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Q8</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What analytics did you set up?</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GA4 for quantitative metrics (traffic, sources, conversions). Microsoft Clarity for qualitative data (session recordings, heatmaps). Both gated on env vars — off in development, on in production.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Q9</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What is serverless?</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Code that runs in the cloud only when triggered. No always-on server. Vercel creates a compute instance per call and destroys it after. Pay per invocation, not per hour.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320040" cy="6784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28600"/>
            <a:ext cx="640080" cy="64008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640080" cy="548640"/>
          </a:xfrm>
          <a:prstGeom prst="rect">
            <a:avLst/>
          </a:prstGeom>
          <a:noFill/>
        </p:spPr>
        <p:txBody>
          <a:bodyPr wrap="square">
            <a:spAutoFit/>
          </a:bodyPr>
          <a:lstStyle/>
          <a:p>
            <a:pPr algn="ctr"/>
            <a:r>
              <a:rPr sz="1800" b="1" i="0">
                <a:solidFill>
                  <a:srgbClr val="FFFFFF"/>
                </a:solidFill>
              </a:rPr>
              <a:t>Q10</a:t>
            </a:r>
          </a:p>
        </p:txBody>
      </p:sp>
      <p:sp>
        <p:nvSpPr>
          <p:cNvPr id="6" name="TextBox 5"/>
          <p:cNvSpPr txBox="1"/>
          <p:nvPr/>
        </p:nvSpPr>
        <p:spPr>
          <a:xfrm>
            <a:off x="1234440" y="256032"/>
            <a:ext cx="10515600" cy="640080"/>
          </a:xfrm>
          <a:prstGeom prst="rect">
            <a:avLst/>
          </a:prstGeom>
          <a:noFill/>
        </p:spPr>
        <p:txBody>
          <a:bodyPr wrap="square">
            <a:spAutoFit/>
          </a:bodyPr>
          <a:lstStyle/>
          <a:p>
            <a:pPr algn="l"/>
            <a:r>
              <a:rPr sz="2200" b="1" i="0">
                <a:solidFill>
                  <a:srgbClr val="1A1A2E"/>
                </a:solidFill>
              </a:rPr>
              <a:t>What would you improve?</a:t>
            </a:r>
          </a:p>
        </p:txBody>
      </p:sp>
      <p:sp>
        <p:nvSpPr>
          <p:cNvPr id="7" name="Rectangle 6"/>
          <p:cNvSpPr/>
          <p:nvPr/>
        </p:nvSpPr>
        <p:spPr>
          <a:xfrm>
            <a:off x="457200" y="1051560"/>
            <a:ext cx="11338560" cy="36576"/>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11338560" cy="521208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10881360" cy="4754880"/>
          </a:xfrm>
          <a:prstGeom prst="rect">
            <a:avLst/>
          </a:prstGeom>
          <a:noFill/>
        </p:spPr>
        <p:txBody>
          <a:bodyPr wrap="square">
            <a:spAutoFit/>
          </a:bodyPr>
          <a:lstStyle/>
          <a:p>
            <a:pPr algn="l"/>
            <a:r>
              <a:rPr sz="2000" b="0" i="0">
                <a:solidFill>
                  <a:srgbClr val="333333"/>
                </a:solidFill>
              </a:rPr>
              <a:t>Rate limiting on the API (prevent spam). Email verification before storing. Move off Supabase free tier before scaling to avoid the 7-day inactivity pause.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058400" cy="1280160"/>
          </a:xfrm>
          <a:prstGeom prst="rect">
            <a:avLst/>
          </a:prstGeom>
          <a:noFill/>
        </p:spPr>
        <p:txBody>
          <a:bodyPr wrap="square">
            <a:spAutoFit/>
          </a:bodyPr>
          <a:lstStyle/>
          <a:p>
            <a:pPr algn="l"/>
            <a:r>
              <a:rPr sz="4200" b="1" i="0">
                <a:solidFill>
                  <a:srgbClr val="FFFFFF"/>
                </a:solidFill>
              </a:rPr>
              <a:t>Quick Reference Glossary</a:t>
            </a:r>
          </a:p>
        </p:txBody>
      </p:sp>
      <p:sp>
        <p:nvSpPr>
          <p:cNvPr id="5" name="TextBox 4"/>
          <p:cNvSpPr txBox="1"/>
          <p:nvPr/>
        </p:nvSpPr>
        <p:spPr>
          <a:xfrm>
            <a:off x="914400" y="3566160"/>
            <a:ext cx="10058400" cy="640080"/>
          </a:xfrm>
          <a:prstGeom prst="rect">
            <a:avLst/>
          </a:prstGeom>
          <a:noFill/>
        </p:spPr>
        <p:txBody>
          <a:bodyPr wrap="square">
            <a:spAutoFit/>
          </a:bodyPr>
          <a:lstStyle/>
          <a:p>
            <a:pPr algn="l"/>
            <a:r>
              <a:rPr sz="2000" b="0" i="1">
                <a:solidFill>
                  <a:srgbClr val="AABBCC"/>
                </a:solidFill>
              </a:rPr>
              <a:t>Every term in plain English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Quick Reference Glossary  (1/2)</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98448"/>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62456"/>
            <a:ext cx="1691640" cy="365760"/>
          </a:xfrm>
          <a:prstGeom prst="rect">
            <a:avLst/>
          </a:prstGeom>
          <a:noFill/>
        </p:spPr>
        <p:txBody>
          <a:bodyPr wrap="square">
            <a:spAutoFit/>
          </a:bodyPr>
          <a:lstStyle/>
          <a:p>
            <a:pPr algn="l"/>
            <a:r>
              <a:rPr sz="1200" b="1" i="0">
                <a:solidFill>
                  <a:srgbClr val="0D47A1"/>
                </a:solidFill>
              </a:rPr>
              <a:t>API</a:t>
            </a:r>
          </a:p>
        </p:txBody>
      </p:sp>
      <p:sp>
        <p:nvSpPr>
          <p:cNvPr id="7" name="TextBox 6"/>
          <p:cNvSpPr txBox="1"/>
          <p:nvPr/>
        </p:nvSpPr>
        <p:spPr>
          <a:xfrm>
            <a:off x="2194560" y="1362456"/>
            <a:ext cx="3657600" cy="365760"/>
          </a:xfrm>
          <a:prstGeom prst="rect">
            <a:avLst/>
          </a:prstGeom>
          <a:noFill/>
        </p:spPr>
        <p:txBody>
          <a:bodyPr wrap="square">
            <a:spAutoFit/>
          </a:bodyPr>
          <a:lstStyle/>
          <a:p>
            <a:pPr algn="l"/>
            <a:r>
              <a:rPr sz="1100" b="0" i="0">
                <a:solidFill>
                  <a:srgbClr val="333333"/>
                </a:solidFill>
              </a:rPr>
              <a:t>A defined contract for how two pieces of software communicate</a:t>
            </a:r>
          </a:p>
        </p:txBody>
      </p:sp>
      <p:sp>
        <p:nvSpPr>
          <p:cNvPr id="8" name="Rectangle 7"/>
          <p:cNvSpPr/>
          <p:nvPr/>
        </p:nvSpPr>
        <p:spPr>
          <a:xfrm>
            <a:off x="365760" y="1828800"/>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892808"/>
            <a:ext cx="1691640" cy="365760"/>
          </a:xfrm>
          <a:prstGeom prst="rect">
            <a:avLst/>
          </a:prstGeom>
          <a:noFill/>
        </p:spPr>
        <p:txBody>
          <a:bodyPr wrap="square">
            <a:spAutoFit/>
          </a:bodyPr>
          <a:lstStyle/>
          <a:p>
            <a:pPr algn="l"/>
            <a:r>
              <a:rPr sz="1200" b="1" i="0">
                <a:solidFill>
                  <a:srgbClr val="1A1A2E"/>
                </a:solidFill>
              </a:rPr>
              <a:t>REST API</a:t>
            </a:r>
          </a:p>
        </p:txBody>
      </p:sp>
      <p:sp>
        <p:nvSpPr>
          <p:cNvPr id="10" name="TextBox 9"/>
          <p:cNvSpPr txBox="1"/>
          <p:nvPr/>
        </p:nvSpPr>
        <p:spPr>
          <a:xfrm>
            <a:off x="2194560" y="1892808"/>
            <a:ext cx="3657600" cy="365760"/>
          </a:xfrm>
          <a:prstGeom prst="rect">
            <a:avLst/>
          </a:prstGeom>
          <a:noFill/>
        </p:spPr>
        <p:txBody>
          <a:bodyPr wrap="square">
            <a:spAutoFit/>
          </a:bodyPr>
          <a:lstStyle/>
          <a:p>
            <a:pPr algn="l"/>
            <a:r>
              <a:rPr sz="1100" b="0" i="0">
                <a:solidFill>
                  <a:srgbClr val="333333"/>
                </a:solidFill>
              </a:rPr>
              <a:t>An API using URLs + HTTP methods + JSON responses</a:t>
            </a:r>
          </a:p>
        </p:txBody>
      </p:sp>
      <p:sp>
        <p:nvSpPr>
          <p:cNvPr id="11" name="Rectangle 10"/>
          <p:cNvSpPr/>
          <p:nvPr/>
        </p:nvSpPr>
        <p:spPr>
          <a:xfrm>
            <a:off x="365760" y="2359152"/>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23160"/>
            <a:ext cx="1691640" cy="365760"/>
          </a:xfrm>
          <a:prstGeom prst="rect">
            <a:avLst/>
          </a:prstGeom>
          <a:noFill/>
        </p:spPr>
        <p:txBody>
          <a:bodyPr wrap="square">
            <a:spAutoFit/>
          </a:bodyPr>
          <a:lstStyle/>
          <a:p>
            <a:pPr algn="l"/>
            <a:r>
              <a:rPr sz="1200" b="1" i="0">
                <a:solidFill>
                  <a:srgbClr val="0D47A1"/>
                </a:solidFill>
              </a:rPr>
              <a:t>Serverless</a:t>
            </a:r>
          </a:p>
        </p:txBody>
      </p:sp>
      <p:sp>
        <p:nvSpPr>
          <p:cNvPr id="13" name="TextBox 12"/>
          <p:cNvSpPr txBox="1"/>
          <p:nvPr/>
        </p:nvSpPr>
        <p:spPr>
          <a:xfrm>
            <a:off x="2194560" y="2423160"/>
            <a:ext cx="3657600" cy="365760"/>
          </a:xfrm>
          <a:prstGeom prst="rect">
            <a:avLst/>
          </a:prstGeom>
          <a:noFill/>
        </p:spPr>
        <p:txBody>
          <a:bodyPr wrap="square">
            <a:spAutoFit/>
          </a:bodyPr>
          <a:lstStyle/>
          <a:p>
            <a:pPr algn="l"/>
            <a:r>
              <a:rPr sz="1100" b="0" i="0">
                <a:solidFill>
                  <a:srgbClr val="333333"/>
                </a:solidFill>
              </a:rPr>
              <a:t>Code that runs in the cloud only when called — pay per use, not per hour</a:t>
            </a:r>
          </a:p>
        </p:txBody>
      </p:sp>
      <p:sp>
        <p:nvSpPr>
          <p:cNvPr id="14" name="Rectangle 13"/>
          <p:cNvSpPr/>
          <p:nvPr/>
        </p:nvSpPr>
        <p:spPr>
          <a:xfrm>
            <a:off x="365760" y="2889504"/>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953512"/>
            <a:ext cx="1691640" cy="365760"/>
          </a:xfrm>
          <a:prstGeom prst="rect">
            <a:avLst/>
          </a:prstGeom>
          <a:noFill/>
        </p:spPr>
        <p:txBody>
          <a:bodyPr wrap="square">
            <a:spAutoFit/>
          </a:bodyPr>
          <a:lstStyle/>
          <a:p>
            <a:pPr algn="l"/>
            <a:r>
              <a:rPr sz="1200" b="1" i="0">
                <a:solidFill>
                  <a:srgbClr val="1A1A2E"/>
                </a:solidFill>
              </a:rPr>
              <a:t>React</a:t>
            </a:r>
          </a:p>
        </p:txBody>
      </p:sp>
      <p:sp>
        <p:nvSpPr>
          <p:cNvPr id="16" name="TextBox 15"/>
          <p:cNvSpPr txBox="1"/>
          <p:nvPr/>
        </p:nvSpPr>
        <p:spPr>
          <a:xfrm>
            <a:off x="2194560" y="2953512"/>
            <a:ext cx="3657600" cy="365760"/>
          </a:xfrm>
          <a:prstGeom prst="rect">
            <a:avLst/>
          </a:prstGeom>
          <a:noFill/>
        </p:spPr>
        <p:txBody>
          <a:bodyPr wrap="square">
            <a:spAutoFit/>
          </a:bodyPr>
          <a:lstStyle/>
          <a:p>
            <a:pPr algn="l"/>
            <a:r>
              <a:rPr sz="1100" b="0" i="0">
                <a:solidFill>
                  <a:srgbClr val="333333"/>
                </a:solidFill>
              </a:rPr>
              <a:t>UI library for building component-based web interfaces</a:t>
            </a:r>
          </a:p>
        </p:txBody>
      </p:sp>
      <p:sp>
        <p:nvSpPr>
          <p:cNvPr id="17" name="Rectangle 16"/>
          <p:cNvSpPr/>
          <p:nvPr/>
        </p:nvSpPr>
        <p:spPr>
          <a:xfrm>
            <a:off x="365760" y="3419856"/>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483864"/>
            <a:ext cx="1691640" cy="365760"/>
          </a:xfrm>
          <a:prstGeom prst="rect">
            <a:avLst/>
          </a:prstGeom>
          <a:noFill/>
        </p:spPr>
        <p:txBody>
          <a:bodyPr wrap="square">
            <a:spAutoFit/>
          </a:bodyPr>
          <a:lstStyle/>
          <a:p>
            <a:pPr algn="l"/>
            <a:r>
              <a:rPr sz="1200" b="1" i="0">
                <a:solidFill>
                  <a:srgbClr val="0D47A1"/>
                </a:solidFill>
              </a:rPr>
              <a:t>Component</a:t>
            </a:r>
          </a:p>
        </p:txBody>
      </p:sp>
      <p:sp>
        <p:nvSpPr>
          <p:cNvPr id="19" name="TextBox 18"/>
          <p:cNvSpPr txBox="1"/>
          <p:nvPr/>
        </p:nvSpPr>
        <p:spPr>
          <a:xfrm>
            <a:off x="2194560" y="3483864"/>
            <a:ext cx="3657600" cy="365760"/>
          </a:xfrm>
          <a:prstGeom prst="rect">
            <a:avLst/>
          </a:prstGeom>
          <a:noFill/>
        </p:spPr>
        <p:txBody>
          <a:bodyPr wrap="square">
            <a:spAutoFit/>
          </a:bodyPr>
          <a:lstStyle/>
          <a:p>
            <a:pPr algn="l"/>
            <a:r>
              <a:rPr sz="1100" b="0" i="0">
                <a:solidFill>
                  <a:srgbClr val="333333"/>
                </a:solidFill>
              </a:rPr>
              <a:t>A reusable piece of React UI — like a Lego brick</a:t>
            </a:r>
          </a:p>
        </p:txBody>
      </p:sp>
      <p:sp>
        <p:nvSpPr>
          <p:cNvPr id="20" name="Rectangle 19"/>
          <p:cNvSpPr/>
          <p:nvPr/>
        </p:nvSpPr>
        <p:spPr>
          <a:xfrm>
            <a:off x="365760" y="3950208"/>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014216"/>
            <a:ext cx="1691640" cy="365760"/>
          </a:xfrm>
          <a:prstGeom prst="rect">
            <a:avLst/>
          </a:prstGeom>
          <a:noFill/>
        </p:spPr>
        <p:txBody>
          <a:bodyPr wrap="square">
            <a:spAutoFit/>
          </a:bodyPr>
          <a:lstStyle/>
          <a:p>
            <a:pPr algn="l"/>
            <a:r>
              <a:rPr sz="1200" b="1" i="0">
                <a:solidFill>
                  <a:srgbClr val="1A1A2E"/>
                </a:solidFill>
              </a:rPr>
              <a:t>State</a:t>
            </a:r>
          </a:p>
        </p:txBody>
      </p:sp>
      <p:sp>
        <p:nvSpPr>
          <p:cNvPr id="22" name="TextBox 21"/>
          <p:cNvSpPr txBox="1"/>
          <p:nvPr/>
        </p:nvSpPr>
        <p:spPr>
          <a:xfrm>
            <a:off x="2194560" y="4014216"/>
            <a:ext cx="3657600" cy="365760"/>
          </a:xfrm>
          <a:prstGeom prst="rect">
            <a:avLst/>
          </a:prstGeom>
          <a:noFill/>
        </p:spPr>
        <p:txBody>
          <a:bodyPr wrap="square">
            <a:spAutoFit/>
          </a:bodyPr>
          <a:lstStyle/>
          <a:p>
            <a:pPr algn="l"/>
            <a:r>
              <a:rPr sz="1100" b="0" i="0">
                <a:solidFill>
                  <a:srgbClr val="333333"/>
                </a:solidFill>
              </a:rPr>
              <a:t>Data in a component that can change; React updates the page when it does</a:t>
            </a:r>
          </a:p>
        </p:txBody>
      </p:sp>
      <p:sp>
        <p:nvSpPr>
          <p:cNvPr id="23" name="Rectangle 22"/>
          <p:cNvSpPr/>
          <p:nvPr/>
        </p:nvSpPr>
        <p:spPr>
          <a:xfrm>
            <a:off x="365760" y="4480560"/>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544568"/>
            <a:ext cx="1691640" cy="365760"/>
          </a:xfrm>
          <a:prstGeom prst="rect">
            <a:avLst/>
          </a:prstGeom>
          <a:noFill/>
        </p:spPr>
        <p:txBody>
          <a:bodyPr wrap="square">
            <a:spAutoFit/>
          </a:bodyPr>
          <a:lstStyle/>
          <a:p>
            <a:pPr algn="l"/>
            <a:r>
              <a:rPr sz="1200" b="1" i="0">
                <a:solidFill>
                  <a:srgbClr val="0D47A1"/>
                </a:solidFill>
              </a:rPr>
              <a:t>Next.js</a:t>
            </a:r>
          </a:p>
        </p:txBody>
      </p:sp>
      <p:sp>
        <p:nvSpPr>
          <p:cNvPr id="25" name="TextBox 24"/>
          <p:cNvSpPr txBox="1"/>
          <p:nvPr/>
        </p:nvSpPr>
        <p:spPr>
          <a:xfrm>
            <a:off x="2194560" y="4544568"/>
            <a:ext cx="3657600" cy="365760"/>
          </a:xfrm>
          <a:prstGeom prst="rect">
            <a:avLst/>
          </a:prstGeom>
          <a:noFill/>
        </p:spPr>
        <p:txBody>
          <a:bodyPr wrap="square">
            <a:spAutoFit/>
          </a:bodyPr>
          <a:lstStyle/>
          <a:p>
            <a:pPr algn="l"/>
            <a:r>
              <a:rPr sz="1100" b="0" i="0">
                <a:solidFill>
                  <a:srgbClr val="333333"/>
                </a:solidFill>
              </a:rPr>
              <a:t>React framework with routing, API routes, SSR, and Vercel deployment built in</a:t>
            </a:r>
          </a:p>
        </p:txBody>
      </p:sp>
      <p:sp>
        <p:nvSpPr>
          <p:cNvPr id="26" name="Rectangle 25"/>
          <p:cNvSpPr/>
          <p:nvPr/>
        </p:nvSpPr>
        <p:spPr>
          <a:xfrm>
            <a:off x="365760" y="5010912"/>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074920"/>
            <a:ext cx="1691640" cy="365760"/>
          </a:xfrm>
          <a:prstGeom prst="rect">
            <a:avLst/>
          </a:prstGeom>
          <a:noFill/>
        </p:spPr>
        <p:txBody>
          <a:bodyPr wrap="square">
            <a:spAutoFit/>
          </a:bodyPr>
          <a:lstStyle/>
          <a:p>
            <a:pPr algn="l"/>
            <a:r>
              <a:rPr sz="1200" b="1" i="0">
                <a:solidFill>
                  <a:srgbClr val="1A1A2E"/>
                </a:solidFill>
              </a:rPr>
              <a:t>TypeScript</a:t>
            </a:r>
          </a:p>
        </p:txBody>
      </p:sp>
      <p:sp>
        <p:nvSpPr>
          <p:cNvPr id="28" name="TextBox 27"/>
          <p:cNvSpPr txBox="1"/>
          <p:nvPr/>
        </p:nvSpPr>
        <p:spPr>
          <a:xfrm>
            <a:off x="2194560" y="5074920"/>
            <a:ext cx="3657600" cy="365760"/>
          </a:xfrm>
          <a:prstGeom prst="rect">
            <a:avLst/>
          </a:prstGeom>
          <a:noFill/>
        </p:spPr>
        <p:txBody>
          <a:bodyPr wrap="square">
            <a:spAutoFit/>
          </a:bodyPr>
          <a:lstStyle/>
          <a:p>
            <a:pPr algn="l"/>
            <a:r>
              <a:rPr sz="1100" b="0" i="0">
                <a:solidFill>
                  <a:srgbClr val="333333"/>
                </a:solidFill>
              </a:rPr>
              <a:t>JavaScript with type safety — catches errors before the code runs</a:t>
            </a:r>
          </a:p>
        </p:txBody>
      </p:sp>
      <p:sp>
        <p:nvSpPr>
          <p:cNvPr id="29" name="Rectangle 28"/>
          <p:cNvSpPr/>
          <p:nvPr/>
        </p:nvSpPr>
        <p:spPr>
          <a:xfrm>
            <a:off x="365760" y="5541264"/>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605272"/>
            <a:ext cx="1691640" cy="365760"/>
          </a:xfrm>
          <a:prstGeom prst="rect">
            <a:avLst/>
          </a:prstGeom>
          <a:noFill/>
        </p:spPr>
        <p:txBody>
          <a:bodyPr wrap="square">
            <a:spAutoFit/>
          </a:bodyPr>
          <a:lstStyle/>
          <a:p>
            <a:pPr algn="l"/>
            <a:r>
              <a:rPr sz="1200" b="1" i="0">
                <a:solidFill>
                  <a:srgbClr val="0D47A1"/>
                </a:solidFill>
              </a:rPr>
              <a:t>Tailwind CSS</a:t>
            </a:r>
          </a:p>
        </p:txBody>
      </p:sp>
      <p:sp>
        <p:nvSpPr>
          <p:cNvPr id="31" name="TextBox 30"/>
          <p:cNvSpPr txBox="1"/>
          <p:nvPr/>
        </p:nvSpPr>
        <p:spPr>
          <a:xfrm>
            <a:off x="2194560" y="5605272"/>
            <a:ext cx="3657600" cy="365760"/>
          </a:xfrm>
          <a:prstGeom prst="rect">
            <a:avLst/>
          </a:prstGeom>
          <a:noFill/>
        </p:spPr>
        <p:txBody>
          <a:bodyPr wrap="square">
            <a:spAutoFit/>
          </a:bodyPr>
          <a:lstStyle/>
          <a:p>
            <a:pPr algn="l"/>
            <a:r>
              <a:rPr sz="1100" b="0" i="0">
                <a:solidFill>
                  <a:srgbClr val="333333"/>
                </a:solidFill>
              </a:rPr>
              <a:t>Utility-first CSS — style directly in JSX using class names, no separate file</a:t>
            </a:r>
          </a:p>
        </p:txBody>
      </p:sp>
      <p:sp>
        <p:nvSpPr>
          <p:cNvPr id="32" name="Rectangle 31"/>
          <p:cNvSpPr/>
          <p:nvPr/>
        </p:nvSpPr>
        <p:spPr>
          <a:xfrm>
            <a:off x="6217920" y="1298448"/>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1362456"/>
            <a:ext cx="1691640" cy="365760"/>
          </a:xfrm>
          <a:prstGeom prst="rect">
            <a:avLst/>
          </a:prstGeom>
          <a:noFill/>
        </p:spPr>
        <p:txBody>
          <a:bodyPr wrap="square">
            <a:spAutoFit/>
          </a:bodyPr>
          <a:lstStyle/>
          <a:p>
            <a:pPr algn="l"/>
            <a:r>
              <a:rPr sz="1200" b="1" i="0">
                <a:solidFill>
                  <a:srgbClr val="1A1A2E"/>
                </a:solidFill>
              </a:rPr>
              <a:t>Framer Motion</a:t>
            </a:r>
          </a:p>
        </p:txBody>
      </p:sp>
      <p:sp>
        <p:nvSpPr>
          <p:cNvPr id="34" name="TextBox 33"/>
          <p:cNvSpPr txBox="1"/>
          <p:nvPr/>
        </p:nvSpPr>
        <p:spPr>
          <a:xfrm>
            <a:off x="8046720" y="1362456"/>
            <a:ext cx="3657600" cy="365760"/>
          </a:xfrm>
          <a:prstGeom prst="rect">
            <a:avLst/>
          </a:prstGeom>
          <a:noFill/>
        </p:spPr>
        <p:txBody>
          <a:bodyPr wrap="square">
            <a:spAutoFit/>
          </a:bodyPr>
          <a:lstStyle/>
          <a:p>
            <a:pPr algn="l"/>
            <a:r>
              <a:rPr sz="1100" b="0" i="0">
                <a:solidFill>
                  <a:srgbClr val="333333"/>
                </a:solidFill>
              </a:rPr>
              <a:t>React animation library — scroll reveals, crossfades, hover effects</a:t>
            </a:r>
          </a:p>
        </p:txBody>
      </p:sp>
      <p:sp>
        <p:nvSpPr>
          <p:cNvPr id="35" name="Rectangle 34"/>
          <p:cNvSpPr/>
          <p:nvPr/>
        </p:nvSpPr>
        <p:spPr>
          <a:xfrm>
            <a:off x="6217920" y="1828800"/>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1892808"/>
            <a:ext cx="1691640" cy="365760"/>
          </a:xfrm>
          <a:prstGeom prst="rect">
            <a:avLst/>
          </a:prstGeom>
          <a:noFill/>
        </p:spPr>
        <p:txBody>
          <a:bodyPr wrap="square">
            <a:spAutoFit/>
          </a:bodyPr>
          <a:lstStyle/>
          <a:p>
            <a:pPr algn="l"/>
            <a:r>
              <a:rPr sz="1200" b="1" i="0">
                <a:solidFill>
                  <a:srgbClr val="0D47A1"/>
                </a:solidFill>
              </a:rPr>
              <a:t>PostgreSQL</a:t>
            </a:r>
          </a:p>
        </p:txBody>
      </p:sp>
      <p:sp>
        <p:nvSpPr>
          <p:cNvPr id="37" name="TextBox 36"/>
          <p:cNvSpPr txBox="1"/>
          <p:nvPr/>
        </p:nvSpPr>
        <p:spPr>
          <a:xfrm>
            <a:off x="8046720" y="1892808"/>
            <a:ext cx="3657600" cy="365760"/>
          </a:xfrm>
          <a:prstGeom prst="rect">
            <a:avLst/>
          </a:prstGeom>
          <a:noFill/>
        </p:spPr>
        <p:txBody>
          <a:bodyPr wrap="square">
            <a:spAutoFit/>
          </a:bodyPr>
          <a:lstStyle/>
          <a:p>
            <a:pPr algn="l"/>
            <a:r>
              <a:rPr sz="1100" b="0" i="0">
                <a:solidFill>
                  <a:srgbClr val="333333"/>
                </a:solidFill>
              </a:rPr>
              <a:t>Open-source relational database — data in tables (rows and columns)</a:t>
            </a:r>
          </a:p>
        </p:txBody>
      </p:sp>
      <p:sp>
        <p:nvSpPr>
          <p:cNvPr id="38" name="Rectangle 37"/>
          <p:cNvSpPr/>
          <p:nvPr/>
        </p:nvSpPr>
        <p:spPr>
          <a:xfrm>
            <a:off x="6217920" y="2359152"/>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0" y="2423160"/>
            <a:ext cx="1691640" cy="365760"/>
          </a:xfrm>
          <a:prstGeom prst="rect">
            <a:avLst/>
          </a:prstGeom>
          <a:noFill/>
        </p:spPr>
        <p:txBody>
          <a:bodyPr wrap="square">
            <a:spAutoFit/>
          </a:bodyPr>
          <a:lstStyle/>
          <a:p>
            <a:pPr algn="l"/>
            <a:r>
              <a:rPr sz="1200" b="1" i="0">
                <a:solidFill>
                  <a:srgbClr val="1A1A2E"/>
                </a:solidFill>
              </a:rPr>
              <a:t>Supabase</a:t>
            </a:r>
          </a:p>
        </p:txBody>
      </p:sp>
      <p:sp>
        <p:nvSpPr>
          <p:cNvPr id="40" name="TextBox 39"/>
          <p:cNvSpPr txBox="1"/>
          <p:nvPr/>
        </p:nvSpPr>
        <p:spPr>
          <a:xfrm>
            <a:off x="8046720" y="2423160"/>
            <a:ext cx="3657600" cy="365760"/>
          </a:xfrm>
          <a:prstGeom prst="rect">
            <a:avLst/>
          </a:prstGeom>
          <a:noFill/>
        </p:spPr>
        <p:txBody>
          <a:bodyPr wrap="square">
            <a:spAutoFit/>
          </a:bodyPr>
          <a:lstStyle/>
          <a:p>
            <a:pPr algn="l"/>
            <a:r>
              <a:rPr sz="1100" b="0" i="0">
                <a:solidFill>
                  <a:srgbClr val="333333"/>
                </a:solidFill>
              </a:rPr>
              <a:t>Hosted PostgreSQL with a REST API — database without server management</a:t>
            </a:r>
          </a:p>
        </p:txBody>
      </p:sp>
      <p:sp>
        <p:nvSpPr>
          <p:cNvPr id="41" name="Rectangle 40"/>
          <p:cNvSpPr/>
          <p:nvPr/>
        </p:nvSpPr>
        <p:spPr>
          <a:xfrm>
            <a:off x="6217920" y="2889504"/>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2953512"/>
            <a:ext cx="1691640" cy="365760"/>
          </a:xfrm>
          <a:prstGeom prst="rect">
            <a:avLst/>
          </a:prstGeom>
          <a:noFill/>
        </p:spPr>
        <p:txBody>
          <a:bodyPr wrap="square">
            <a:spAutoFit/>
          </a:bodyPr>
          <a:lstStyle/>
          <a:p>
            <a:pPr algn="l"/>
            <a:r>
              <a:rPr sz="1200" b="1" i="0">
                <a:solidFill>
                  <a:srgbClr val="0D47A1"/>
                </a:solidFill>
              </a:rPr>
              <a:t>Resend</a:t>
            </a:r>
          </a:p>
        </p:txBody>
      </p:sp>
      <p:sp>
        <p:nvSpPr>
          <p:cNvPr id="43" name="TextBox 42"/>
          <p:cNvSpPr txBox="1"/>
          <p:nvPr/>
        </p:nvSpPr>
        <p:spPr>
          <a:xfrm>
            <a:off x="8046720" y="2953512"/>
            <a:ext cx="3657600" cy="365760"/>
          </a:xfrm>
          <a:prstGeom prst="rect">
            <a:avLst/>
          </a:prstGeom>
          <a:noFill/>
        </p:spPr>
        <p:txBody>
          <a:bodyPr wrap="square">
            <a:spAutoFit/>
          </a:bodyPr>
          <a:lstStyle/>
          <a:p>
            <a:pPr algn="l"/>
            <a:r>
              <a:rPr sz="1100" b="0" i="0">
                <a:solidFill>
                  <a:srgbClr val="333333"/>
                </a:solidFill>
              </a:rPr>
              <a:t>Transactional email API — sends automated emails from your own domain</a:t>
            </a:r>
          </a:p>
        </p:txBody>
      </p:sp>
      <p:sp>
        <p:nvSpPr>
          <p:cNvPr id="44" name="Rectangle 43"/>
          <p:cNvSpPr/>
          <p:nvPr/>
        </p:nvSpPr>
        <p:spPr>
          <a:xfrm>
            <a:off x="6217920" y="3419856"/>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0" y="3483864"/>
            <a:ext cx="1691640" cy="365760"/>
          </a:xfrm>
          <a:prstGeom prst="rect">
            <a:avLst/>
          </a:prstGeom>
          <a:noFill/>
        </p:spPr>
        <p:txBody>
          <a:bodyPr wrap="square">
            <a:spAutoFit/>
          </a:bodyPr>
          <a:lstStyle/>
          <a:p>
            <a:pPr algn="l"/>
            <a:r>
              <a:rPr sz="1200" b="1" i="0">
                <a:solidFill>
                  <a:srgbClr val="1A1A2E"/>
                </a:solidFill>
              </a:rPr>
              <a:t>DKIM / SPF</a:t>
            </a:r>
          </a:p>
        </p:txBody>
      </p:sp>
      <p:sp>
        <p:nvSpPr>
          <p:cNvPr id="46" name="TextBox 45"/>
          <p:cNvSpPr txBox="1"/>
          <p:nvPr/>
        </p:nvSpPr>
        <p:spPr>
          <a:xfrm>
            <a:off x="8046720" y="3483864"/>
            <a:ext cx="3657600" cy="365760"/>
          </a:xfrm>
          <a:prstGeom prst="rect">
            <a:avLst/>
          </a:prstGeom>
          <a:noFill/>
        </p:spPr>
        <p:txBody>
          <a:bodyPr wrap="square">
            <a:spAutoFit/>
          </a:bodyPr>
          <a:lstStyle/>
          <a:p>
            <a:pPr algn="l"/>
            <a:r>
              <a:rPr sz="1100" b="0" i="0">
                <a:solidFill>
                  <a:srgbClr val="333333"/>
                </a:solidFill>
              </a:rPr>
              <a:t>DNS records that prove domain ownership — prevent emails landing in spam</a:t>
            </a:r>
          </a:p>
        </p:txBody>
      </p:sp>
      <p:sp>
        <p:nvSpPr>
          <p:cNvPr id="47" name="Rectangle 46"/>
          <p:cNvSpPr/>
          <p:nvPr/>
        </p:nvSpPr>
        <p:spPr>
          <a:xfrm>
            <a:off x="6217920" y="3950208"/>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4014216"/>
            <a:ext cx="1691640" cy="365760"/>
          </a:xfrm>
          <a:prstGeom prst="rect">
            <a:avLst/>
          </a:prstGeom>
          <a:noFill/>
        </p:spPr>
        <p:txBody>
          <a:bodyPr wrap="square">
            <a:spAutoFit/>
          </a:bodyPr>
          <a:lstStyle/>
          <a:p>
            <a:pPr algn="l"/>
            <a:r>
              <a:rPr sz="1200" b="1" i="0">
                <a:solidFill>
                  <a:srgbClr val="0D47A1"/>
                </a:solidFill>
              </a:rPr>
              <a:t>Vercel</a:t>
            </a:r>
          </a:p>
        </p:txBody>
      </p:sp>
      <p:sp>
        <p:nvSpPr>
          <p:cNvPr id="49" name="TextBox 48"/>
          <p:cNvSpPr txBox="1"/>
          <p:nvPr/>
        </p:nvSpPr>
        <p:spPr>
          <a:xfrm>
            <a:off x="8046720" y="4014216"/>
            <a:ext cx="3657600" cy="365760"/>
          </a:xfrm>
          <a:prstGeom prst="rect">
            <a:avLst/>
          </a:prstGeom>
          <a:noFill/>
        </p:spPr>
        <p:txBody>
          <a:bodyPr wrap="square">
            <a:spAutoFit/>
          </a:bodyPr>
          <a:lstStyle/>
          <a:p>
            <a:pPr algn="l"/>
            <a:r>
              <a:rPr sz="1100" b="0" i="0">
                <a:solidFill>
                  <a:srgbClr val="333333"/>
                </a:solidFill>
              </a:rPr>
              <a:t>Cloud deployment platform — git push and the site is live globally</a:t>
            </a:r>
          </a:p>
        </p:txBody>
      </p:sp>
      <p:sp>
        <p:nvSpPr>
          <p:cNvPr id="50" name="Rectangle 49"/>
          <p:cNvSpPr/>
          <p:nvPr/>
        </p:nvSpPr>
        <p:spPr>
          <a:xfrm>
            <a:off x="6217920" y="4480560"/>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4544568"/>
            <a:ext cx="1691640" cy="365760"/>
          </a:xfrm>
          <a:prstGeom prst="rect">
            <a:avLst/>
          </a:prstGeom>
          <a:noFill/>
        </p:spPr>
        <p:txBody>
          <a:bodyPr wrap="square">
            <a:spAutoFit/>
          </a:bodyPr>
          <a:lstStyle/>
          <a:p>
            <a:pPr algn="l"/>
            <a:r>
              <a:rPr sz="1200" b="1" i="0">
                <a:solidFill>
                  <a:srgbClr val="1A1A2E"/>
                </a:solidFill>
              </a:rPr>
              <a:t>Git</a:t>
            </a:r>
          </a:p>
        </p:txBody>
      </p:sp>
      <p:sp>
        <p:nvSpPr>
          <p:cNvPr id="52" name="TextBox 51"/>
          <p:cNvSpPr txBox="1"/>
          <p:nvPr/>
        </p:nvSpPr>
        <p:spPr>
          <a:xfrm>
            <a:off x="8046720" y="4544568"/>
            <a:ext cx="3657600" cy="365760"/>
          </a:xfrm>
          <a:prstGeom prst="rect">
            <a:avLst/>
          </a:prstGeom>
          <a:noFill/>
        </p:spPr>
        <p:txBody>
          <a:bodyPr wrap="square">
            <a:spAutoFit/>
          </a:bodyPr>
          <a:lstStyle/>
          <a:p>
            <a:pPr algn="l"/>
            <a:r>
              <a:rPr sz="1100" b="0" i="0">
                <a:solidFill>
                  <a:srgbClr val="333333"/>
                </a:solidFill>
              </a:rPr>
              <a:t>Version control — tracks every code change; lets you go back in time</a:t>
            </a:r>
          </a:p>
        </p:txBody>
      </p:sp>
      <p:sp>
        <p:nvSpPr>
          <p:cNvPr id="53" name="Rectangle 52"/>
          <p:cNvSpPr/>
          <p:nvPr/>
        </p:nvSpPr>
        <p:spPr>
          <a:xfrm>
            <a:off x="6217920" y="5010912"/>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5074920"/>
            <a:ext cx="1691640" cy="365760"/>
          </a:xfrm>
          <a:prstGeom prst="rect">
            <a:avLst/>
          </a:prstGeom>
          <a:noFill/>
        </p:spPr>
        <p:txBody>
          <a:bodyPr wrap="square">
            <a:spAutoFit/>
          </a:bodyPr>
          <a:lstStyle/>
          <a:p>
            <a:pPr algn="l"/>
            <a:r>
              <a:rPr sz="1200" b="1" i="0">
                <a:solidFill>
                  <a:srgbClr val="0D47A1"/>
                </a:solidFill>
              </a:rPr>
              <a:t>GitHub</a:t>
            </a:r>
          </a:p>
        </p:txBody>
      </p:sp>
      <p:sp>
        <p:nvSpPr>
          <p:cNvPr id="55" name="TextBox 54"/>
          <p:cNvSpPr txBox="1"/>
          <p:nvPr/>
        </p:nvSpPr>
        <p:spPr>
          <a:xfrm>
            <a:off x="8046720" y="5074920"/>
            <a:ext cx="3657600" cy="365760"/>
          </a:xfrm>
          <a:prstGeom prst="rect">
            <a:avLst/>
          </a:prstGeom>
          <a:noFill/>
        </p:spPr>
        <p:txBody>
          <a:bodyPr wrap="square">
            <a:spAutoFit/>
          </a:bodyPr>
          <a:lstStyle/>
          <a:p>
            <a:pPr algn="l"/>
            <a:r>
              <a:rPr sz="1100" b="0" i="0">
                <a:solidFill>
                  <a:srgbClr val="333333"/>
                </a:solidFill>
              </a:rPr>
              <a:t>Cloud hosting for Git repos — where the code lives and backs up</a:t>
            </a:r>
          </a:p>
        </p:txBody>
      </p:sp>
      <p:sp>
        <p:nvSpPr>
          <p:cNvPr id="56" name="Rectangle 55"/>
          <p:cNvSpPr/>
          <p:nvPr/>
        </p:nvSpPr>
        <p:spPr>
          <a:xfrm>
            <a:off x="6217920" y="5541264"/>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09360" y="5605272"/>
            <a:ext cx="1691640" cy="365760"/>
          </a:xfrm>
          <a:prstGeom prst="rect">
            <a:avLst/>
          </a:prstGeom>
          <a:noFill/>
        </p:spPr>
        <p:txBody>
          <a:bodyPr wrap="square">
            <a:spAutoFit/>
          </a:bodyPr>
          <a:lstStyle/>
          <a:p>
            <a:pPr algn="l"/>
            <a:r>
              <a:rPr sz="1200" b="1" i="0">
                <a:solidFill>
                  <a:srgbClr val="1A1A2E"/>
                </a:solidFill>
              </a:rPr>
              <a:t>Environment Vars</a:t>
            </a:r>
          </a:p>
        </p:txBody>
      </p:sp>
      <p:sp>
        <p:nvSpPr>
          <p:cNvPr id="58" name="TextBox 57"/>
          <p:cNvSpPr txBox="1"/>
          <p:nvPr/>
        </p:nvSpPr>
        <p:spPr>
          <a:xfrm>
            <a:off x="8046720" y="5605272"/>
            <a:ext cx="3657600" cy="365760"/>
          </a:xfrm>
          <a:prstGeom prst="rect">
            <a:avLst/>
          </a:prstGeom>
          <a:noFill/>
        </p:spPr>
        <p:txBody>
          <a:bodyPr wrap="square">
            <a:spAutoFit/>
          </a:bodyPr>
          <a:lstStyle/>
          <a:p>
            <a:pPr algn="l"/>
            <a:r>
              <a:rPr sz="1100" b="0" i="0">
                <a:solidFill>
                  <a:srgbClr val="333333"/>
                </a:solidFill>
              </a:rPr>
              <a:t>Secrets stored outside code — injected at runtime so API keys stay private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1155680" cy="658368"/>
          </a:xfrm>
          <a:prstGeom prst="rect">
            <a:avLst/>
          </a:prstGeom>
          <a:noFill/>
        </p:spPr>
        <p:txBody>
          <a:bodyPr wrap="square">
            <a:spAutoFit/>
          </a:bodyPr>
          <a:lstStyle/>
          <a:p>
            <a:pPr algn="l"/>
            <a:r>
              <a:rPr sz="3000" b="1" i="0">
                <a:solidFill>
                  <a:srgbClr val="1A1A2E"/>
                </a:solidFill>
              </a:rPr>
              <a:t>Quick Reference Glossary  (2/2)</a:t>
            </a:r>
          </a:p>
        </p:txBody>
      </p:sp>
      <p:sp>
        <p:nvSpPr>
          <p:cNvPr id="4" name="Rectangle 3"/>
          <p:cNvSpPr/>
          <p:nvPr/>
        </p:nvSpPr>
        <p:spPr>
          <a:xfrm>
            <a:off x="502920" y="1097280"/>
            <a:ext cx="11155680"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98448"/>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62456"/>
            <a:ext cx="1691640" cy="365760"/>
          </a:xfrm>
          <a:prstGeom prst="rect">
            <a:avLst/>
          </a:prstGeom>
          <a:noFill/>
        </p:spPr>
        <p:txBody>
          <a:bodyPr wrap="square">
            <a:spAutoFit/>
          </a:bodyPr>
          <a:lstStyle/>
          <a:p>
            <a:pPr algn="l"/>
            <a:r>
              <a:rPr sz="1200" b="1" i="0">
                <a:solidFill>
                  <a:srgbClr val="0D47A1"/>
                </a:solidFill>
              </a:rPr>
              <a:t>JSON</a:t>
            </a:r>
          </a:p>
        </p:txBody>
      </p:sp>
      <p:sp>
        <p:nvSpPr>
          <p:cNvPr id="7" name="TextBox 6"/>
          <p:cNvSpPr txBox="1"/>
          <p:nvPr/>
        </p:nvSpPr>
        <p:spPr>
          <a:xfrm>
            <a:off x="2194560" y="1362456"/>
            <a:ext cx="3657600" cy="365760"/>
          </a:xfrm>
          <a:prstGeom prst="rect">
            <a:avLst/>
          </a:prstGeom>
          <a:noFill/>
        </p:spPr>
        <p:txBody>
          <a:bodyPr wrap="square">
            <a:spAutoFit/>
          </a:bodyPr>
          <a:lstStyle/>
          <a:p>
            <a:pPr algn="l"/>
            <a:r>
              <a:rPr sz="1100" b="0" i="0">
                <a:solidFill>
                  <a:srgbClr val="333333"/>
                </a:solidFill>
              </a:rPr>
              <a:t>Standard data format for browser-to-server communication (key-value pairs)</a:t>
            </a:r>
          </a:p>
        </p:txBody>
      </p:sp>
      <p:sp>
        <p:nvSpPr>
          <p:cNvPr id="8" name="Rectangle 7"/>
          <p:cNvSpPr/>
          <p:nvPr/>
        </p:nvSpPr>
        <p:spPr>
          <a:xfrm>
            <a:off x="365760" y="1828800"/>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892808"/>
            <a:ext cx="1691640" cy="365760"/>
          </a:xfrm>
          <a:prstGeom prst="rect">
            <a:avLst/>
          </a:prstGeom>
          <a:noFill/>
        </p:spPr>
        <p:txBody>
          <a:bodyPr wrap="square">
            <a:spAutoFit/>
          </a:bodyPr>
          <a:lstStyle/>
          <a:p>
            <a:pPr algn="l"/>
            <a:r>
              <a:rPr sz="1200" b="1" i="0">
                <a:solidFill>
                  <a:srgbClr val="1A1A2E"/>
                </a:solidFill>
              </a:rPr>
              <a:t>HTTP / HTTPS</a:t>
            </a:r>
          </a:p>
        </p:txBody>
      </p:sp>
      <p:sp>
        <p:nvSpPr>
          <p:cNvPr id="10" name="TextBox 9"/>
          <p:cNvSpPr txBox="1"/>
          <p:nvPr/>
        </p:nvSpPr>
        <p:spPr>
          <a:xfrm>
            <a:off x="2194560" y="1892808"/>
            <a:ext cx="3657600" cy="365760"/>
          </a:xfrm>
          <a:prstGeom prst="rect">
            <a:avLst/>
          </a:prstGeom>
          <a:noFill/>
        </p:spPr>
        <p:txBody>
          <a:bodyPr wrap="square">
            <a:spAutoFit/>
          </a:bodyPr>
          <a:lstStyle/>
          <a:p>
            <a:pPr algn="l"/>
            <a:r>
              <a:rPr sz="1100" b="0" i="0">
                <a:solidFill>
                  <a:srgbClr val="333333"/>
                </a:solidFill>
              </a:rPr>
              <a:t>Protocol browsers and servers use to communicate; HTTPS = encrypted</a:t>
            </a:r>
          </a:p>
        </p:txBody>
      </p:sp>
      <p:sp>
        <p:nvSpPr>
          <p:cNvPr id="11" name="Rectangle 10"/>
          <p:cNvSpPr/>
          <p:nvPr/>
        </p:nvSpPr>
        <p:spPr>
          <a:xfrm>
            <a:off x="365760" y="2359152"/>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23160"/>
            <a:ext cx="1691640" cy="365760"/>
          </a:xfrm>
          <a:prstGeom prst="rect">
            <a:avLst/>
          </a:prstGeom>
          <a:noFill/>
        </p:spPr>
        <p:txBody>
          <a:bodyPr wrap="square">
            <a:spAutoFit/>
          </a:bodyPr>
          <a:lstStyle/>
          <a:p>
            <a:pPr algn="l"/>
            <a:r>
              <a:rPr sz="1200" b="1" i="0">
                <a:solidFill>
                  <a:srgbClr val="0D47A1"/>
                </a:solidFill>
              </a:rPr>
              <a:t>GET / POST</a:t>
            </a:r>
          </a:p>
        </p:txBody>
      </p:sp>
      <p:sp>
        <p:nvSpPr>
          <p:cNvPr id="13" name="TextBox 12"/>
          <p:cNvSpPr txBox="1"/>
          <p:nvPr/>
        </p:nvSpPr>
        <p:spPr>
          <a:xfrm>
            <a:off x="2194560" y="2423160"/>
            <a:ext cx="3657600" cy="365760"/>
          </a:xfrm>
          <a:prstGeom prst="rect">
            <a:avLst/>
          </a:prstGeom>
          <a:noFill/>
        </p:spPr>
        <p:txBody>
          <a:bodyPr wrap="square">
            <a:spAutoFit/>
          </a:bodyPr>
          <a:lstStyle/>
          <a:p>
            <a:pPr algn="l"/>
            <a:r>
              <a:rPr sz="1100" b="0" i="0">
                <a:solidFill>
                  <a:srgbClr val="333333"/>
                </a:solidFill>
              </a:rPr>
              <a:t>HTTP methods: GET = ask for data; POST = send data for processing</a:t>
            </a:r>
          </a:p>
        </p:txBody>
      </p:sp>
      <p:sp>
        <p:nvSpPr>
          <p:cNvPr id="14" name="Rectangle 13"/>
          <p:cNvSpPr/>
          <p:nvPr/>
        </p:nvSpPr>
        <p:spPr>
          <a:xfrm>
            <a:off x="365760" y="2889504"/>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953512"/>
            <a:ext cx="1691640" cy="365760"/>
          </a:xfrm>
          <a:prstGeom prst="rect">
            <a:avLst/>
          </a:prstGeom>
          <a:noFill/>
        </p:spPr>
        <p:txBody>
          <a:bodyPr wrap="square">
            <a:spAutoFit/>
          </a:bodyPr>
          <a:lstStyle/>
          <a:p>
            <a:pPr algn="l"/>
            <a:r>
              <a:rPr sz="1200" b="1" i="0">
                <a:solidFill>
                  <a:srgbClr val="1A1A2E"/>
                </a:solidFill>
              </a:rPr>
              <a:t>CDN</a:t>
            </a:r>
          </a:p>
        </p:txBody>
      </p:sp>
      <p:sp>
        <p:nvSpPr>
          <p:cNvPr id="16" name="TextBox 15"/>
          <p:cNvSpPr txBox="1"/>
          <p:nvPr/>
        </p:nvSpPr>
        <p:spPr>
          <a:xfrm>
            <a:off x="2194560" y="2953512"/>
            <a:ext cx="3657600" cy="365760"/>
          </a:xfrm>
          <a:prstGeom prst="rect">
            <a:avLst/>
          </a:prstGeom>
          <a:noFill/>
        </p:spPr>
        <p:txBody>
          <a:bodyPr wrap="square">
            <a:spAutoFit/>
          </a:bodyPr>
          <a:lstStyle/>
          <a:p>
            <a:pPr algn="l"/>
            <a:r>
              <a:rPr sz="1100" b="0" i="0">
                <a:solidFill>
                  <a:srgbClr val="333333"/>
                </a:solidFill>
              </a:rPr>
              <a:t>Content Delivery Network — servers worldwide caching your site closer to users</a:t>
            </a:r>
          </a:p>
        </p:txBody>
      </p:sp>
      <p:sp>
        <p:nvSpPr>
          <p:cNvPr id="17" name="Rectangle 16"/>
          <p:cNvSpPr/>
          <p:nvPr/>
        </p:nvSpPr>
        <p:spPr>
          <a:xfrm>
            <a:off x="365760" y="3419856"/>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483864"/>
            <a:ext cx="1691640" cy="365760"/>
          </a:xfrm>
          <a:prstGeom prst="rect">
            <a:avLst/>
          </a:prstGeom>
          <a:noFill/>
        </p:spPr>
        <p:txBody>
          <a:bodyPr wrap="square">
            <a:spAutoFit/>
          </a:bodyPr>
          <a:lstStyle/>
          <a:p>
            <a:pPr algn="l"/>
            <a:r>
              <a:rPr sz="1200" b="1" i="0">
                <a:solidFill>
                  <a:srgbClr val="0D47A1"/>
                </a:solidFill>
              </a:rPr>
              <a:t>OG Image</a:t>
            </a:r>
          </a:p>
        </p:txBody>
      </p:sp>
      <p:sp>
        <p:nvSpPr>
          <p:cNvPr id="19" name="TextBox 18"/>
          <p:cNvSpPr txBox="1"/>
          <p:nvPr/>
        </p:nvSpPr>
        <p:spPr>
          <a:xfrm>
            <a:off x="2194560" y="3483864"/>
            <a:ext cx="3657600" cy="365760"/>
          </a:xfrm>
          <a:prstGeom prst="rect">
            <a:avLst/>
          </a:prstGeom>
          <a:noFill/>
        </p:spPr>
        <p:txBody>
          <a:bodyPr wrap="square">
            <a:spAutoFit/>
          </a:bodyPr>
          <a:lstStyle/>
          <a:p>
            <a:pPr algn="l"/>
            <a:r>
              <a:rPr sz="1100" b="0" i="0">
                <a:solidFill>
                  <a:srgbClr val="333333"/>
                </a:solidFill>
              </a:rPr>
              <a:t>Preview image shown when you share a link on WhatsApp or social media</a:t>
            </a:r>
          </a:p>
        </p:txBody>
      </p:sp>
      <p:sp>
        <p:nvSpPr>
          <p:cNvPr id="20" name="Rectangle 19"/>
          <p:cNvSpPr/>
          <p:nvPr/>
        </p:nvSpPr>
        <p:spPr>
          <a:xfrm>
            <a:off x="365760" y="3950208"/>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014216"/>
            <a:ext cx="1691640" cy="365760"/>
          </a:xfrm>
          <a:prstGeom prst="rect">
            <a:avLst/>
          </a:prstGeom>
          <a:noFill/>
        </p:spPr>
        <p:txBody>
          <a:bodyPr wrap="square">
            <a:spAutoFit/>
          </a:bodyPr>
          <a:lstStyle/>
          <a:p>
            <a:pPr algn="l"/>
            <a:r>
              <a:rPr sz="1200" b="1" i="0">
                <a:solidFill>
                  <a:srgbClr val="1A1A2E"/>
                </a:solidFill>
              </a:rPr>
              <a:t>Sitemap</a:t>
            </a:r>
          </a:p>
        </p:txBody>
      </p:sp>
      <p:sp>
        <p:nvSpPr>
          <p:cNvPr id="22" name="TextBox 21"/>
          <p:cNvSpPr txBox="1"/>
          <p:nvPr/>
        </p:nvSpPr>
        <p:spPr>
          <a:xfrm>
            <a:off x="2194560" y="4014216"/>
            <a:ext cx="3657600" cy="365760"/>
          </a:xfrm>
          <a:prstGeom prst="rect">
            <a:avLst/>
          </a:prstGeom>
          <a:noFill/>
        </p:spPr>
        <p:txBody>
          <a:bodyPr wrap="square">
            <a:spAutoFit/>
          </a:bodyPr>
          <a:lstStyle/>
          <a:p>
            <a:pPr algn="l"/>
            <a:r>
              <a:rPr sz="1100" b="0" i="0">
                <a:solidFill>
                  <a:srgbClr val="333333"/>
                </a:solidFill>
              </a:rPr>
              <a:t>XML file listing all pages — helps Google index your site faster</a:t>
            </a:r>
          </a:p>
        </p:txBody>
      </p:sp>
      <p:sp>
        <p:nvSpPr>
          <p:cNvPr id="23" name="Rectangle 22"/>
          <p:cNvSpPr/>
          <p:nvPr/>
        </p:nvSpPr>
        <p:spPr>
          <a:xfrm>
            <a:off x="365760" y="4480560"/>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544568"/>
            <a:ext cx="1691640" cy="365760"/>
          </a:xfrm>
          <a:prstGeom prst="rect">
            <a:avLst/>
          </a:prstGeom>
          <a:noFill/>
        </p:spPr>
        <p:txBody>
          <a:bodyPr wrap="square">
            <a:spAutoFit/>
          </a:bodyPr>
          <a:lstStyle/>
          <a:p>
            <a:pPr algn="l"/>
            <a:r>
              <a:rPr sz="1200" b="1" i="0">
                <a:solidFill>
                  <a:srgbClr val="0D47A1"/>
                </a:solidFill>
              </a:rPr>
              <a:t>robots.txt</a:t>
            </a:r>
          </a:p>
        </p:txBody>
      </p:sp>
      <p:sp>
        <p:nvSpPr>
          <p:cNvPr id="25" name="TextBox 24"/>
          <p:cNvSpPr txBox="1"/>
          <p:nvPr/>
        </p:nvSpPr>
        <p:spPr>
          <a:xfrm>
            <a:off x="2194560" y="4544568"/>
            <a:ext cx="3657600" cy="365760"/>
          </a:xfrm>
          <a:prstGeom prst="rect">
            <a:avLst/>
          </a:prstGeom>
          <a:noFill/>
        </p:spPr>
        <p:txBody>
          <a:bodyPr wrap="square">
            <a:spAutoFit/>
          </a:bodyPr>
          <a:lstStyle/>
          <a:p>
            <a:pPr algn="l"/>
            <a:r>
              <a:rPr sz="1100" b="0" i="0">
                <a:solidFill>
                  <a:srgbClr val="333333"/>
                </a:solidFill>
              </a:rPr>
              <a:t>Tells Google which pages to crawl and which to skip</a:t>
            </a:r>
          </a:p>
        </p:txBody>
      </p:sp>
      <p:sp>
        <p:nvSpPr>
          <p:cNvPr id="26" name="Rectangle 25"/>
          <p:cNvSpPr/>
          <p:nvPr/>
        </p:nvSpPr>
        <p:spPr>
          <a:xfrm>
            <a:off x="365760" y="5010912"/>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074920"/>
            <a:ext cx="1691640" cy="365760"/>
          </a:xfrm>
          <a:prstGeom prst="rect">
            <a:avLst/>
          </a:prstGeom>
          <a:noFill/>
        </p:spPr>
        <p:txBody>
          <a:bodyPr wrap="square">
            <a:spAutoFit/>
          </a:bodyPr>
          <a:lstStyle/>
          <a:p>
            <a:pPr algn="l"/>
            <a:r>
              <a:rPr sz="1200" b="1" i="0">
                <a:solidFill>
                  <a:srgbClr val="1A1A2E"/>
                </a:solidFill>
              </a:rPr>
              <a:t>SEO</a:t>
            </a:r>
          </a:p>
        </p:txBody>
      </p:sp>
      <p:sp>
        <p:nvSpPr>
          <p:cNvPr id="28" name="TextBox 27"/>
          <p:cNvSpPr txBox="1"/>
          <p:nvPr/>
        </p:nvSpPr>
        <p:spPr>
          <a:xfrm>
            <a:off x="2194560" y="5074920"/>
            <a:ext cx="3657600" cy="365760"/>
          </a:xfrm>
          <a:prstGeom prst="rect">
            <a:avLst/>
          </a:prstGeom>
          <a:noFill/>
        </p:spPr>
        <p:txBody>
          <a:bodyPr wrap="square">
            <a:spAutoFit/>
          </a:bodyPr>
          <a:lstStyle/>
          <a:p>
            <a:pPr algn="l"/>
            <a:r>
              <a:rPr sz="1100" b="0" i="0">
                <a:solidFill>
                  <a:srgbClr val="333333"/>
                </a:solidFill>
              </a:rPr>
              <a:t>Practices that improve your ranking in Google search results</a:t>
            </a:r>
          </a:p>
        </p:txBody>
      </p:sp>
      <p:sp>
        <p:nvSpPr>
          <p:cNvPr id="29" name="Rectangle 28"/>
          <p:cNvSpPr/>
          <p:nvPr/>
        </p:nvSpPr>
        <p:spPr>
          <a:xfrm>
            <a:off x="365760" y="5541264"/>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605272"/>
            <a:ext cx="1691640" cy="365760"/>
          </a:xfrm>
          <a:prstGeom prst="rect">
            <a:avLst/>
          </a:prstGeom>
          <a:noFill/>
        </p:spPr>
        <p:txBody>
          <a:bodyPr wrap="square">
            <a:spAutoFit/>
          </a:bodyPr>
          <a:lstStyle/>
          <a:p>
            <a:pPr algn="l"/>
            <a:r>
              <a:rPr sz="1200" b="1" i="0">
                <a:solidFill>
                  <a:srgbClr val="0D47A1"/>
                </a:solidFill>
              </a:rPr>
              <a:t>UTM Parameters</a:t>
            </a:r>
          </a:p>
        </p:txBody>
      </p:sp>
      <p:sp>
        <p:nvSpPr>
          <p:cNvPr id="31" name="TextBox 30"/>
          <p:cNvSpPr txBox="1"/>
          <p:nvPr/>
        </p:nvSpPr>
        <p:spPr>
          <a:xfrm>
            <a:off x="2194560" y="5605272"/>
            <a:ext cx="3657600" cy="365760"/>
          </a:xfrm>
          <a:prstGeom prst="rect">
            <a:avLst/>
          </a:prstGeom>
          <a:noFill/>
        </p:spPr>
        <p:txBody>
          <a:bodyPr wrap="square">
            <a:spAutoFit/>
          </a:bodyPr>
          <a:lstStyle/>
          <a:p>
            <a:pPr algn="l"/>
            <a:r>
              <a:rPr sz="1100" b="0" i="0">
                <a:solidFill>
                  <a:srgbClr val="333333"/>
                </a:solidFill>
              </a:rPr>
              <a:t>Tags added to URLs so analytics knows which post drove a visit</a:t>
            </a:r>
          </a:p>
        </p:txBody>
      </p:sp>
      <p:sp>
        <p:nvSpPr>
          <p:cNvPr id="32" name="Rectangle 31"/>
          <p:cNvSpPr/>
          <p:nvPr/>
        </p:nvSpPr>
        <p:spPr>
          <a:xfrm>
            <a:off x="6217920" y="1298448"/>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1362456"/>
            <a:ext cx="1691640" cy="365760"/>
          </a:xfrm>
          <a:prstGeom prst="rect">
            <a:avLst/>
          </a:prstGeom>
          <a:noFill/>
        </p:spPr>
        <p:txBody>
          <a:bodyPr wrap="square">
            <a:spAutoFit/>
          </a:bodyPr>
          <a:lstStyle/>
          <a:p>
            <a:pPr algn="l"/>
            <a:r>
              <a:rPr sz="1200" b="1" i="0">
                <a:solidFill>
                  <a:srgbClr val="1A1A2E"/>
                </a:solidFill>
              </a:rPr>
              <a:t>GA4</a:t>
            </a:r>
          </a:p>
        </p:txBody>
      </p:sp>
      <p:sp>
        <p:nvSpPr>
          <p:cNvPr id="34" name="TextBox 33"/>
          <p:cNvSpPr txBox="1"/>
          <p:nvPr/>
        </p:nvSpPr>
        <p:spPr>
          <a:xfrm>
            <a:off x="8046720" y="1362456"/>
            <a:ext cx="3657600" cy="365760"/>
          </a:xfrm>
          <a:prstGeom prst="rect">
            <a:avLst/>
          </a:prstGeom>
          <a:noFill/>
        </p:spPr>
        <p:txBody>
          <a:bodyPr wrap="square">
            <a:spAutoFit/>
          </a:bodyPr>
          <a:lstStyle/>
          <a:p>
            <a:pPr algn="l"/>
            <a:r>
              <a:rPr sz="1100" b="0" i="0">
                <a:solidFill>
                  <a:srgbClr val="333333"/>
                </a:solidFill>
              </a:rPr>
              <a:t>Google Analytics 4 — numbers: traffic, sources, conversions</a:t>
            </a:r>
          </a:p>
        </p:txBody>
      </p:sp>
      <p:sp>
        <p:nvSpPr>
          <p:cNvPr id="35" name="Rectangle 34"/>
          <p:cNvSpPr/>
          <p:nvPr/>
        </p:nvSpPr>
        <p:spPr>
          <a:xfrm>
            <a:off x="6217920" y="1828800"/>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1892808"/>
            <a:ext cx="1691640" cy="365760"/>
          </a:xfrm>
          <a:prstGeom prst="rect">
            <a:avLst/>
          </a:prstGeom>
          <a:noFill/>
        </p:spPr>
        <p:txBody>
          <a:bodyPr wrap="square">
            <a:spAutoFit/>
          </a:bodyPr>
          <a:lstStyle/>
          <a:p>
            <a:pPr algn="l"/>
            <a:r>
              <a:rPr sz="1200" b="1" i="0">
                <a:solidFill>
                  <a:srgbClr val="0D47A1"/>
                </a:solidFill>
              </a:rPr>
              <a:t>Microsoft Clarity</a:t>
            </a:r>
          </a:p>
        </p:txBody>
      </p:sp>
      <p:sp>
        <p:nvSpPr>
          <p:cNvPr id="37" name="TextBox 36"/>
          <p:cNvSpPr txBox="1"/>
          <p:nvPr/>
        </p:nvSpPr>
        <p:spPr>
          <a:xfrm>
            <a:off x="8046720" y="1892808"/>
            <a:ext cx="3657600" cy="365760"/>
          </a:xfrm>
          <a:prstGeom prst="rect">
            <a:avLst/>
          </a:prstGeom>
          <a:noFill/>
        </p:spPr>
        <p:txBody>
          <a:bodyPr wrap="square">
            <a:spAutoFit/>
          </a:bodyPr>
          <a:lstStyle/>
          <a:p>
            <a:pPr algn="l"/>
            <a:r>
              <a:rPr sz="1100" b="0" i="0">
                <a:solidFill>
                  <a:srgbClr val="333333"/>
                </a:solidFill>
              </a:rPr>
              <a:t>Behavioural analytics — session recordings and heatmaps</a:t>
            </a:r>
          </a:p>
        </p:txBody>
      </p:sp>
      <p:sp>
        <p:nvSpPr>
          <p:cNvPr id="38" name="Rectangle 37"/>
          <p:cNvSpPr/>
          <p:nvPr/>
        </p:nvSpPr>
        <p:spPr>
          <a:xfrm>
            <a:off x="6217920" y="2359152"/>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0" y="2423160"/>
            <a:ext cx="1691640" cy="365760"/>
          </a:xfrm>
          <a:prstGeom prst="rect">
            <a:avLst/>
          </a:prstGeom>
          <a:noFill/>
        </p:spPr>
        <p:txBody>
          <a:bodyPr wrap="square">
            <a:spAutoFit/>
          </a:bodyPr>
          <a:lstStyle/>
          <a:p>
            <a:pPr algn="l"/>
            <a:r>
              <a:rPr sz="1200" b="1" i="0">
                <a:solidFill>
                  <a:srgbClr val="1A1A2E"/>
                </a:solidFill>
              </a:rPr>
              <a:t>npm</a:t>
            </a:r>
          </a:p>
        </p:txBody>
      </p:sp>
      <p:sp>
        <p:nvSpPr>
          <p:cNvPr id="40" name="TextBox 39"/>
          <p:cNvSpPr txBox="1"/>
          <p:nvPr/>
        </p:nvSpPr>
        <p:spPr>
          <a:xfrm>
            <a:off x="8046720" y="2423160"/>
            <a:ext cx="3657600" cy="365760"/>
          </a:xfrm>
          <a:prstGeom prst="rect">
            <a:avLst/>
          </a:prstGeom>
          <a:noFill/>
        </p:spPr>
        <p:txBody>
          <a:bodyPr wrap="square">
            <a:spAutoFit/>
          </a:bodyPr>
          <a:lstStyle/>
          <a:p>
            <a:pPr algn="l"/>
            <a:r>
              <a:rPr sz="1100" b="0" i="0">
                <a:solidFill>
                  <a:srgbClr val="333333"/>
                </a:solidFill>
              </a:rPr>
              <a:t>Package manager — installs external libraries into your project</a:t>
            </a:r>
          </a:p>
        </p:txBody>
      </p:sp>
      <p:sp>
        <p:nvSpPr>
          <p:cNvPr id="41" name="Rectangle 40"/>
          <p:cNvSpPr/>
          <p:nvPr/>
        </p:nvSpPr>
        <p:spPr>
          <a:xfrm>
            <a:off x="6217920" y="2889504"/>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2953512"/>
            <a:ext cx="1691640" cy="365760"/>
          </a:xfrm>
          <a:prstGeom prst="rect">
            <a:avLst/>
          </a:prstGeom>
          <a:noFill/>
        </p:spPr>
        <p:txBody>
          <a:bodyPr wrap="square">
            <a:spAutoFit/>
          </a:bodyPr>
          <a:lstStyle/>
          <a:p>
            <a:pPr algn="l"/>
            <a:r>
              <a:rPr sz="1200" b="1" i="0">
                <a:solidFill>
                  <a:srgbClr val="0D47A1"/>
                </a:solidFill>
              </a:rPr>
              <a:t>node_modules</a:t>
            </a:r>
          </a:p>
        </p:txBody>
      </p:sp>
      <p:sp>
        <p:nvSpPr>
          <p:cNvPr id="43" name="TextBox 42"/>
          <p:cNvSpPr txBox="1"/>
          <p:nvPr/>
        </p:nvSpPr>
        <p:spPr>
          <a:xfrm>
            <a:off x="8046720" y="2953512"/>
            <a:ext cx="3657600" cy="365760"/>
          </a:xfrm>
          <a:prstGeom prst="rect">
            <a:avLst/>
          </a:prstGeom>
          <a:noFill/>
        </p:spPr>
        <p:txBody>
          <a:bodyPr wrap="square">
            <a:spAutoFit/>
          </a:bodyPr>
          <a:lstStyle/>
          <a:p>
            <a:pPr algn="l"/>
            <a:r>
              <a:rPr sz="1100" b="0" i="0">
                <a:solidFill>
                  <a:srgbClr val="333333"/>
                </a:solidFill>
              </a:rPr>
              <a:t>Folder where npm saves libraries; never pushed to GitHub</a:t>
            </a:r>
          </a:p>
        </p:txBody>
      </p:sp>
      <p:sp>
        <p:nvSpPr>
          <p:cNvPr id="44" name="Rectangle 43"/>
          <p:cNvSpPr/>
          <p:nvPr/>
        </p:nvSpPr>
        <p:spPr>
          <a:xfrm>
            <a:off x="6217920" y="3419856"/>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0" y="3483864"/>
            <a:ext cx="1691640" cy="365760"/>
          </a:xfrm>
          <a:prstGeom prst="rect">
            <a:avLst/>
          </a:prstGeom>
          <a:noFill/>
        </p:spPr>
        <p:txBody>
          <a:bodyPr wrap="square">
            <a:spAutoFit/>
          </a:bodyPr>
          <a:lstStyle/>
          <a:p>
            <a:pPr algn="l"/>
            <a:r>
              <a:rPr sz="1200" b="1" i="0">
                <a:solidFill>
                  <a:srgbClr val="1A1A2E"/>
                </a:solidFill>
              </a:rPr>
              <a:t>package.json</a:t>
            </a:r>
          </a:p>
        </p:txBody>
      </p:sp>
      <p:sp>
        <p:nvSpPr>
          <p:cNvPr id="46" name="TextBox 45"/>
          <p:cNvSpPr txBox="1"/>
          <p:nvPr/>
        </p:nvSpPr>
        <p:spPr>
          <a:xfrm>
            <a:off x="8046720" y="3483864"/>
            <a:ext cx="3657600" cy="365760"/>
          </a:xfrm>
          <a:prstGeom prst="rect">
            <a:avLst/>
          </a:prstGeom>
          <a:noFill/>
        </p:spPr>
        <p:txBody>
          <a:bodyPr wrap="square">
            <a:spAutoFit/>
          </a:bodyPr>
          <a:lstStyle/>
          <a:p>
            <a:pPr algn="l"/>
            <a:r>
              <a:rPr sz="1100" b="0" i="0">
                <a:solidFill>
                  <a:srgbClr val="333333"/>
                </a:solidFill>
              </a:rPr>
              <a:t>File listing every library the project depends on</a:t>
            </a:r>
          </a:p>
        </p:txBody>
      </p:sp>
      <p:sp>
        <p:nvSpPr>
          <p:cNvPr id="47" name="Rectangle 46"/>
          <p:cNvSpPr/>
          <p:nvPr/>
        </p:nvSpPr>
        <p:spPr>
          <a:xfrm>
            <a:off x="6217920" y="3950208"/>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4014216"/>
            <a:ext cx="1691640" cy="365760"/>
          </a:xfrm>
          <a:prstGeom prst="rect">
            <a:avLst/>
          </a:prstGeom>
          <a:noFill/>
        </p:spPr>
        <p:txBody>
          <a:bodyPr wrap="square">
            <a:spAutoFit/>
          </a:bodyPr>
          <a:lstStyle/>
          <a:p>
            <a:pPr algn="l"/>
            <a:r>
              <a:rPr sz="1200" b="1" i="0">
                <a:solidFill>
                  <a:srgbClr val="0D47A1"/>
                </a:solidFill>
              </a:rPr>
              <a:t>DPDP Act</a:t>
            </a:r>
          </a:p>
        </p:txBody>
      </p:sp>
      <p:sp>
        <p:nvSpPr>
          <p:cNvPr id="49" name="TextBox 48"/>
          <p:cNvSpPr txBox="1"/>
          <p:nvPr/>
        </p:nvSpPr>
        <p:spPr>
          <a:xfrm>
            <a:off x="8046720" y="4014216"/>
            <a:ext cx="3657600" cy="365760"/>
          </a:xfrm>
          <a:prstGeom prst="rect">
            <a:avLst/>
          </a:prstGeom>
          <a:noFill/>
        </p:spPr>
        <p:txBody>
          <a:bodyPr wrap="square">
            <a:spAutoFit/>
          </a:bodyPr>
          <a:lstStyle/>
          <a:p>
            <a:pPr algn="l"/>
            <a:r>
              <a:rPr sz="1100" b="0" i="0">
                <a:solidFill>
                  <a:srgbClr val="333333"/>
                </a:solidFill>
              </a:rPr>
              <a:t>India's data privacy law (2023) — requires Privacy Policy</a:t>
            </a:r>
          </a:p>
        </p:txBody>
      </p:sp>
      <p:sp>
        <p:nvSpPr>
          <p:cNvPr id="50" name="Rectangle 49"/>
          <p:cNvSpPr/>
          <p:nvPr/>
        </p:nvSpPr>
        <p:spPr>
          <a:xfrm>
            <a:off x="6217920" y="4480560"/>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4544568"/>
            <a:ext cx="1691640" cy="365760"/>
          </a:xfrm>
          <a:prstGeom prst="rect">
            <a:avLst/>
          </a:prstGeom>
          <a:noFill/>
        </p:spPr>
        <p:txBody>
          <a:bodyPr wrap="square">
            <a:spAutoFit/>
          </a:bodyPr>
          <a:lstStyle/>
          <a:p>
            <a:pPr algn="l"/>
            <a:r>
              <a:rPr sz="1200" b="1" i="0">
                <a:solidFill>
                  <a:srgbClr val="1A1A2E"/>
                </a:solidFill>
              </a:rPr>
              <a:t>Domain</a:t>
            </a:r>
          </a:p>
        </p:txBody>
      </p:sp>
      <p:sp>
        <p:nvSpPr>
          <p:cNvPr id="52" name="TextBox 51"/>
          <p:cNvSpPr txBox="1"/>
          <p:nvPr/>
        </p:nvSpPr>
        <p:spPr>
          <a:xfrm>
            <a:off x="8046720" y="4544568"/>
            <a:ext cx="3657600" cy="365760"/>
          </a:xfrm>
          <a:prstGeom prst="rect">
            <a:avLst/>
          </a:prstGeom>
          <a:noFill/>
        </p:spPr>
        <p:txBody>
          <a:bodyPr wrap="square">
            <a:spAutoFit/>
          </a:bodyPr>
          <a:lstStyle/>
          <a:p>
            <a:pPr algn="l"/>
            <a:r>
              <a:rPr sz="1100" b="0" i="0">
                <a:solidFill>
                  <a:srgbClr val="333333"/>
                </a:solidFill>
              </a:rPr>
              <a:t>Your website address (theconnek.com) — bought and pointed to Vercel</a:t>
            </a:r>
          </a:p>
        </p:txBody>
      </p:sp>
      <p:sp>
        <p:nvSpPr>
          <p:cNvPr id="53" name="Rectangle 52"/>
          <p:cNvSpPr/>
          <p:nvPr/>
        </p:nvSpPr>
        <p:spPr>
          <a:xfrm>
            <a:off x="6217920" y="5010912"/>
            <a:ext cx="5669280" cy="48463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5074920"/>
            <a:ext cx="1691640" cy="365760"/>
          </a:xfrm>
          <a:prstGeom prst="rect">
            <a:avLst/>
          </a:prstGeom>
          <a:noFill/>
        </p:spPr>
        <p:txBody>
          <a:bodyPr wrap="square">
            <a:spAutoFit/>
          </a:bodyPr>
          <a:lstStyle/>
          <a:p>
            <a:pPr algn="l"/>
            <a:r>
              <a:rPr sz="1200" b="1" i="0">
                <a:solidFill>
                  <a:srgbClr val="0D47A1"/>
                </a:solidFill>
              </a:rPr>
              <a:t>DNS</a:t>
            </a:r>
          </a:p>
        </p:txBody>
      </p:sp>
      <p:sp>
        <p:nvSpPr>
          <p:cNvPr id="55" name="TextBox 54"/>
          <p:cNvSpPr txBox="1"/>
          <p:nvPr/>
        </p:nvSpPr>
        <p:spPr>
          <a:xfrm>
            <a:off x="8046720" y="5074920"/>
            <a:ext cx="3657600" cy="365760"/>
          </a:xfrm>
          <a:prstGeom prst="rect">
            <a:avLst/>
          </a:prstGeom>
          <a:noFill/>
        </p:spPr>
        <p:txBody>
          <a:bodyPr wrap="square">
            <a:spAutoFit/>
          </a:bodyPr>
          <a:lstStyle/>
          <a:p>
            <a:pPr algn="l"/>
            <a:r>
              <a:rPr sz="1100" b="0" i="0">
                <a:solidFill>
                  <a:srgbClr val="333333"/>
                </a:solidFill>
              </a:rPr>
              <a:t>Domain Name System — translates theconnek.com to a server IP address</a:t>
            </a:r>
          </a:p>
        </p:txBody>
      </p:sp>
      <p:sp>
        <p:nvSpPr>
          <p:cNvPr id="56" name="Rectangle 55"/>
          <p:cNvSpPr/>
          <p:nvPr/>
        </p:nvSpPr>
        <p:spPr>
          <a:xfrm>
            <a:off x="6217920" y="5541264"/>
            <a:ext cx="5669280" cy="484632"/>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09360" y="5605272"/>
            <a:ext cx="1691640" cy="365760"/>
          </a:xfrm>
          <a:prstGeom prst="rect">
            <a:avLst/>
          </a:prstGeom>
          <a:noFill/>
        </p:spPr>
        <p:txBody>
          <a:bodyPr wrap="square">
            <a:spAutoFit/>
          </a:bodyPr>
          <a:lstStyle/>
          <a:p>
            <a:pPr algn="l"/>
            <a:r>
              <a:rPr sz="1200" b="1" i="0">
                <a:solidFill>
                  <a:srgbClr val="1A1A2E"/>
                </a:solidFill>
              </a:rPr>
              <a:t>SSL Certificate</a:t>
            </a:r>
          </a:p>
        </p:txBody>
      </p:sp>
      <p:sp>
        <p:nvSpPr>
          <p:cNvPr id="58" name="TextBox 57"/>
          <p:cNvSpPr txBox="1"/>
          <p:nvPr/>
        </p:nvSpPr>
        <p:spPr>
          <a:xfrm>
            <a:off x="8046720" y="5605272"/>
            <a:ext cx="3657600" cy="365760"/>
          </a:xfrm>
          <a:prstGeom prst="rect">
            <a:avLst/>
          </a:prstGeom>
          <a:noFill/>
        </p:spPr>
        <p:txBody>
          <a:bodyPr wrap="square">
            <a:spAutoFit/>
          </a:bodyPr>
          <a:lstStyle/>
          <a:p>
            <a:pPr algn="l"/>
            <a:r>
              <a:rPr sz="1100" b="0" i="0">
                <a:solidFill>
                  <a:srgbClr val="333333"/>
                </a:solidFill>
              </a:rPr>
              <a:t>Makes the site HTTPS — Vercel issues this automatically for free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6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1005840"/>
          </a:xfrm>
          <a:prstGeom prst="rect">
            <a:avLst/>
          </a:prstGeom>
          <a:noFill/>
        </p:spPr>
        <p:txBody>
          <a:bodyPr wrap="square">
            <a:spAutoFit/>
          </a:bodyPr>
          <a:lstStyle/>
          <a:p>
            <a:pPr algn="l"/>
            <a:r>
              <a:rPr sz="4400" b="1" i="0">
                <a:solidFill>
                  <a:srgbClr val="FFFFFF"/>
                </a:solidFill>
              </a:rPr>
              <a:t>You built something real.</a:t>
            </a:r>
          </a:p>
        </p:txBody>
      </p:sp>
      <p:sp>
        <p:nvSpPr>
          <p:cNvPr id="5" name="TextBox 4"/>
          <p:cNvSpPr txBox="1"/>
          <p:nvPr/>
        </p:nvSpPr>
        <p:spPr>
          <a:xfrm>
            <a:off x="1005840" y="3108960"/>
            <a:ext cx="10058400" cy="640080"/>
          </a:xfrm>
          <a:prstGeom prst="rect">
            <a:avLst/>
          </a:prstGeom>
          <a:noFill/>
        </p:spPr>
        <p:txBody>
          <a:bodyPr wrap="square">
            <a:spAutoFit/>
          </a:bodyPr>
          <a:lstStyle/>
          <a:p>
            <a:pPr algn="l"/>
            <a:r>
              <a:rPr sz="2200" b="0" i="1">
                <a:solidFill>
                  <a:srgbClr val="AABBFF"/>
                </a:solidFill>
              </a:rPr>
              <a:t>Every concept in this deck is running live at theconnek.com right now.</a:t>
            </a:r>
          </a:p>
        </p:txBody>
      </p:sp>
      <p:sp>
        <p:nvSpPr>
          <p:cNvPr id="6" name="TextBox 5"/>
          <p:cNvSpPr txBox="1"/>
          <p:nvPr/>
        </p:nvSpPr>
        <p:spPr>
          <a:xfrm>
            <a:off x="1005840" y="3931920"/>
            <a:ext cx="10058400" cy="548640"/>
          </a:xfrm>
          <a:prstGeom prst="rect">
            <a:avLst/>
          </a:prstGeom>
          <a:noFill/>
        </p:spPr>
        <p:txBody>
          <a:bodyPr wrap="square">
            <a:spAutoFit/>
          </a:bodyPr>
          <a:lstStyle/>
          <a:p>
            <a:pPr algn="l"/>
            <a:r>
              <a:rPr sz="1800" b="0" i="0">
                <a:solidFill>
                  <a:srgbClr val="E8601C"/>
                </a:solidFill>
              </a:rPr>
              <a:t>theconnek.com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